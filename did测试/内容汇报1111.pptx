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61" r:id="rId2"/>
    <p:sldId id="262" r:id="rId3"/>
    <p:sldId id="334" r:id="rId4"/>
    <p:sldId id="397" r:id="rId5"/>
    <p:sldId id="398" r:id="rId6"/>
    <p:sldId id="399" r:id="rId7"/>
    <p:sldId id="404" r:id="rId8"/>
    <p:sldId id="291" r:id="rId9"/>
    <p:sldId id="341" r:id="rId10"/>
    <p:sldId id="381" r:id="rId11"/>
    <p:sldId id="400" r:id="rId12"/>
    <p:sldId id="401" r:id="rId13"/>
    <p:sldId id="295" r:id="rId14"/>
    <p:sldId id="357" r:id="rId15"/>
    <p:sldId id="402" r:id="rId16"/>
    <p:sldId id="403" r:id="rId17"/>
    <p:sldId id="405" r:id="rId18"/>
    <p:sldId id="406" r:id="rId19"/>
    <p:sldId id="313" r:id="rId20"/>
    <p:sldId id="392" r:id="rId21"/>
    <p:sldId id="393" r:id="rId22"/>
    <p:sldId id="394"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18" autoAdjust="0"/>
    <p:restoredTop sz="94660"/>
  </p:normalViewPr>
  <p:slideViewPr>
    <p:cSldViewPr snapToGrid="0" showGuides="1">
      <p:cViewPr varScale="1">
        <p:scale>
          <a:sx n="126" d="100"/>
          <a:sy n="126" d="100"/>
        </p:scale>
        <p:origin x="86" y="19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E977C3-5D49-4AE3-94A3-4A850F718679}" type="datetimeFigureOut">
              <a:rPr lang="zh-CN" altLang="en-US" smtClean="0"/>
              <a:pPr/>
              <a:t>2025/11/20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3FDB9-DDE0-4054-8528-4EF247FF7996}" type="slidenum">
              <a:rPr lang="zh-CN" altLang="en-US" smtClean="0"/>
              <a:pPr/>
              <a:t>‹#›</a:t>
            </a:fld>
            <a:endParaRPr lang="zh-CN" altLang="en-US"/>
          </a:p>
        </p:txBody>
      </p:sp>
    </p:spTree>
    <p:extLst>
      <p:ext uri="{BB962C8B-B14F-4D97-AF65-F5344CB8AC3E}">
        <p14:creationId xmlns:p14="http://schemas.microsoft.com/office/powerpoint/2010/main" val="295207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D3FDB9-DDE0-4054-8528-4EF247FF7996}" type="slidenum">
              <a:rPr lang="zh-CN" altLang="en-US" smtClean="0"/>
              <a:pPr/>
              <a:t>1</a:t>
            </a:fld>
            <a:endParaRPr lang="zh-CN" altLang="en-US"/>
          </a:p>
        </p:txBody>
      </p:sp>
    </p:spTree>
    <p:extLst>
      <p:ext uri="{BB962C8B-B14F-4D97-AF65-F5344CB8AC3E}">
        <p14:creationId xmlns:p14="http://schemas.microsoft.com/office/powerpoint/2010/main" val="2849816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D3FDB9-DDE0-4054-8528-4EF247FF7996}" type="slidenum">
              <a:rPr lang="zh-CN" altLang="en-US" smtClean="0"/>
              <a:pPr/>
              <a:t>9</a:t>
            </a:fld>
            <a:endParaRPr lang="zh-CN" altLang="en-US"/>
          </a:p>
        </p:txBody>
      </p:sp>
    </p:spTree>
    <p:extLst>
      <p:ext uri="{BB962C8B-B14F-4D97-AF65-F5344CB8AC3E}">
        <p14:creationId xmlns:p14="http://schemas.microsoft.com/office/powerpoint/2010/main" val="1787143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CD05-6A1B-CA2C-3415-FF8208CBAD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020465-2EA6-6BC7-ABF3-B260FF81AF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3FACC6-A5D1-C8C3-44CD-E9569401CB8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DE607DF-7092-D1F2-A4A0-82D3230BC57B}"/>
              </a:ext>
            </a:extLst>
          </p:cNvPr>
          <p:cNvSpPr>
            <a:spLocks noGrp="1"/>
          </p:cNvSpPr>
          <p:nvPr>
            <p:ph type="sldNum" sz="quarter" idx="5"/>
          </p:nvPr>
        </p:nvSpPr>
        <p:spPr/>
        <p:txBody>
          <a:bodyPr/>
          <a:lstStyle/>
          <a:p>
            <a:fld id="{D1D3FDB9-DDE0-4054-8528-4EF247FF7996}" type="slidenum">
              <a:rPr lang="zh-CN" altLang="en-US" smtClean="0"/>
              <a:pPr/>
              <a:t>10</a:t>
            </a:fld>
            <a:endParaRPr lang="zh-CN" altLang="en-US"/>
          </a:p>
        </p:txBody>
      </p:sp>
    </p:spTree>
    <p:extLst>
      <p:ext uri="{BB962C8B-B14F-4D97-AF65-F5344CB8AC3E}">
        <p14:creationId xmlns:p14="http://schemas.microsoft.com/office/powerpoint/2010/main" val="3374233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44195-6258-C8CE-1540-267767E019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CCFF91-7953-8728-6B86-7D6D272CF5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F608E8-5113-6880-DE41-ADD6899DBE8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B4E5B30-DE0A-4CE0-2D8C-8F62FB845951}"/>
              </a:ext>
            </a:extLst>
          </p:cNvPr>
          <p:cNvSpPr>
            <a:spLocks noGrp="1"/>
          </p:cNvSpPr>
          <p:nvPr>
            <p:ph type="sldNum" sz="quarter" idx="5"/>
          </p:nvPr>
        </p:nvSpPr>
        <p:spPr/>
        <p:txBody>
          <a:bodyPr/>
          <a:lstStyle/>
          <a:p>
            <a:fld id="{D1D3FDB9-DDE0-4054-8528-4EF247FF7996}" type="slidenum">
              <a:rPr lang="zh-CN" altLang="en-US" smtClean="0"/>
              <a:pPr/>
              <a:t>11</a:t>
            </a:fld>
            <a:endParaRPr lang="zh-CN" altLang="en-US"/>
          </a:p>
        </p:txBody>
      </p:sp>
    </p:spTree>
    <p:extLst>
      <p:ext uri="{BB962C8B-B14F-4D97-AF65-F5344CB8AC3E}">
        <p14:creationId xmlns:p14="http://schemas.microsoft.com/office/powerpoint/2010/main" val="2343649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CEB5A-99B2-F8BE-0BC4-5C55BD87B3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E32F8C-F1F8-13B9-F86C-F683F74E35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3223FC-1E39-88A0-17A3-921BD0E9B29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E2EF23C-46BE-8406-333D-6F170F97BB50}"/>
              </a:ext>
            </a:extLst>
          </p:cNvPr>
          <p:cNvSpPr>
            <a:spLocks noGrp="1"/>
          </p:cNvSpPr>
          <p:nvPr>
            <p:ph type="sldNum" sz="quarter" idx="5"/>
          </p:nvPr>
        </p:nvSpPr>
        <p:spPr/>
        <p:txBody>
          <a:bodyPr/>
          <a:lstStyle/>
          <a:p>
            <a:fld id="{D1D3FDB9-DDE0-4054-8528-4EF247FF7996}" type="slidenum">
              <a:rPr lang="zh-CN" altLang="en-US" smtClean="0"/>
              <a:pPr/>
              <a:t>12</a:t>
            </a:fld>
            <a:endParaRPr lang="zh-CN" altLang="en-US"/>
          </a:p>
        </p:txBody>
      </p:sp>
    </p:spTree>
    <p:extLst>
      <p:ext uri="{BB962C8B-B14F-4D97-AF65-F5344CB8AC3E}">
        <p14:creationId xmlns:p14="http://schemas.microsoft.com/office/powerpoint/2010/main" val="170809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A6B97-8372-B473-CD25-77B28DEC7F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668465-1519-CB31-FFA7-1BD472D126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15D389-DEBD-36EC-3E94-D723E0F9C80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F7F8316-0832-74B1-2A53-F1AB281983B0}"/>
              </a:ext>
            </a:extLst>
          </p:cNvPr>
          <p:cNvSpPr>
            <a:spLocks noGrp="1"/>
          </p:cNvSpPr>
          <p:nvPr>
            <p:ph type="sldNum" sz="quarter" idx="5"/>
          </p:nvPr>
        </p:nvSpPr>
        <p:spPr/>
        <p:txBody>
          <a:bodyPr/>
          <a:lstStyle/>
          <a:p>
            <a:fld id="{D1D3FDB9-DDE0-4054-8528-4EF247FF7996}" type="slidenum">
              <a:rPr lang="zh-CN" altLang="en-US" smtClean="0"/>
              <a:pPr/>
              <a:t>14</a:t>
            </a:fld>
            <a:endParaRPr lang="zh-CN" altLang="en-US"/>
          </a:p>
        </p:txBody>
      </p:sp>
    </p:spTree>
    <p:extLst>
      <p:ext uri="{BB962C8B-B14F-4D97-AF65-F5344CB8AC3E}">
        <p14:creationId xmlns:p14="http://schemas.microsoft.com/office/powerpoint/2010/main" val="4216029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EDEA8-A3FE-0C3B-BAD7-9AF8B4B594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A4D2E1-40E0-344B-2755-B0729093F5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B16792-871B-7CE1-8E62-B5F20E13DB7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96D6847-718D-974B-F326-77B2AE307CB2}"/>
              </a:ext>
            </a:extLst>
          </p:cNvPr>
          <p:cNvSpPr>
            <a:spLocks noGrp="1"/>
          </p:cNvSpPr>
          <p:nvPr>
            <p:ph type="sldNum" sz="quarter" idx="5"/>
          </p:nvPr>
        </p:nvSpPr>
        <p:spPr/>
        <p:txBody>
          <a:bodyPr/>
          <a:lstStyle/>
          <a:p>
            <a:fld id="{D1D3FDB9-DDE0-4054-8528-4EF247FF7996}" type="slidenum">
              <a:rPr lang="zh-CN" altLang="en-US" smtClean="0"/>
              <a:pPr/>
              <a:t>15</a:t>
            </a:fld>
            <a:endParaRPr lang="zh-CN" altLang="en-US"/>
          </a:p>
        </p:txBody>
      </p:sp>
    </p:spTree>
    <p:extLst>
      <p:ext uri="{BB962C8B-B14F-4D97-AF65-F5344CB8AC3E}">
        <p14:creationId xmlns:p14="http://schemas.microsoft.com/office/powerpoint/2010/main" val="1355107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6F4D1-D28D-5DD6-E8FA-A619A3F45D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2AB560-C734-36AD-E797-C5C66DBC50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2B2D52-85E3-CD7F-282B-26C5E883A33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3D1B7F0-7352-9D70-63E6-E9ED87FF9E13}"/>
              </a:ext>
            </a:extLst>
          </p:cNvPr>
          <p:cNvSpPr>
            <a:spLocks noGrp="1"/>
          </p:cNvSpPr>
          <p:nvPr>
            <p:ph type="sldNum" sz="quarter" idx="5"/>
          </p:nvPr>
        </p:nvSpPr>
        <p:spPr/>
        <p:txBody>
          <a:bodyPr/>
          <a:lstStyle/>
          <a:p>
            <a:fld id="{D1D3FDB9-DDE0-4054-8528-4EF247FF7996}" type="slidenum">
              <a:rPr lang="zh-CN" altLang="en-US" smtClean="0"/>
              <a:pPr/>
              <a:t>16</a:t>
            </a:fld>
            <a:endParaRPr lang="zh-CN" altLang="en-US"/>
          </a:p>
        </p:txBody>
      </p:sp>
    </p:spTree>
    <p:extLst>
      <p:ext uri="{BB962C8B-B14F-4D97-AF65-F5344CB8AC3E}">
        <p14:creationId xmlns:p14="http://schemas.microsoft.com/office/powerpoint/2010/main" val="25888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922EB3-8BB3-4D7C-920D-99B3A498A38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59158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40B82-56AF-41DF-CA61-B02B3CC93D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EC710E-C1DA-7096-3140-9F62F97D3E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49955E-F224-A523-2F46-DF4CBECB808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E200198-7D71-8D7F-6980-AE9E96BC6E8A}"/>
              </a:ext>
            </a:extLst>
          </p:cNvPr>
          <p:cNvSpPr>
            <a:spLocks noGrp="1"/>
          </p:cNvSpPr>
          <p:nvPr>
            <p:ph type="sldNum" sz="quarter" idx="5"/>
          </p:nvPr>
        </p:nvSpPr>
        <p:spPr/>
        <p:txBody>
          <a:bodyPr/>
          <a:lstStyle/>
          <a:p>
            <a:fld id="{D1D3FDB9-DDE0-4054-8528-4EF247FF7996}" type="slidenum">
              <a:rPr lang="zh-CN" altLang="en-US" smtClean="0"/>
              <a:pPr/>
              <a:t>20</a:t>
            </a:fld>
            <a:endParaRPr lang="zh-CN" altLang="en-US"/>
          </a:p>
        </p:txBody>
      </p:sp>
    </p:spTree>
    <p:extLst>
      <p:ext uri="{BB962C8B-B14F-4D97-AF65-F5344CB8AC3E}">
        <p14:creationId xmlns:p14="http://schemas.microsoft.com/office/powerpoint/2010/main" val="1940983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0FD-8F58-5041-E8E4-B6B46A845B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2E2201-2E0B-B9D3-7843-516AFA24CE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B9CCFC-2EA9-105C-488D-8256A6EDA2D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45771B7-90EB-33AF-6E92-5D58083050E6}"/>
              </a:ext>
            </a:extLst>
          </p:cNvPr>
          <p:cNvSpPr>
            <a:spLocks noGrp="1"/>
          </p:cNvSpPr>
          <p:nvPr>
            <p:ph type="sldNum" sz="quarter" idx="5"/>
          </p:nvPr>
        </p:nvSpPr>
        <p:spPr/>
        <p:txBody>
          <a:bodyPr/>
          <a:lstStyle/>
          <a:p>
            <a:fld id="{D1D3FDB9-DDE0-4054-8528-4EF247FF7996}" type="slidenum">
              <a:rPr lang="zh-CN" altLang="en-US" smtClean="0"/>
              <a:pPr/>
              <a:t>21</a:t>
            </a:fld>
            <a:endParaRPr lang="zh-CN" altLang="en-US"/>
          </a:p>
        </p:txBody>
      </p:sp>
    </p:spTree>
    <p:extLst>
      <p:ext uri="{BB962C8B-B14F-4D97-AF65-F5344CB8AC3E}">
        <p14:creationId xmlns:p14="http://schemas.microsoft.com/office/powerpoint/2010/main" val="28646594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4C63E-BC8C-6A7B-6069-61549AE3A9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6C5861-904E-357F-345A-CE3FD73CBF9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51A11E-44D3-78DF-F2EC-D0A193B01F8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3A77528-D1DA-FC42-EC99-96137F022C9C}"/>
              </a:ext>
            </a:extLst>
          </p:cNvPr>
          <p:cNvSpPr>
            <a:spLocks noGrp="1"/>
          </p:cNvSpPr>
          <p:nvPr>
            <p:ph type="sldNum" sz="quarter" idx="5"/>
          </p:nvPr>
        </p:nvSpPr>
        <p:spPr/>
        <p:txBody>
          <a:bodyPr/>
          <a:lstStyle/>
          <a:p>
            <a:fld id="{D1D3FDB9-DDE0-4054-8528-4EF247FF7996}" type="slidenum">
              <a:rPr lang="zh-CN" altLang="en-US" smtClean="0"/>
              <a:pPr/>
              <a:t>22</a:t>
            </a:fld>
            <a:endParaRPr lang="zh-CN" altLang="en-US"/>
          </a:p>
        </p:txBody>
      </p:sp>
    </p:spTree>
    <p:extLst>
      <p:ext uri="{BB962C8B-B14F-4D97-AF65-F5344CB8AC3E}">
        <p14:creationId xmlns:p14="http://schemas.microsoft.com/office/powerpoint/2010/main" val="300078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2025/11/20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61648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2025/11/20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035859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2025/11/20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4224369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2025/11/20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41790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2025/11/20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186933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2025/11/20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585584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2025/11/20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469698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2025/11/20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4149664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2025/11/20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15935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2025/11/20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42531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2025/11/20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507613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2025/11/20</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8684520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image" Target="../media/image4.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8.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4.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5.emf"/><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emf"/><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8AE344B-6678-453A-82EF-ACEA0B8BC18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290" r="16132"/>
          <a:stretch/>
        </p:blipFill>
        <p:spPr>
          <a:xfrm>
            <a:off x="1" y="-1"/>
            <a:ext cx="6240014" cy="6872989"/>
          </a:xfrm>
          <a:prstGeom prst="rect">
            <a:avLst/>
          </a:prstGeom>
        </p:spPr>
      </p:pic>
      <p:sp>
        <p:nvSpPr>
          <p:cNvPr id="3" name="矩形 2">
            <a:extLst>
              <a:ext uri="{FF2B5EF4-FFF2-40B4-BE49-F238E27FC236}">
                <a16:creationId xmlns:a16="http://schemas.microsoft.com/office/drawing/2014/main" id="{4C588F26-1CFB-40E2-96B3-8F047D3BF6CF}"/>
              </a:ext>
            </a:extLst>
          </p:cNvPr>
          <p:cNvSpPr/>
          <p:nvPr/>
        </p:nvSpPr>
        <p:spPr>
          <a:xfrm>
            <a:off x="-19601" y="0"/>
            <a:ext cx="6259616" cy="6872990"/>
          </a:xfrm>
          <a:prstGeom prst="rect">
            <a:avLst/>
          </a:prstGeom>
          <a:gradFill flip="none" rotWithShape="1">
            <a:gsLst>
              <a:gs pos="0">
                <a:srgbClr val="024282">
                  <a:alpha val="70000"/>
                </a:srgbClr>
              </a:gs>
              <a:gs pos="59000">
                <a:srgbClr val="024282">
                  <a:alpha val="80000"/>
                </a:srgbClr>
              </a:gs>
              <a:gs pos="100000">
                <a:srgbClr val="024282">
                  <a:alpha val="9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a:extLst>
              <a:ext uri="{FF2B5EF4-FFF2-40B4-BE49-F238E27FC236}">
                <a16:creationId xmlns:a16="http://schemas.microsoft.com/office/drawing/2014/main" id="{982EF669-C6C0-4501-BB74-B2334633C168}"/>
              </a:ext>
            </a:extLst>
          </p:cNvPr>
          <p:cNvGrpSpPr/>
          <p:nvPr/>
        </p:nvGrpSpPr>
        <p:grpSpPr>
          <a:xfrm>
            <a:off x="1251251" y="948678"/>
            <a:ext cx="3022484" cy="1350274"/>
            <a:chOff x="1283804" y="1236710"/>
            <a:chExt cx="3022484" cy="1350274"/>
          </a:xfrm>
        </p:grpSpPr>
        <p:sp>
          <p:nvSpPr>
            <p:cNvPr id="4" name="平行四边形 3">
              <a:extLst>
                <a:ext uri="{FF2B5EF4-FFF2-40B4-BE49-F238E27FC236}">
                  <a16:creationId xmlns:a16="http://schemas.microsoft.com/office/drawing/2014/main" id="{4315C31A-B49E-4E2A-8ED7-7B1309176C6E}"/>
                </a:ext>
              </a:extLst>
            </p:cNvPr>
            <p:cNvSpPr/>
            <p:nvPr/>
          </p:nvSpPr>
          <p:spPr>
            <a:xfrm>
              <a:off x="1283804" y="1236710"/>
              <a:ext cx="3022484" cy="1350274"/>
            </a:xfrm>
            <a:prstGeom prst="parallelogram">
              <a:avLst>
                <a:gd name="adj" fmla="val 3020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6" name="组合 5">
              <a:extLst>
                <a:ext uri="{FF2B5EF4-FFF2-40B4-BE49-F238E27FC236}">
                  <a16:creationId xmlns:a16="http://schemas.microsoft.com/office/drawing/2014/main" id="{5AFEF92C-A8B8-425A-8984-6CD39896DBBD}"/>
                </a:ext>
              </a:extLst>
            </p:cNvPr>
            <p:cNvGrpSpPr/>
            <p:nvPr/>
          </p:nvGrpSpPr>
          <p:grpSpPr>
            <a:xfrm>
              <a:off x="1573792" y="1256225"/>
              <a:ext cx="2410259" cy="1330759"/>
              <a:chOff x="4874746" y="232424"/>
              <a:chExt cx="2410259" cy="1330759"/>
            </a:xfrm>
          </p:grpSpPr>
          <p:sp>
            <p:nvSpPr>
              <p:cNvPr id="7" name="文本框 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CCA2D74D-60CD-4B4B-899F-3CB6F1FDCE1F}"/>
                  </a:ext>
                </a:extLst>
              </p:cNvPr>
              <p:cNvSpPr txBox="1">
                <a:spLocks noChangeArrowheads="1"/>
              </p:cNvSpPr>
              <p:nvPr/>
            </p:nvSpPr>
            <p:spPr bwMode="auto">
              <a:xfrm>
                <a:off x="5193843" y="1163073"/>
                <a:ext cx="1772064" cy="40011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2000" b="1" i="0" u="none" strike="noStrike" kern="1200" cap="none" spc="0" normalizeH="0" baseline="0" noProof="0" dirty="0">
                    <a:ln>
                      <a:noFill/>
                    </a:ln>
                    <a:solidFill>
                      <a:srgbClr val="024282"/>
                    </a:solidFill>
                    <a:effectLst/>
                    <a:uLnTx/>
                    <a:uFillTx/>
                    <a:latin typeface="Arial"/>
                    <a:ea typeface="微软雅黑"/>
                    <a:cs typeface="+mn-cs"/>
                    <a:sym typeface="Calibri" panose="020F0502020204030204" pitchFamily="34" charset="0"/>
                  </a:rPr>
                  <a:t>CONTENTS</a:t>
                </a:r>
              </a:p>
            </p:txBody>
          </p:sp>
          <p:sp>
            <p:nvSpPr>
              <p:cNvPr id="8" name="文本框 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28ABCAB4-C892-46A6-941B-6D634EB4394E}"/>
                  </a:ext>
                </a:extLst>
              </p:cNvPr>
              <p:cNvSpPr txBox="1">
                <a:spLocks noChangeArrowheads="1"/>
              </p:cNvSpPr>
              <p:nvPr/>
            </p:nvSpPr>
            <p:spPr bwMode="auto">
              <a:xfrm>
                <a:off x="4874746" y="232424"/>
                <a:ext cx="2410259" cy="83099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zh-CN" altLang="en-US" sz="4800" b="1" i="0" u="none" strike="noStrike" kern="1200" cap="none" spc="0" normalizeH="0" baseline="0" noProof="0" dirty="0">
                    <a:ln>
                      <a:noFill/>
                    </a:ln>
                    <a:solidFill>
                      <a:srgbClr val="024282"/>
                    </a:solidFill>
                    <a:effectLst/>
                    <a:uLnTx/>
                    <a:uFillTx/>
                    <a:latin typeface="微软雅黑"/>
                    <a:ea typeface="微软雅黑"/>
                    <a:cs typeface="+mn-cs"/>
                    <a:sym typeface="Calibri" panose="020F0502020204030204" pitchFamily="34" charset="0"/>
                  </a:rPr>
                  <a:t>目 录</a:t>
                </a:r>
                <a:endParaRPr kumimoji="0" lang="en-US" altLang="zh-CN" sz="4800" b="1" i="0" u="none" strike="noStrike" kern="1200" cap="none" spc="0" normalizeH="0" baseline="0" noProof="0" dirty="0">
                  <a:ln>
                    <a:noFill/>
                  </a:ln>
                  <a:solidFill>
                    <a:srgbClr val="024282"/>
                  </a:solidFill>
                  <a:effectLst/>
                  <a:uLnTx/>
                  <a:uFillTx/>
                  <a:latin typeface="微软雅黑"/>
                  <a:ea typeface="微软雅黑"/>
                  <a:cs typeface="+mn-cs"/>
                  <a:sym typeface="Calibri" panose="020F0502020204030204" pitchFamily="34" charset="0"/>
                </a:endParaRPr>
              </a:p>
            </p:txBody>
          </p:sp>
          <p:cxnSp>
            <p:nvCxnSpPr>
              <p:cNvPr id="9" name="直接连接符 8">
                <a:extLst>
                  <a:ext uri="{FF2B5EF4-FFF2-40B4-BE49-F238E27FC236}">
                    <a16:creationId xmlns:a16="http://schemas.microsoft.com/office/drawing/2014/main" id="{9016EEE6-E325-4DBA-BDD6-4D6694C4CC3E}"/>
                  </a:ext>
                </a:extLst>
              </p:cNvPr>
              <p:cNvCxnSpPr>
                <a:cxnSpLocks/>
              </p:cNvCxnSpPr>
              <p:nvPr/>
            </p:nvCxnSpPr>
            <p:spPr>
              <a:xfrm>
                <a:off x="5471592" y="1091557"/>
                <a:ext cx="1224136"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grpSp>
      </p:grpSp>
      <p:grpSp>
        <p:nvGrpSpPr>
          <p:cNvPr id="13" name="组合 12">
            <a:extLst>
              <a:ext uri="{FF2B5EF4-FFF2-40B4-BE49-F238E27FC236}">
                <a16:creationId xmlns:a16="http://schemas.microsoft.com/office/drawing/2014/main" id="{35B453DA-1046-402C-A089-32D076E8E824}"/>
              </a:ext>
            </a:extLst>
          </p:cNvPr>
          <p:cNvGrpSpPr/>
          <p:nvPr/>
        </p:nvGrpSpPr>
        <p:grpSpPr>
          <a:xfrm>
            <a:off x="5534013" y="741725"/>
            <a:ext cx="1381373" cy="660400"/>
            <a:chOff x="5519936" y="1488468"/>
            <a:chExt cx="1381373" cy="660400"/>
          </a:xfrm>
          <a:effectLst>
            <a:outerShdw blurRad="50800" dist="38100" dir="5400000" algn="t" rotWithShape="0">
              <a:prstClr val="black">
                <a:alpha val="40000"/>
              </a:prstClr>
            </a:outerShdw>
          </a:effectLst>
        </p:grpSpPr>
        <p:sp>
          <p:nvSpPr>
            <p:cNvPr id="11" name="平行四边形 10">
              <a:extLst>
                <a:ext uri="{FF2B5EF4-FFF2-40B4-BE49-F238E27FC236}">
                  <a16:creationId xmlns:a16="http://schemas.microsoft.com/office/drawing/2014/main" id="{1C3599B1-4D20-4671-BEF4-65C9EAB2EF63}"/>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2" name="文本框 11"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EAADFE1E-A461-4378-BEA8-75231538EC55}"/>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01</a:t>
              </a:r>
            </a:p>
          </p:txBody>
        </p:sp>
      </p:grpSp>
      <p:grpSp>
        <p:nvGrpSpPr>
          <p:cNvPr id="14" name="组合 13">
            <a:extLst>
              <a:ext uri="{FF2B5EF4-FFF2-40B4-BE49-F238E27FC236}">
                <a16:creationId xmlns:a16="http://schemas.microsoft.com/office/drawing/2014/main" id="{4970C482-E917-4E9C-8032-BAB8936864D8}"/>
              </a:ext>
            </a:extLst>
          </p:cNvPr>
          <p:cNvGrpSpPr/>
          <p:nvPr/>
        </p:nvGrpSpPr>
        <p:grpSpPr>
          <a:xfrm>
            <a:off x="5534014" y="2157882"/>
            <a:ext cx="1381373" cy="660400"/>
            <a:chOff x="5519936" y="1488468"/>
            <a:chExt cx="1381373" cy="660400"/>
          </a:xfrm>
          <a:effectLst>
            <a:outerShdw blurRad="50800" dist="38100" dir="2700000" algn="tl" rotWithShape="0">
              <a:prstClr val="black">
                <a:alpha val="40000"/>
              </a:prstClr>
            </a:outerShdw>
          </a:effectLst>
        </p:grpSpPr>
        <p:sp>
          <p:nvSpPr>
            <p:cNvPr id="15" name="平行四边形 14">
              <a:extLst>
                <a:ext uri="{FF2B5EF4-FFF2-40B4-BE49-F238E27FC236}">
                  <a16:creationId xmlns:a16="http://schemas.microsoft.com/office/drawing/2014/main" id="{5074975E-4160-4ABC-83BA-52F95D6FAE33}"/>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文本框 1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84FFBF53-D805-421A-99CF-D9D620664772}"/>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02</a:t>
              </a:r>
            </a:p>
          </p:txBody>
        </p:sp>
      </p:grpSp>
      <p:grpSp>
        <p:nvGrpSpPr>
          <p:cNvPr id="17" name="组合 16">
            <a:extLst>
              <a:ext uri="{FF2B5EF4-FFF2-40B4-BE49-F238E27FC236}">
                <a16:creationId xmlns:a16="http://schemas.microsoft.com/office/drawing/2014/main" id="{BC60539A-8499-4BCF-946B-6DE06AF2DECE}"/>
              </a:ext>
            </a:extLst>
          </p:cNvPr>
          <p:cNvGrpSpPr/>
          <p:nvPr/>
        </p:nvGrpSpPr>
        <p:grpSpPr>
          <a:xfrm>
            <a:off x="5464370" y="3574039"/>
            <a:ext cx="1381373" cy="660400"/>
            <a:chOff x="5519936" y="1488468"/>
            <a:chExt cx="1381373" cy="660400"/>
          </a:xfrm>
          <a:effectLst>
            <a:outerShdw blurRad="50800" dist="38100" dir="2700000" algn="tl" rotWithShape="0">
              <a:prstClr val="black">
                <a:alpha val="40000"/>
              </a:prstClr>
            </a:outerShdw>
          </a:effectLst>
        </p:grpSpPr>
        <p:sp>
          <p:nvSpPr>
            <p:cNvPr id="18" name="平行四边形 17">
              <a:extLst>
                <a:ext uri="{FF2B5EF4-FFF2-40B4-BE49-F238E27FC236}">
                  <a16:creationId xmlns:a16="http://schemas.microsoft.com/office/drawing/2014/main" id="{FF5FE659-7881-4AF9-A9CF-E6AD04EC8B87}"/>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9" name="文本框 1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CAAECA3F-97A8-40B1-BEB6-CCE170797290}"/>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03</a:t>
              </a:r>
            </a:p>
          </p:txBody>
        </p:sp>
      </p:grpSp>
      <p:sp>
        <p:nvSpPr>
          <p:cNvPr id="31" name="文本框 6">
            <a:extLst>
              <a:ext uri="{FF2B5EF4-FFF2-40B4-BE49-F238E27FC236}">
                <a16:creationId xmlns:a16="http://schemas.microsoft.com/office/drawing/2014/main" id="{C899EBEE-CC0D-4B8B-9EEE-2A3DAA398598}"/>
              </a:ext>
            </a:extLst>
          </p:cNvPr>
          <p:cNvSpPr txBox="1">
            <a:spLocks noChangeArrowheads="1"/>
          </p:cNvSpPr>
          <p:nvPr/>
        </p:nvSpPr>
        <p:spPr bwMode="auto">
          <a:xfrm>
            <a:off x="7421962" y="82594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文献（计量目的）</a:t>
            </a:r>
          </a:p>
        </p:txBody>
      </p:sp>
      <p:sp>
        <p:nvSpPr>
          <p:cNvPr id="35" name="文本框 6">
            <a:extLst>
              <a:ext uri="{FF2B5EF4-FFF2-40B4-BE49-F238E27FC236}">
                <a16:creationId xmlns:a16="http://schemas.microsoft.com/office/drawing/2014/main" id="{ED30204A-DDC1-4584-96D5-D437F336A0FE}"/>
              </a:ext>
            </a:extLst>
          </p:cNvPr>
          <p:cNvSpPr txBox="1">
            <a:spLocks noChangeArrowheads="1"/>
          </p:cNvSpPr>
          <p:nvPr/>
        </p:nvSpPr>
        <p:spPr bwMode="auto">
          <a:xfrm>
            <a:off x="7421962" y="2247497"/>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模型</a:t>
            </a:r>
          </a:p>
        </p:txBody>
      </p:sp>
      <p:sp>
        <p:nvSpPr>
          <p:cNvPr id="38" name="文本框 6">
            <a:extLst>
              <a:ext uri="{FF2B5EF4-FFF2-40B4-BE49-F238E27FC236}">
                <a16:creationId xmlns:a16="http://schemas.microsoft.com/office/drawing/2014/main" id="{524F2D32-773B-4BA6-9058-69F7A78A1330}"/>
              </a:ext>
            </a:extLst>
          </p:cNvPr>
          <p:cNvSpPr txBox="1">
            <a:spLocks noChangeArrowheads="1"/>
          </p:cNvSpPr>
          <p:nvPr/>
        </p:nvSpPr>
        <p:spPr bwMode="auto">
          <a:xfrm>
            <a:off x="7421961" y="3642629"/>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结果</a:t>
            </a:r>
          </a:p>
        </p:txBody>
      </p:sp>
      <p:pic>
        <p:nvPicPr>
          <p:cNvPr id="23" name="图片 22">
            <a:extLst>
              <a:ext uri="{FF2B5EF4-FFF2-40B4-BE49-F238E27FC236}">
                <a16:creationId xmlns:a16="http://schemas.microsoft.com/office/drawing/2014/main" id="{5713DC1F-F878-423B-A86A-01A78769C1D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813545" y="6447112"/>
            <a:ext cx="2093426" cy="334487"/>
          </a:xfrm>
          <a:prstGeom prst="rect">
            <a:avLst/>
          </a:prstGeom>
        </p:spPr>
      </p:pic>
      <p:grpSp>
        <p:nvGrpSpPr>
          <p:cNvPr id="43" name="组合 42">
            <a:extLst>
              <a:ext uri="{FF2B5EF4-FFF2-40B4-BE49-F238E27FC236}">
                <a16:creationId xmlns:a16="http://schemas.microsoft.com/office/drawing/2014/main" id="{C3106A62-5189-4F65-BFF2-91D4DD704A6E}"/>
              </a:ext>
            </a:extLst>
          </p:cNvPr>
          <p:cNvGrpSpPr/>
          <p:nvPr/>
        </p:nvGrpSpPr>
        <p:grpSpPr>
          <a:xfrm>
            <a:off x="9114765" y="102733"/>
            <a:ext cx="2879308" cy="743473"/>
            <a:chOff x="825667" y="458497"/>
            <a:chExt cx="4856203" cy="1253932"/>
          </a:xfrm>
        </p:grpSpPr>
        <p:pic>
          <p:nvPicPr>
            <p:cNvPr id="44" name="图片 43">
              <a:extLst>
                <a:ext uri="{FF2B5EF4-FFF2-40B4-BE49-F238E27FC236}">
                  <a16:creationId xmlns:a16="http://schemas.microsoft.com/office/drawing/2014/main" id="{B0E8E5A5-E622-48B8-8E27-E612B1E9250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45" name="图片 44">
              <a:extLst>
                <a:ext uri="{FF2B5EF4-FFF2-40B4-BE49-F238E27FC236}">
                  <a16:creationId xmlns:a16="http://schemas.microsoft.com/office/drawing/2014/main" id="{4110209A-E4D8-4572-A966-525233F0A4EB}"/>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7" name="矩形 46">
              <a:extLst>
                <a:ext uri="{FF2B5EF4-FFF2-40B4-BE49-F238E27FC236}">
                  <a16:creationId xmlns:a16="http://schemas.microsoft.com/office/drawing/2014/main" id="{33CB3645-5119-4F09-8628-678420F17571}"/>
                </a:ext>
              </a:extLst>
            </p:cNvPr>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grpSp>
        <p:nvGrpSpPr>
          <p:cNvPr id="5" name="组合 4">
            <a:extLst>
              <a:ext uri="{FF2B5EF4-FFF2-40B4-BE49-F238E27FC236}">
                <a16:creationId xmlns:a16="http://schemas.microsoft.com/office/drawing/2014/main" id="{47FBD417-3161-B5C4-2265-0E9DCDB0390D}"/>
              </a:ext>
            </a:extLst>
          </p:cNvPr>
          <p:cNvGrpSpPr/>
          <p:nvPr/>
        </p:nvGrpSpPr>
        <p:grpSpPr>
          <a:xfrm>
            <a:off x="5419392" y="4990196"/>
            <a:ext cx="1381373" cy="660400"/>
            <a:chOff x="5519936" y="1488468"/>
            <a:chExt cx="1381373" cy="660400"/>
          </a:xfrm>
          <a:effectLst>
            <a:outerShdw blurRad="50800" dist="38100" dir="2700000" algn="tl" rotWithShape="0">
              <a:prstClr val="black">
                <a:alpha val="40000"/>
              </a:prstClr>
            </a:outerShdw>
          </a:effectLst>
        </p:grpSpPr>
        <p:sp>
          <p:nvSpPr>
            <p:cNvPr id="20" name="平行四边形 19">
              <a:extLst>
                <a:ext uri="{FF2B5EF4-FFF2-40B4-BE49-F238E27FC236}">
                  <a16:creationId xmlns:a16="http://schemas.microsoft.com/office/drawing/2014/main" id="{580AC35B-0C0F-D7D9-4191-5E31E1A2426C}"/>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1" name="文本框 20"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374ACBF3-912A-8E39-F81A-DB5EE65762EB}"/>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04</a:t>
              </a:r>
            </a:p>
          </p:txBody>
        </p:sp>
      </p:grpSp>
      <p:sp>
        <p:nvSpPr>
          <p:cNvPr id="22" name="文本框 6">
            <a:extLst>
              <a:ext uri="{FF2B5EF4-FFF2-40B4-BE49-F238E27FC236}">
                <a16:creationId xmlns:a16="http://schemas.microsoft.com/office/drawing/2014/main" id="{DC89AD42-067B-C958-77C3-D05145EB074E}"/>
              </a:ext>
            </a:extLst>
          </p:cNvPr>
          <p:cNvSpPr txBox="1">
            <a:spLocks noChangeArrowheads="1"/>
          </p:cNvSpPr>
          <p:nvPr/>
        </p:nvSpPr>
        <p:spPr bwMode="auto">
          <a:xfrm>
            <a:off x="7376983" y="5058786"/>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lang="zh-CN" altLang="en-US" sz="2800" b="1" dirty="0">
                <a:solidFill>
                  <a:srgbClr val="024282"/>
                </a:solidFill>
                <a:latin typeface="微软雅黑"/>
                <a:ea typeface="微软雅黑"/>
              </a:rPr>
              <a:t>总结</a:t>
            </a:r>
            <a:endPar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endParaRPr>
          </a:p>
        </p:txBody>
      </p:sp>
    </p:spTree>
    <p:extLst>
      <p:ext uri="{BB962C8B-B14F-4D97-AF65-F5344CB8AC3E}">
        <p14:creationId xmlns:p14="http://schemas.microsoft.com/office/powerpoint/2010/main" val="2957472605"/>
      </p:ext>
    </p:extLst>
  </p:cSld>
  <p:clrMapOvr>
    <a:masterClrMapping/>
  </p:clrMapOvr>
  <mc:AlternateContent xmlns:mc="http://schemas.openxmlformats.org/markup-compatibility/2006" xmlns:p14="http://schemas.microsoft.com/office/powerpoint/2010/main">
    <mc:Choice Requires="p14">
      <p:transition spd="slow" p14:dur="2000" advTm="4652"/>
    </mc:Choice>
    <mc:Fallback xmlns="">
      <p:transition spd="slow" advTm="465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6C40D3CC-77A7-4EF7-B123-60B81ACA3DB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32257" y="102733"/>
            <a:ext cx="7019929" cy="7019929"/>
          </a:xfrm>
          <a:prstGeom prst="rect">
            <a:avLst/>
          </a:prstGeom>
        </p:spPr>
      </p:pic>
      <p:sp>
        <p:nvSpPr>
          <p:cNvPr id="2" name="文本占位符 3">
            <a:extLst>
              <a:ext uri="{FF2B5EF4-FFF2-40B4-BE49-F238E27FC236}">
                <a16:creationId xmlns:a16="http://schemas.microsoft.com/office/drawing/2014/main" id="{B003DBEA-DCA9-4367-9C7D-276E86308A89}"/>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01</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0596444F-0E55-45FB-ADDC-7CB49F17B057}"/>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defRPr/>
            </a:pPr>
            <a:r>
              <a:rPr lang="zh-CN" altLang="en-US" sz="6600" dirty="0">
                <a:latin typeface="微软雅黑"/>
                <a:ea typeface="微软雅黑"/>
              </a:rPr>
              <a:t>文献</a:t>
            </a:r>
            <a:endPar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a:extLst>
              <a:ext uri="{FF2B5EF4-FFF2-40B4-BE49-F238E27FC236}">
                <a16:creationId xmlns:a16="http://schemas.microsoft.com/office/drawing/2014/main" id="{2803D4B4-1DA9-48D5-9DA1-22E2C28CE9E8}"/>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06200922-3CF6-4931-BC88-44D4B19E806C}"/>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D15F4C6-AC88-41C4-9097-B10E7060E768}"/>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1B02D87A-F649-476F-8BC8-FB6C4075F1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FE902F3-E032-4929-AF5F-9660584777C6}"/>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81F4CA57-0574-43E4-8476-CA9509AA416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32FBF787-E511-4917-B553-A562828617B2}"/>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238EB420-7087-463D-907F-0BDF70FC2E4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5FC3661D-9232-451A-BFEE-4549D7DF0858}"/>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6426CA03-B54C-4E11-BBD3-920EB24A6C2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1C55E38C-6740-4923-ACEF-D98A0947DF6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EA1DC3D-6BB9-4E11-A0FD-ECC673B23442}"/>
                </a:ext>
              </a:extLst>
            </p:cNvPr>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spTree>
    <p:extLst>
      <p:ext uri="{BB962C8B-B14F-4D97-AF65-F5344CB8AC3E}">
        <p14:creationId xmlns:p14="http://schemas.microsoft.com/office/powerpoint/2010/main" val="1135273168"/>
      </p:ext>
    </p:extLst>
  </p:cSld>
  <p:clrMapOvr>
    <a:masterClrMapping/>
  </p:clrMapOvr>
  <mc:AlternateContent xmlns:mc="http://schemas.openxmlformats.org/markup-compatibility/2006" xmlns:p14="http://schemas.microsoft.com/office/powerpoint/2010/main">
    <mc:Choice Requires="p14">
      <p:transition spd="slow" p14:dur="2000" advTm="1159"/>
    </mc:Choice>
    <mc:Fallback xmlns="">
      <p:transition spd="slow" advTm="115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BBBBD-4AFF-F970-1E96-5EB459165617}"/>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04A63ECA-75AE-B7DC-A16A-83EB471ACA40}"/>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2A4FB571-D053-B689-154B-6AD662D3732A}"/>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9AD37308-2F0A-1053-EB8F-645E94210CEF}"/>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10B4CD18-DBBD-D15C-6793-E8DE61C8FFBF}"/>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C9DF5D6C-6BC5-3250-6388-EB2DC89D70C2}"/>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两篇工作论文（预想的结构）</a:t>
            </a:r>
            <a:endParaRPr lang="zh-CN" altLang="zh-CN" sz="2400" dirty="0"/>
          </a:p>
        </p:txBody>
      </p:sp>
      <p:pic>
        <p:nvPicPr>
          <p:cNvPr id="52" name="图片 51">
            <a:extLst>
              <a:ext uri="{FF2B5EF4-FFF2-40B4-BE49-F238E27FC236}">
                <a16:creationId xmlns:a16="http://schemas.microsoft.com/office/drawing/2014/main" id="{0C913D36-3FCB-F5A5-C765-A657AF46596E}"/>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6FA5A2CC-C07A-48E7-ABFE-011B283DA93F}"/>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E56509CC-272D-C553-7516-166C4595E3A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8936B6BB-BBC5-D7F5-A4BD-30B3D83E1A0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C551E4A2-920C-8AB0-78BA-7FB604F083C0}"/>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370BE112-74EB-3CCA-F9FE-1CB1861C4795}"/>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469F87AE-E334-66F3-DCE1-FF6BAF87A494}"/>
              </a:ext>
            </a:extLst>
          </p:cNvPr>
          <p:cNvSpPr txBox="1"/>
          <p:nvPr/>
        </p:nvSpPr>
        <p:spPr>
          <a:xfrm>
            <a:off x="894640" y="784447"/>
            <a:ext cx="9925177" cy="5355312"/>
          </a:xfrm>
          <a:prstGeom prst="rect">
            <a:avLst/>
          </a:prstGeom>
          <a:noFill/>
        </p:spPr>
        <p:txBody>
          <a:bodyPr wrap="square">
            <a:spAutoFit/>
          </a:bodyPr>
          <a:lstStyle/>
          <a:p>
            <a:pPr algn="l">
              <a:buNone/>
            </a:pP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Fang, H., Li, M., &amp; Lu, G. (2025). Decoding China’s industrial policies (NBER Working Paper No. 33814). National Bureau of Economic Research.</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基于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LLM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给出了一套将政策文本内容提取成一个结构化的几十维的向量（包括政策倾向、政策目标、政策工具、政策间关系等）的一个方法（本质上就是设计了一个标准输入输出的</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prompt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Introduction</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（产业政策概念，中国产业政策重要性，</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gaps</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data constraints</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LLM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方法和稳健性，基于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LLM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方法结果的进一步分析，四组事实</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Measuring Industrial Policy</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Existing </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Measuremen</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，数据来源，</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LLM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方法，</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LLM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方法和关键词方法的对比）</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Description of Industrial Policies</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（基于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LLM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结果的分析，包括附录的案例研究）</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Other Data Sets</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（引入计量前的数据集说明）</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Facts of China’s Industrial Policies</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document a set of facts about China’s industrial policy</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，用上了计量方法）（对应理论支撑</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计量结果；计量结果显著）</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Conclusion</a:t>
            </a:r>
            <a:endPar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09220572"/>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C46EA-1562-5267-F1C7-DF60BAB6C198}"/>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398BC31C-4A1C-2D98-8429-0051D568BB6E}"/>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5D5F00B4-BCEC-A453-BA44-AFF6A0D0EF85}"/>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D32D07A3-9F5A-56CE-EA50-F23E2D03F3E2}"/>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E1478D71-05D8-A79E-2101-A493E6F6F4FD}"/>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197248A4-0A5A-5133-7757-0EA104DED4B9}"/>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两篇工作论文（预想的结构）</a:t>
            </a:r>
            <a:endParaRPr lang="zh-CN" altLang="zh-CN" sz="2400" dirty="0"/>
          </a:p>
        </p:txBody>
      </p:sp>
      <p:pic>
        <p:nvPicPr>
          <p:cNvPr id="52" name="图片 51">
            <a:extLst>
              <a:ext uri="{FF2B5EF4-FFF2-40B4-BE49-F238E27FC236}">
                <a16:creationId xmlns:a16="http://schemas.microsoft.com/office/drawing/2014/main" id="{FD79A1C1-6E53-C0DB-66EF-DB062F58C98F}"/>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AAFC4DCC-6897-213E-D668-E4C84B8133DE}"/>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4347ADD9-CEEF-B7FE-DD8A-E4D3A1D8312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7A19F810-21D0-5E67-6E76-9D80F5E1C43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445D5085-B957-427D-7B06-2B983B6F2C3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8189443C-29E8-9873-295E-6DC5AEC026E4}"/>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8" name="文本框 7">
            <a:extLst>
              <a:ext uri="{FF2B5EF4-FFF2-40B4-BE49-F238E27FC236}">
                <a16:creationId xmlns:a16="http://schemas.microsoft.com/office/drawing/2014/main" id="{505EF52E-D246-1940-9E45-055BA684C0FA}"/>
              </a:ext>
            </a:extLst>
          </p:cNvPr>
          <p:cNvSpPr txBox="1"/>
          <p:nvPr/>
        </p:nvSpPr>
        <p:spPr>
          <a:xfrm>
            <a:off x="1094050" y="1135081"/>
            <a:ext cx="10003900" cy="4739759"/>
          </a:xfrm>
          <a:prstGeom prst="rect">
            <a:avLst/>
          </a:prstGeom>
          <a:noFill/>
        </p:spPr>
        <p:txBody>
          <a:bodyPr wrap="square">
            <a:spAutoFit/>
          </a:bodyPr>
          <a:lstStyle/>
          <a:p>
            <a:pPr algn="l">
              <a:buNone/>
            </a:pP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Generative AI as Seniority-Biased Technological Change: Evidence from U.S. Résumé and Job Posting Data   10.2139/ssrn.5425555</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研究生成式人工智能</a:t>
            </a:r>
            <a:r>
              <a:rPr lang="zh-CN" altLang="zh-CN" sz="1600" kern="100" dirty="0">
                <a:solidFill>
                  <a:srgbClr val="333333"/>
                </a:solidFill>
                <a:effectLst/>
                <a:latin typeface="Helvetica" panose="020B0604020202020204" pitchFamily="34" charset="0"/>
                <a:ea typeface="宋体" panose="02010600030101010101" pitchFamily="2" charset="-122"/>
                <a:cs typeface="Helvetica" panose="020B0604020202020204" pitchFamily="34" charset="0"/>
              </a:rPr>
              <a:t>是否构成一种具有资历偏向的技术变革形式，对初级员工的影响不成比例地超过高级员工；基于美国职位招聘数据，利用</a:t>
            </a:r>
            <a:r>
              <a:rPr lang="en-US" altLang="zh-CN" sz="1600" kern="100" dirty="0">
                <a:solidFill>
                  <a:srgbClr val="333333"/>
                </a:solidFill>
                <a:effectLst/>
                <a:latin typeface="Helvetica" panose="020B0604020202020204" pitchFamily="34" charset="0"/>
                <a:ea typeface="宋体" panose="02010600030101010101" pitchFamily="2" charset="-122"/>
                <a:cs typeface="Times New Roman" panose="02020603050405020304" pitchFamily="18" charset="0"/>
              </a:rPr>
              <a:t>LLM</a:t>
            </a:r>
            <a:r>
              <a:rPr lang="zh-CN" altLang="zh-CN" sz="1600" kern="100" dirty="0">
                <a:solidFill>
                  <a:srgbClr val="333333"/>
                </a:solidFill>
                <a:effectLst/>
                <a:latin typeface="Helvetica" panose="020B0604020202020204" pitchFamily="34" charset="0"/>
                <a:ea typeface="宋体" panose="02010600030101010101" pitchFamily="2" charset="-122"/>
                <a:cs typeface="Helvetica" panose="020B0604020202020204" pitchFamily="34" charset="0"/>
              </a:rPr>
              <a:t>文本分析识别该公司是否“积极采用生成式</a:t>
            </a:r>
            <a:r>
              <a:rPr lang="en-US" altLang="zh-CN" sz="1600" kern="100" dirty="0">
                <a:solidFill>
                  <a:srgbClr val="333333"/>
                </a:solidFill>
                <a:effectLst/>
                <a:latin typeface="Helvetica" panose="020B0604020202020204" pitchFamily="34" charset="0"/>
                <a:ea typeface="宋体" panose="02010600030101010101" pitchFamily="2" charset="-122"/>
                <a:cs typeface="Times New Roman" panose="02020603050405020304" pitchFamily="18" charset="0"/>
              </a:rPr>
              <a:t>AI</a:t>
            </a:r>
            <a:r>
              <a:rPr lang="zh-CN" altLang="zh-CN" sz="1600" kern="100" dirty="0">
                <a:solidFill>
                  <a:srgbClr val="333333"/>
                </a:solidFill>
                <a:effectLst/>
                <a:latin typeface="Helvetica" panose="020B0604020202020204" pitchFamily="34" charset="0"/>
                <a:ea typeface="宋体" panose="02010600030101010101" pitchFamily="2" charset="-122"/>
                <a:cs typeface="Helvetica" panose="020B0604020202020204" pitchFamily="34" charset="0"/>
              </a:rPr>
              <a:t>技术”，以此作为核心解释变量；基于</a:t>
            </a:r>
            <a:r>
              <a:rPr lang="en-US" altLang="zh-CN" sz="1600" kern="100" dirty="0">
                <a:solidFill>
                  <a:srgbClr val="333333"/>
                </a:solidFill>
                <a:effectLst/>
                <a:latin typeface="Helvetica" panose="020B0604020202020204" pitchFamily="34" charset="0"/>
                <a:ea typeface="宋体" panose="02010600030101010101" pitchFamily="2" charset="-122"/>
                <a:cs typeface="Times New Roman" panose="02020603050405020304" pitchFamily="18" charset="0"/>
              </a:rPr>
              <a:t>DID</a:t>
            </a:r>
            <a:r>
              <a:rPr lang="zh-CN" altLang="zh-CN" sz="1600" kern="100" dirty="0">
                <a:solidFill>
                  <a:srgbClr val="333333"/>
                </a:solidFill>
                <a:effectLst/>
                <a:latin typeface="Helvetica" panose="020B0604020202020204" pitchFamily="34" charset="0"/>
                <a:ea typeface="宋体" panose="02010600030101010101" pitchFamily="2" charset="-122"/>
                <a:cs typeface="Helvetica" panose="020B0604020202020204" pitchFamily="34" charset="0"/>
              </a:rPr>
              <a:t>和</a:t>
            </a:r>
            <a:r>
              <a:rPr lang="en-US" altLang="zh-CN" sz="1600" kern="100" dirty="0">
                <a:solidFill>
                  <a:srgbClr val="333333"/>
                </a:solidFill>
                <a:effectLst/>
                <a:latin typeface="Helvetica" panose="020B0604020202020204" pitchFamily="34" charset="0"/>
                <a:ea typeface="宋体" panose="02010600030101010101" pitchFamily="2" charset="-122"/>
                <a:cs typeface="Times New Roman" panose="02020603050405020304" pitchFamily="18" charset="0"/>
              </a:rPr>
              <a:t>DDD</a:t>
            </a:r>
            <a:r>
              <a:rPr lang="zh-CN" altLang="zh-CN" sz="1600" kern="100" dirty="0">
                <a:solidFill>
                  <a:srgbClr val="333333"/>
                </a:solidFill>
                <a:effectLst/>
                <a:latin typeface="Helvetica" panose="020B0604020202020204" pitchFamily="34" charset="0"/>
                <a:ea typeface="宋体" panose="02010600030101010101" pitchFamily="2" charset="-122"/>
                <a:cs typeface="Helvetica" panose="020B0604020202020204" pitchFamily="34" charset="0"/>
              </a:rPr>
              <a:t>给出相关结论</a:t>
            </a:r>
            <a:endParaRPr lang="en-US" altLang="zh-CN" sz="1600" kern="100" dirty="0">
              <a:solidFill>
                <a:srgbClr val="333333"/>
              </a:solidFill>
              <a:effectLst/>
              <a:latin typeface="Helvetica" panose="020B0604020202020204" pitchFamily="34" charset="0"/>
              <a:ea typeface="宋体" panose="02010600030101010101" pitchFamily="2" charset="-122"/>
              <a:cs typeface="Helvetica" panose="020B0604020202020204" pitchFamily="34" charset="0"/>
            </a:endParaRP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Introduction</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AI</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对员工的冲击现状，</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DID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的方法和结论，总结）</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Related Literature</a:t>
            </a: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Data and Descriptive Patterns</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LLM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方法的简单介绍和</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LLM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结果变量的说明，</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LLM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方法介绍的比较简单，远没有上一篇具体）</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Empirical Strategy and Results</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did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ddd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结果，计量结果显著，计量结果可解释）</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b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b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Conclusion</a:t>
            </a: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42798840"/>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573B6-4F63-A3E3-D730-F53B4C5A0DE3}"/>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B8FAF44A-6DE7-8DDB-35DA-9DF0501BE28A}"/>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8B376F20-2F6C-2891-9268-4A9BEA2C69D1}"/>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76BF33E7-A7C4-B660-6B9D-1AA4D6A9184E}"/>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BA3D90B5-1D82-6E8B-B483-B26CC3026794}"/>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C07B65FE-8799-B942-B0BB-DED26D0EAED8}"/>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两篇工作论文（预想的结构）</a:t>
            </a:r>
            <a:endParaRPr lang="zh-CN" altLang="zh-CN" sz="2400" dirty="0"/>
          </a:p>
        </p:txBody>
      </p:sp>
      <p:pic>
        <p:nvPicPr>
          <p:cNvPr id="52" name="图片 51">
            <a:extLst>
              <a:ext uri="{FF2B5EF4-FFF2-40B4-BE49-F238E27FC236}">
                <a16:creationId xmlns:a16="http://schemas.microsoft.com/office/drawing/2014/main" id="{761626A4-B720-9A14-308A-D733DC597C57}"/>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0B54CAA9-3073-8EAB-B2C6-27AA57C8FB4A}"/>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45CB7ED1-6C17-F94D-9516-52CCAF18039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E44716AF-0ED6-B6AD-C4E0-34BFEB72293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0E06B9DD-4C8B-FC4A-DD9F-DA97B73A8A44}"/>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BE7B35B9-5AB8-0A1A-7771-D20AF3B93CEA}"/>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8" name="文本框 7">
            <a:extLst>
              <a:ext uri="{FF2B5EF4-FFF2-40B4-BE49-F238E27FC236}">
                <a16:creationId xmlns:a16="http://schemas.microsoft.com/office/drawing/2014/main" id="{0F80AEAA-7E72-C0D0-2FC8-120617981491}"/>
              </a:ext>
            </a:extLst>
          </p:cNvPr>
          <p:cNvSpPr txBox="1"/>
          <p:nvPr/>
        </p:nvSpPr>
        <p:spPr>
          <a:xfrm>
            <a:off x="1110290" y="2392329"/>
            <a:ext cx="10003900" cy="2308324"/>
          </a:xfrm>
          <a:prstGeom prst="rect">
            <a:avLst/>
          </a:prstGeom>
          <a:noFill/>
        </p:spPr>
        <p:txBody>
          <a:bodyPr wrap="square">
            <a:spAutoFit/>
          </a:bodyPr>
          <a:lstStyle/>
          <a:p>
            <a:pPr algn="l">
              <a:buNone/>
            </a:pP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这两篇（尤其是第一篇），就是我们比较想做的一个思路，首先会有一套自己做的文本挖掘方法，然后基于文本挖掘方法我们会有一些结论，为了体现我们这套方法是有意义的或者能够应用的，需要去结合一些政策实践（计量）；</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algn="l">
              <a:buNone/>
            </a:pP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这两篇的计量部分也是直接拿着他们挖出来的结果去做计量，然后拿计量结果下结论的；那这两篇计量部分相比我们强的地方就在于他们的计量结果很好、很显著，但是我们的数据少、结果也不太显著，就导致我们去像这两篇一样作结论的时候，感觉有点底气不足？</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2590839"/>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987E9-3B1B-C22F-B34B-EA7879CD4108}"/>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88214A21-FF0E-7C20-CED1-DA93279ADC05}"/>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457B7647-31C2-B084-3CD0-CB0F196EF547}"/>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D4750D20-173A-E728-A5B5-BDA10FA97B8A}"/>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EBE5C5AD-610B-6281-7AF7-CE2E26AE83B9}"/>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579E5C6C-8036-CEFD-B515-C0F2A37E9447}"/>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和我们的方法比较相关的（没有计量、中文）</a:t>
            </a:r>
            <a:endParaRPr lang="zh-CN" altLang="zh-CN" sz="2400" dirty="0"/>
          </a:p>
        </p:txBody>
      </p:sp>
      <p:pic>
        <p:nvPicPr>
          <p:cNvPr id="52" name="图片 51">
            <a:extLst>
              <a:ext uri="{FF2B5EF4-FFF2-40B4-BE49-F238E27FC236}">
                <a16:creationId xmlns:a16="http://schemas.microsoft.com/office/drawing/2014/main" id="{9D3EF912-2FAA-CE1F-2BD8-487EAC8939C1}"/>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CF7D088-8AD5-6044-03C3-EF79E8B918EE}"/>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9FB090C9-6279-BEEB-4237-8BA6F79EEE3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6FBCD8C8-9992-2194-ED11-1AB1559A675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0367AED9-7C58-098F-8265-18875992FB06}"/>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D3366158-AA7C-96BA-CE34-3607476B32E0}"/>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1" name="文本框 10">
            <a:extLst>
              <a:ext uri="{FF2B5EF4-FFF2-40B4-BE49-F238E27FC236}">
                <a16:creationId xmlns:a16="http://schemas.microsoft.com/office/drawing/2014/main" id="{2E993E2F-298F-D7D7-5A40-177DA7BB93A8}"/>
              </a:ext>
            </a:extLst>
          </p:cNvPr>
          <p:cNvSpPr txBox="1"/>
          <p:nvPr/>
        </p:nvSpPr>
        <p:spPr>
          <a:xfrm>
            <a:off x="544089" y="1513921"/>
            <a:ext cx="11136302" cy="4856714"/>
          </a:xfrm>
          <a:prstGeom prst="rect">
            <a:avLst/>
          </a:prstGeom>
          <a:noFill/>
        </p:spPr>
        <p:txBody>
          <a:bodyPr wrap="square">
            <a:spAutoFit/>
          </a:bodyPr>
          <a:lstStyle/>
          <a:p>
            <a:pPr algn="l">
              <a:buNone/>
            </a:pPr>
            <a:r>
              <a:rPr lang="zh-CN" altLang="en-US" b="1" kern="100" dirty="0">
                <a:latin typeface="Calibri" panose="020F0502020204030204" pitchFamily="34" charset="0"/>
                <a:ea typeface="宋体" panose="02010600030101010101" pitchFamily="2" charset="-122"/>
                <a:cs typeface="Times New Roman" panose="02020603050405020304" pitchFamily="18" charset="0"/>
              </a:rPr>
              <a:t>前面</a:t>
            </a:r>
            <a:r>
              <a:rPr lang="zh-CN" altLang="zh-CN" b="1" kern="100" dirty="0">
                <a:effectLst/>
                <a:latin typeface="Calibri" panose="020F0502020204030204" pitchFamily="34" charset="0"/>
                <a:ea typeface="宋体" panose="02010600030101010101" pitchFamily="2" charset="-122"/>
                <a:cs typeface="Times New Roman" panose="02020603050405020304" pitchFamily="18" charset="0"/>
              </a:rPr>
              <a:t>两</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篇</a:t>
            </a:r>
            <a:r>
              <a:rPr lang="zh-CN" altLang="zh-CN" b="1" kern="100" dirty="0">
                <a:effectLst/>
                <a:latin typeface="Calibri" panose="020F0502020204030204" pitchFamily="34" charset="0"/>
                <a:ea typeface="宋体" panose="02010600030101010101" pitchFamily="2" charset="-122"/>
                <a:cs typeface="Times New Roman" panose="02020603050405020304" pitchFamily="18" charset="0"/>
              </a:rPr>
              <a:t>是和我们预想中的文章结构比较相近的文章；下面几篇是和我们的方法比较相关的中文政策文本挖掘的文章，以中文为主，几乎没有计量的影子</a:t>
            </a:r>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a:t>
            </a:r>
            <a:endParaRPr lang="en-US" altLang="zh-CN" sz="2400" b="1"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20000"/>
              </a:lnSpc>
              <a:buNone/>
            </a:pP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武楷彪</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基于文本关联挖掘的我国人工智能政策扩散特征研究</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[D].</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中国科学院大学</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中国科学院文献情报中心</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),2022.DOI:10.27600/d.cnki.gwqbz.2022.000003.</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（硕士论文）</a:t>
            </a:r>
            <a:endPar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20000"/>
              </a:lnSpc>
              <a:buNone/>
            </a:pPr>
            <a:endParaRPr lang="zh-CN" altLang="zh-CN" sz="2000" kern="1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20000"/>
              </a:lnSpc>
              <a:buNone/>
            </a:pP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郑新曼</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董瑜</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基于科技政策文本的程度词典构建研究</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[J].</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数据分析与知识发现</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,2021,5(10):81-93.</a:t>
            </a:r>
          </a:p>
          <a:p>
            <a:pPr>
              <a:lnSpc>
                <a:spcPct val="120000"/>
              </a:lnSpc>
              <a:buNone/>
            </a:pPr>
            <a:endParaRPr lang="zh-CN" altLang="zh-CN" sz="2000" kern="1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20000"/>
              </a:lnSpc>
              <a:buNone/>
            </a:pP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郑新曼</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董瑜</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基于程度词典优化的中文科技规划文本分析</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[J].</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现代情报</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,2023,43(09):74-84.</a:t>
            </a:r>
          </a:p>
          <a:p>
            <a:pPr>
              <a:lnSpc>
                <a:spcPct val="120000"/>
              </a:lnSpc>
              <a:buNone/>
            </a:pPr>
            <a:endParaRPr lang="zh-CN" altLang="zh-CN" sz="2000" kern="1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20000"/>
              </a:lnSpc>
              <a:buNone/>
            </a:pP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邓翔</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彭杰</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基于文本挖掘的低碳试点政策量化评估</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[J]. </a:t>
            </a:r>
            <a:r>
              <a:rPr lang="zh-CN"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资源科学</a:t>
            </a:r>
            <a:r>
              <a:rPr lang="en-US" altLang="zh-CN" sz="14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 2023, 45(3): 652-667. </a:t>
            </a:r>
          </a:p>
          <a:p>
            <a:pPr>
              <a:lnSpc>
                <a:spcPct val="120000"/>
              </a:lnSpc>
              <a:buNone/>
            </a:pPr>
            <a:endParaRPr lang="zh-CN" altLang="zh-CN" sz="2800" kern="1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gn="l">
              <a:buNone/>
            </a:pPr>
            <a:r>
              <a:rPr lang="zh-CN" altLang="zh-CN" kern="100" dirty="0">
                <a:effectLst/>
                <a:latin typeface="Calibri" panose="020F0502020204030204" pitchFamily="34" charset="0"/>
                <a:ea typeface="宋体" panose="02010600030101010101" pitchFamily="2" charset="-122"/>
                <a:cs typeface="Times New Roman" panose="02020603050405020304" pitchFamily="18" charset="0"/>
              </a:rPr>
              <a:t>这几篇中文的基本上就是基于他们的文本挖掘方法，给出结论，没涉及到计量，也没有去谈他们的文本挖掘结果是否可靠，硕士论文这篇有较少篇幅去做了一定的验证，但也仅仅是针对方法的稳健性的，在实证部分也没有去给出一个比较好的验证思路。就是拿着挖掘方法的结果进行分析的</a:t>
            </a:r>
          </a:p>
        </p:txBody>
      </p:sp>
    </p:spTree>
    <p:extLst>
      <p:ext uri="{BB962C8B-B14F-4D97-AF65-F5344CB8AC3E}">
        <p14:creationId xmlns:p14="http://schemas.microsoft.com/office/powerpoint/2010/main" val="1000548978"/>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9ACDA-F879-5EF2-2C89-1D8BDF65BB5D}"/>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6D7785FC-4477-864F-5244-3C27CF1ECC64}"/>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FB863CF4-E715-703C-E057-B82DD1195178}"/>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14E4482-797E-640F-6E92-E32320010ABE}"/>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0BE1FC4C-6D04-9715-FEC2-332A2F3DD6C2}"/>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D8248FCD-55D9-131E-4825-654322C46864}"/>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和我们的方法比较相关的（强方法）</a:t>
            </a:r>
            <a:endParaRPr lang="zh-CN" altLang="zh-CN" sz="2400" dirty="0"/>
          </a:p>
        </p:txBody>
      </p:sp>
      <p:pic>
        <p:nvPicPr>
          <p:cNvPr id="52" name="图片 51">
            <a:extLst>
              <a:ext uri="{FF2B5EF4-FFF2-40B4-BE49-F238E27FC236}">
                <a16:creationId xmlns:a16="http://schemas.microsoft.com/office/drawing/2014/main" id="{C7B8C949-5B1A-C816-BEE0-8B6E49A9BE24}"/>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6BEFF0F5-88A7-1AE3-BACB-2B7A3B2F43F5}"/>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D8CF589E-8DFF-3CB3-E2C7-3A8B0A34575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43BF51BD-0DDE-29DB-81AD-AD3D5031B59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C47D5C39-B780-F61D-D2A8-A29FCEAA6B99}"/>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CB67CEA4-D16F-06BE-CA3E-9B4026FD2298}"/>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1" name="文本框 10">
            <a:extLst>
              <a:ext uri="{FF2B5EF4-FFF2-40B4-BE49-F238E27FC236}">
                <a16:creationId xmlns:a16="http://schemas.microsoft.com/office/drawing/2014/main" id="{607D963C-3ADA-A26B-98DA-B6A8DF2E3CBF}"/>
              </a:ext>
            </a:extLst>
          </p:cNvPr>
          <p:cNvSpPr txBox="1"/>
          <p:nvPr/>
        </p:nvSpPr>
        <p:spPr>
          <a:xfrm>
            <a:off x="335361" y="944994"/>
            <a:ext cx="11136302" cy="646331"/>
          </a:xfrm>
          <a:prstGeom prst="rect">
            <a:avLst/>
          </a:prstGeom>
          <a:noFill/>
        </p:spPr>
        <p:txBody>
          <a:bodyPr wrap="square">
            <a:spAutoFit/>
          </a:bodyPr>
          <a:lstStyle/>
          <a:p>
            <a:pPr algn="l">
              <a:buNone/>
            </a:pPr>
            <a:r>
              <a:rPr lang="zh-CN" altLang="en-US" b="1" kern="100" dirty="0">
                <a:effectLst/>
                <a:latin typeface="Calibri" panose="020F0502020204030204" pitchFamily="34" charset="0"/>
                <a:ea typeface="宋体" panose="02010600030101010101" pitchFamily="2" charset="-122"/>
                <a:cs typeface="Times New Roman" panose="02020603050405020304" pitchFamily="18" charset="0"/>
              </a:rPr>
              <a:t>上面的几篇其实感觉方法和后面的分析都没有那么强，和我们现在的情况差不大多，然后还有一种是，虽然分析比较简单（没有计量支撑），但是前面算法做的比较充分，这种结构感觉也挺合理的（偏算法）</a:t>
            </a:r>
            <a:r>
              <a:rPr lang="zh-CN" altLang="zh-CN" b="1" kern="100" dirty="0">
                <a:effectLst/>
                <a:latin typeface="Calibri" panose="020F0502020204030204" pitchFamily="34" charset="0"/>
                <a:ea typeface="宋体" panose="02010600030101010101" pitchFamily="2" charset="-122"/>
                <a:cs typeface="Times New Roman" panose="02020603050405020304" pitchFamily="18" charset="0"/>
              </a:rPr>
              <a:t>：</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2931F1B3-291C-6F16-ABDA-DF6F6F54B70F}"/>
              </a:ext>
            </a:extLst>
          </p:cNvPr>
          <p:cNvSpPr txBox="1"/>
          <p:nvPr/>
        </p:nvSpPr>
        <p:spPr>
          <a:xfrm>
            <a:off x="392209" y="1554796"/>
            <a:ext cx="11136302" cy="657809"/>
          </a:xfrm>
          <a:prstGeom prst="rect">
            <a:avLst/>
          </a:prstGeom>
          <a:noFill/>
        </p:spPr>
        <p:txBody>
          <a:bodyPr wrap="square">
            <a:spAutoFit/>
          </a:bodyPr>
          <a:lstStyle/>
          <a:p>
            <a:pPr>
              <a:lnSpc>
                <a:spcPct val="120000"/>
              </a:lnSpc>
              <a:buNone/>
            </a:pPr>
            <a:r>
              <a:rPr lang="en-US" altLang="zh-CN" sz="1600" kern="100" dirty="0">
                <a:solidFill>
                  <a:srgbClr val="FF0000"/>
                </a:solidFill>
                <a:effectLst/>
                <a:latin typeface="Arial" panose="020B0604020202020204" pitchFamily="34" charset="0"/>
                <a:ea typeface="微软雅黑" panose="020B0503020204020204" pitchFamily="34" charset="-122"/>
                <a:cs typeface="Times New Roman" panose="02020603050405020304" pitchFamily="18" charset="0"/>
              </a:rPr>
              <a:t>Zhang Y, Huang B, Yuan W, et al. Expert-level policy style measurement via knowledge distillation with large language model collaboration[J]. Information Processing &amp; Management, 2025, 62(4): 104090.</a:t>
            </a:r>
            <a:endParaRPr lang="zh-CN" altLang="zh-CN" sz="2000" kern="1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F98ABA32-12D7-4263-E860-2630C3A046D0}"/>
              </a:ext>
            </a:extLst>
          </p:cNvPr>
          <p:cNvSpPr txBox="1"/>
          <p:nvPr/>
        </p:nvSpPr>
        <p:spPr>
          <a:xfrm>
            <a:off x="344207" y="3046202"/>
            <a:ext cx="11585145" cy="3046988"/>
          </a:xfrm>
          <a:prstGeom prst="rect">
            <a:avLst/>
          </a:prstGeom>
          <a:noFill/>
        </p:spPr>
        <p:txBody>
          <a:bodyPr wrap="square">
            <a:spAutoFit/>
          </a:bodyPr>
          <a:lstStyle/>
          <a:p>
            <a:r>
              <a:rPr lang="zh-CN" altLang="en-US" sz="1600" b="1" dirty="0"/>
              <a:t>方法论方面</a:t>
            </a:r>
          </a:p>
          <a:p>
            <a:r>
              <a:rPr lang="en-US" altLang="zh-CN" sz="1600" dirty="0"/>
              <a:t>1</a:t>
            </a:r>
            <a:r>
              <a:rPr lang="zh-CN" altLang="en-US" sz="1600" dirty="0"/>
              <a:t>）直接评分政策文件的效果很差（和我自己试的时候是一致的），于是将打分任务改为排名任务</a:t>
            </a:r>
          </a:p>
          <a:p>
            <a:r>
              <a:rPr lang="en-US" altLang="zh-CN" sz="1600" dirty="0"/>
              <a:t>2</a:t>
            </a:r>
            <a:r>
              <a:rPr lang="zh-CN" altLang="en-US" sz="1600" dirty="0"/>
              <a:t>）排名任务是基于</a:t>
            </a:r>
            <a:r>
              <a:rPr lang="en-US" altLang="zh-CN" sz="1600" dirty="0"/>
              <a:t>LLM</a:t>
            </a:r>
            <a:r>
              <a:rPr lang="zh-CN" altLang="en-US" sz="1600" dirty="0"/>
              <a:t>的多轮对话和不同角色（</a:t>
            </a:r>
            <a:r>
              <a:rPr lang="en-US" altLang="zh-CN" sz="1600" dirty="0"/>
              <a:t>multi-agent</a:t>
            </a:r>
            <a:r>
              <a:rPr lang="zh-CN" altLang="en-US" sz="1600" dirty="0"/>
              <a:t>，三个角色，应该就是三个</a:t>
            </a:r>
            <a:r>
              <a:rPr lang="en-US" altLang="zh-CN" sz="1600" dirty="0"/>
              <a:t>LLM</a:t>
            </a:r>
            <a:r>
              <a:rPr lang="zh-CN" altLang="en-US" sz="1600" dirty="0"/>
              <a:t>对话框，</a:t>
            </a:r>
            <a:r>
              <a:rPr lang="en-US" altLang="zh-CN" sz="1600" dirty="0"/>
              <a:t>Prompter, Ranker, and Analyst.</a:t>
            </a:r>
            <a:r>
              <a:rPr lang="zh-CN" altLang="en-US" sz="1600" dirty="0"/>
              <a:t>）的一个非参数学习；这里会涉及到人工标注，文章给了一些具体的做法，较少样本，约</a:t>
            </a:r>
            <a:r>
              <a:rPr lang="en-US" altLang="zh-CN" sz="1600" dirty="0"/>
              <a:t>500</a:t>
            </a:r>
            <a:r>
              <a:rPr lang="zh-CN" altLang="en-US" sz="1600" dirty="0"/>
              <a:t>条数据的标注量</a:t>
            </a:r>
          </a:p>
          <a:p>
            <a:r>
              <a:rPr lang="en-US" altLang="zh-CN" sz="1600" dirty="0"/>
              <a:t>3</a:t>
            </a:r>
            <a:r>
              <a:rPr lang="zh-CN" altLang="en-US" sz="1600" dirty="0"/>
              <a:t>）它在排序任名任务的结果上，去调了</a:t>
            </a:r>
            <a:r>
              <a:rPr lang="en-US" altLang="zh-CN" sz="1600" dirty="0" err="1"/>
              <a:t>sbert</a:t>
            </a:r>
            <a:r>
              <a:rPr lang="zh-CN" altLang="en-US" sz="1600" dirty="0"/>
              <a:t>的参数，简单地看了一下，会将</a:t>
            </a:r>
            <a:r>
              <a:rPr lang="en-US" altLang="zh-CN" sz="1600" dirty="0"/>
              <a:t>2</a:t>
            </a:r>
            <a:r>
              <a:rPr lang="zh-CN" altLang="en-US" sz="1600" dirty="0"/>
              <a:t>）的结果结构化为一个（</a:t>
            </a:r>
            <a:r>
              <a:rPr lang="en-US" altLang="zh-CN" sz="1600" dirty="0"/>
              <a:t>Q,P,P’</a:t>
            </a:r>
            <a:r>
              <a:rPr lang="zh-CN" altLang="en-US" sz="1600" dirty="0"/>
              <a:t>）的三元组，然后损失函数设为 </a:t>
            </a:r>
            <a:endParaRPr lang="en-US" altLang="zh-CN" sz="1600" dirty="0"/>
          </a:p>
          <a:p>
            <a:endParaRPr lang="zh-CN" altLang="en-US" sz="1600" dirty="0"/>
          </a:p>
          <a:p>
            <a:endParaRPr lang="en-US" altLang="zh-CN" sz="1600" dirty="0"/>
          </a:p>
          <a:p>
            <a:r>
              <a:rPr lang="zh-CN" altLang="en-US" sz="1600" dirty="0"/>
              <a:t>学习到的就是带有领域风格知识的相似度；类比到我们的情境下，就是在</a:t>
            </a:r>
            <a:r>
              <a:rPr lang="en-US" altLang="zh-CN" sz="1600" dirty="0"/>
              <a:t>2</a:t>
            </a:r>
            <a:r>
              <a:rPr lang="zh-CN" altLang="en-US" sz="1600" dirty="0"/>
              <a:t>）中</a:t>
            </a:r>
            <a:r>
              <a:rPr lang="en-US" altLang="zh-CN" sz="1600" dirty="0"/>
              <a:t>LLM</a:t>
            </a:r>
            <a:r>
              <a:rPr lang="zh-CN" altLang="en-US" sz="1600" dirty="0"/>
              <a:t>给了我们一个（中央句子，较强的地方句子，较弱的地方句子），然后</a:t>
            </a:r>
            <a:r>
              <a:rPr lang="en-US" altLang="zh-CN" sz="1600" dirty="0"/>
              <a:t>3</a:t>
            </a:r>
            <a:r>
              <a:rPr lang="zh-CN" altLang="en-US" sz="1600" dirty="0"/>
              <a:t>）的训练是要让中央和强句子的嵌入在</a:t>
            </a:r>
            <a:r>
              <a:rPr lang="en-US" altLang="zh-CN" sz="1600" dirty="0" err="1"/>
              <a:t>sbert</a:t>
            </a:r>
            <a:r>
              <a:rPr lang="zh-CN" altLang="en-US" sz="1600" dirty="0"/>
              <a:t>里尽可能邻近、和若句子的嵌入尽可能远离，那么这个“邻近性”其实就衡量一种相对语调</a:t>
            </a:r>
          </a:p>
          <a:p>
            <a:r>
              <a:rPr lang="en-US" altLang="zh-CN" sz="1600" dirty="0"/>
              <a:t>4</a:t>
            </a:r>
            <a:r>
              <a:rPr lang="zh-CN" altLang="en-US" sz="1600" dirty="0"/>
              <a:t>）验证，给了好几套基线方法，包括纯词袋、词向量还有纯</a:t>
            </a:r>
            <a:r>
              <a:rPr lang="en-US" altLang="zh-CN" sz="1600" dirty="0"/>
              <a:t>LLM</a:t>
            </a:r>
            <a:r>
              <a:rPr lang="zh-CN" altLang="en-US" sz="1600" dirty="0"/>
              <a:t>方法等；然后评判的依据是前面训练用到的人工标注数据</a:t>
            </a:r>
          </a:p>
        </p:txBody>
      </p:sp>
      <p:pic>
        <p:nvPicPr>
          <p:cNvPr id="14" name="图片 13">
            <a:extLst>
              <a:ext uri="{FF2B5EF4-FFF2-40B4-BE49-F238E27FC236}">
                <a16:creationId xmlns:a16="http://schemas.microsoft.com/office/drawing/2014/main" id="{48749062-154F-92FB-8032-7C9C5AD4B90F}"/>
              </a:ext>
            </a:extLst>
          </p:cNvPr>
          <p:cNvPicPr>
            <a:picLocks noChangeAspect="1"/>
          </p:cNvPicPr>
          <p:nvPr/>
        </p:nvPicPr>
        <p:blipFill>
          <a:blip r:embed="rId6"/>
          <a:stretch>
            <a:fillRect/>
          </a:stretch>
        </p:blipFill>
        <p:spPr>
          <a:xfrm>
            <a:off x="2893107" y="4508002"/>
            <a:ext cx="5243221" cy="460220"/>
          </a:xfrm>
          <a:prstGeom prst="rect">
            <a:avLst/>
          </a:prstGeom>
        </p:spPr>
      </p:pic>
      <p:sp>
        <p:nvSpPr>
          <p:cNvPr id="16" name="文本框 15">
            <a:extLst>
              <a:ext uri="{FF2B5EF4-FFF2-40B4-BE49-F238E27FC236}">
                <a16:creationId xmlns:a16="http://schemas.microsoft.com/office/drawing/2014/main" id="{0DFFA529-8608-14C6-5108-BD3A6BD4D073}"/>
              </a:ext>
            </a:extLst>
          </p:cNvPr>
          <p:cNvSpPr txBox="1"/>
          <p:nvPr/>
        </p:nvSpPr>
        <p:spPr>
          <a:xfrm>
            <a:off x="392209" y="2265231"/>
            <a:ext cx="6094990" cy="338554"/>
          </a:xfrm>
          <a:prstGeom prst="rect">
            <a:avLst/>
          </a:prstGeom>
          <a:noFill/>
        </p:spPr>
        <p:txBody>
          <a:bodyPr wrap="square">
            <a:spAutoFit/>
          </a:bodyPr>
          <a:lstStyle/>
          <a:p>
            <a:r>
              <a:rPr lang="zh-CN" altLang="zh-CN" sz="1600" dirty="0">
                <a:solidFill>
                  <a:srgbClr val="000000"/>
                </a:solidFill>
                <a:effectLst/>
                <a:ea typeface="宋体" panose="02010600030101010101" pitchFamily="2" charset="-122"/>
                <a:cs typeface="Times New Roman" panose="02020603050405020304" pitchFamily="18" charset="0"/>
              </a:rPr>
              <a:t>基于</a:t>
            </a:r>
            <a:r>
              <a:rPr lang="en-US" altLang="zh-CN" sz="1600" dirty="0">
                <a:solidFill>
                  <a:srgbClr val="000000"/>
                </a:solidFill>
                <a:effectLst/>
                <a:ea typeface="宋体" panose="02010600030101010101" pitchFamily="2" charset="-122"/>
                <a:cs typeface="Times New Roman" panose="02020603050405020304" pitchFamily="18" charset="0"/>
              </a:rPr>
              <a:t>LLM</a:t>
            </a:r>
            <a:r>
              <a:rPr lang="zh-CN" altLang="zh-CN" sz="1600" dirty="0">
                <a:solidFill>
                  <a:srgbClr val="000000"/>
                </a:solidFill>
                <a:effectLst/>
                <a:ea typeface="宋体" panose="02010600030101010101" pitchFamily="2" charset="-122"/>
                <a:cs typeface="Times New Roman" panose="02020603050405020304" pitchFamily="18" charset="0"/>
              </a:rPr>
              <a:t>衡量政策风格（类比到我们是政策语调）</a:t>
            </a:r>
            <a:endParaRPr lang="zh-CN" altLang="en-US" sz="1600" dirty="0"/>
          </a:p>
        </p:txBody>
      </p:sp>
    </p:spTree>
    <p:extLst>
      <p:ext uri="{BB962C8B-B14F-4D97-AF65-F5344CB8AC3E}">
        <p14:creationId xmlns:p14="http://schemas.microsoft.com/office/powerpoint/2010/main" val="3586614788"/>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6C40D3CC-77A7-4EF7-B123-60B81ACA3DB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B003DBEA-DCA9-4367-9C7D-276E86308A89}"/>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02</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0596444F-0E55-45FB-ADDC-7CB49F17B057}"/>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6600" dirty="0"/>
              <a:t>模型</a:t>
            </a:r>
            <a:endPar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a:extLst>
              <a:ext uri="{FF2B5EF4-FFF2-40B4-BE49-F238E27FC236}">
                <a16:creationId xmlns:a16="http://schemas.microsoft.com/office/drawing/2014/main" id="{2803D4B4-1DA9-48D5-9DA1-22E2C28CE9E8}"/>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06200922-3CF6-4931-BC88-44D4B19E806C}"/>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D15F4C6-AC88-41C4-9097-B10E7060E768}"/>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1B02D87A-F649-476F-8BC8-FB6C4075F1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FE902F3-E032-4929-AF5F-9660584777C6}"/>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81F4CA57-0574-43E4-8476-CA9509AA416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32FBF787-E511-4917-B553-A562828617B2}"/>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238EB420-7087-463D-907F-0BDF70FC2E4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5FC3661D-9232-451A-BFEE-4549D7DF0858}"/>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6426CA03-B54C-4E11-BBD3-920EB24A6C2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1C55E38C-6740-4923-ACEF-D98A0947DF6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EA1DC3D-6BB9-4E11-A0FD-ECC673B2344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2049608393"/>
      </p:ext>
    </p:extLst>
  </p:cSld>
  <p:clrMapOvr>
    <a:masterClrMapping/>
  </p:clrMapOvr>
  <mc:AlternateContent xmlns:mc="http://schemas.openxmlformats.org/markup-compatibility/2006" xmlns:p14="http://schemas.microsoft.com/office/powerpoint/2010/main">
    <mc:Choice Requires="p14">
      <p:transition spd="slow" p14:dur="2000" advTm="786"/>
    </mc:Choice>
    <mc:Fallback xmlns="">
      <p:transition spd="slow" advTm="78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33146-D13F-A495-D197-91F3AA8F7CC9}"/>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26D4D1E7-43B8-E801-BA45-1D1E2CAB7471}"/>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B90B0B93-AC3E-3E77-8D48-CCF31CCBE0B9}"/>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274CCD9-CF68-0306-0A91-8C649483023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97CDA2B8-DABF-0CB2-DFCD-D2780D376102}"/>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C798A9AC-55CF-1978-FD89-2856F77AE44B}"/>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时间虚拟变量和被解释变量的概览</a:t>
            </a:r>
            <a:endParaRPr lang="zh-CN" altLang="zh-CN" sz="2400" dirty="0"/>
          </a:p>
        </p:txBody>
      </p:sp>
      <p:grpSp>
        <p:nvGrpSpPr>
          <p:cNvPr id="43" name="组合 42">
            <a:extLst>
              <a:ext uri="{FF2B5EF4-FFF2-40B4-BE49-F238E27FC236}">
                <a16:creationId xmlns:a16="http://schemas.microsoft.com/office/drawing/2014/main" id="{944247A8-EC97-A11A-3124-B33C40C25F4B}"/>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90B0A4C2-3433-D35F-57E9-A46991CEECD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84CA33BD-30D8-0222-479B-AA6C65621EC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523783F8-7365-D7D3-F9E8-B53FB778E240}"/>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0D8C2B75-C310-229F-6413-C5B13FB7CE94}"/>
              </a:ext>
            </a:extLst>
          </p:cNvPr>
          <p:cNvSpPr/>
          <p:nvPr/>
        </p:nvSpPr>
        <p:spPr>
          <a:xfrm>
            <a:off x="4953550" y="2743266"/>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pic>
        <p:nvPicPr>
          <p:cNvPr id="2" name="图片 1">
            <a:extLst>
              <a:ext uri="{FF2B5EF4-FFF2-40B4-BE49-F238E27FC236}">
                <a16:creationId xmlns:a16="http://schemas.microsoft.com/office/drawing/2014/main" id="{860C0AE5-DC93-1726-4D32-460350C3DAD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069110" y="877810"/>
            <a:ext cx="7329225" cy="5863557"/>
          </a:xfrm>
          <a:prstGeom prst="rect">
            <a:avLst/>
          </a:prstGeom>
          <a:noFill/>
          <a:ln>
            <a:noFill/>
          </a:ln>
        </p:spPr>
      </p:pic>
    </p:spTree>
    <p:extLst>
      <p:ext uri="{BB962C8B-B14F-4D97-AF65-F5344CB8AC3E}">
        <p14:creationId xmlns:p14="http://schemas.microsoft.com/office/powerpoint/2010/main" val="3048965716"/>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A9CB9-80A2-84B4-CB21-A0B23AEDF7A0}"/>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652F62F1-486E-46E7-602C-A736CAF604DA}"/>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E8BAA7A2-EC07-608E-C7B3-FC710B364FE4}"/>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805F7A6E-CBE7-2DBA-AF24-2504D322A5E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8EC3E84D-48C5-F92F-5BF9-AA983A6461D9}"/>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A28F63D4-5015-0213-CA6C-7D6920099D1E}"/>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数据说明</a:t>
            </a:r>
            <a:endParaRPr lang="zh-CN" altLang="zh-CN" sz="2400" dirty="0"/>
          </a:p>
        </p:txBody>
      </p:sp>
      <p:grpSp>
        <p:nvGrpSpPr>
          <p:cNvPr id="43" name="组合 42">
            <a:extLst>
              <a:ext uri="{FF2B5EF4-FFF2-40B4-BE49-F238E27FC236}">
                <a16:creationId xmlns:a16="http://schemas.microsoft.com/office/drawing/2014/main" id="{F7B4AE3A-76DB-7FBB-74FC-520ECDA7A3BF}"/>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A80E4E8E-E890-6A3E-4B00-ACF4CDF78A1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2F56A93-CA7B-13B2-5931-D3DC1432596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2CF57014-F7C3-504E-79F8-A3ECF368E236}"/>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85D5B90E-5CC2-3E3A-0827-3BFFCB076DEA}"/>
              </a:ext>
            </a:extLst>
          </p:cNvPr>
          <p:cNvSpPr/>
          <p:nvPr/>
        </p:nvSpPr>
        <p:spPr>
          <a:xfrm>
            <a:off x="4953550" y="2743266"/>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54F9E0EC-FAD7-8269-A193-B479EE809168}"/>
              </a:ext>
            </a:extLst>
          </p:cNvPr>
          <p:cNvSpPr txBox="1"/>
          <p:nvPr/>
        </p:nvSpPr>
        <p:spPr>
          <a:xfrm>
            <a:off x="480497" y="1120676"/>
            <a:ext cx="10673971" cy="2308324"/>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实验</a:t>
            </a:r>
            <a:r>
              <a:rPr lang="en-US" altLang="zh-CN" b="1"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2017-2023</a:t>
            </a:r>
            <a:r>
              <a:rPr lang="zh-CN" altLang="en-US" dirty="0">
                <a:latin typeface="微软雅黑" panose="020B0503020204020204" pitchFamily="34" charset="-122"/>
                <a:ea typeface="微软雅黑" panose="020B0503020204020204" pitchFamily="34" charset="-122"/>
              </a:rPr>
              <a:t>年的年份数据，</a:t>
            </a:r>
            <a:r>
              <a:rPr lang="en-US" altLang="zh-CN" dirty="0">
                <a:latin typeface="微软雅黑" panose="020B0503020204020204" pitchFamily="34" charset="-122"/>
                <a:ea typeface="微软雅黑" panose="020B0503020204020204" pitchFamily="34" charset="-122"/>
              </a:rPr>
              <a:t>2022</a:t>
            </a:r>
            <a:r>
              <a:rPr lang="zh-CN" altLang="en-US" dirty="0">
                <a:latin typeface="微软雅黑" panose="020B0503020204020204" pitchFamily="34" charset="-122"/>
                <a:ea typeface="微软雅黑" panose="020B0503020204020204" pitchFamily="34" charset="-122"/>
              </a:rPr>
              <a:t>年为第</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期，</a:t>
            </a:r>
            <a:r>
              <a:rPr lang="en-US" altLang="zh-CN" dirty="0">
                <a:latin typeface="微软雅黑" panose="020B0503020204020204" pitchFamily="34" charset="-122"/>
                <a:ea typeface="微软雅黑" panose="020B0503020204020204" pitchFamily="34" charset="-122"/>
              </a:rPr>
              <a:t>240</a:t>
            </a:r>
            <a:r>
              <a:rPr lang="zh-CN" altLang="en-US" dirty="0">
                <a:latin typeface="微软雅黑" panose="020B0503020204020204" pitchFamily="34" charset="-122"/>
                <a:ea typeface="微软雅黑" panose="020B0503020204020204" pitchFamily="34" charset="-122"/>
              </a:rPr>
              <a:t>条（</a:t>
            </a:r>
            <a:r>
              <a:rPr lang="en-US" altLang="zh-CN" dirty="0">
                <a:latin typeface="微软雅黑" panose="020B0503020204020204" pitchFamily="34" charset="-122"/>
                <a:ea typeface="微软雅黑" panose="020B0503020204020204" pitchFamily="34" charset="-122"/>
              </a:rPr>
              <a:t>30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pic>
        <p:nvPicPr>
          <p:cNvPr id="70" name="图片 69">
            <a:extLst>
              <a:ext uri="{FF2B5EF4-FFF2-40B4-BE49-F238E27FC236}">
                <a16:creationId xmlns:a16="http://schemas.microsoft.com/office/drawing/2014/main" id="{BDCD6B3D-9B9B-E4D1-B126-AD8CDE3212CA}"/>
              </a:ext>
            </a:extLst>
          </p:cNvPr>
          <p:cNvPicPr>
            <a:picLocks noChangeAspect="1"/>
          </p:cNvPicPr>
          <p:nvPr/>
        </p:nvPicPr>
        <p:blipFill>
          <a:blip r:embed="rId5"/>
          <a:stretch>
            <a:fillRect/>
          </a:stretch>
        </p:blipFill>
        <p:spPr>
          <a:xfrm>
            <a:off x="5970026" y="2167092"/>
            <a:ext cx="5949097" cy="3322564"/>
          </a:xfrm>
          <a:prstGeom prst="rect">
            <a:avLst/>
          </a:prstGeom>
        </p:spPr>
      </p:pic>
      <p:pic>
        <p:nvPicPr>
          <p:cNvPr id="72" name="图片 71">
            <a:extLst>
              <a:ext uri="{FF2B5EF4-FFF2-40B4-BE49-F238E27FC236}">
                <a16:creationId xmlns:a16="http://schemas.microsoft.com/office/drawing/2014/main" id="{725B3E5B-63A0-4566-DE20-318C856AF1B7}"/>
              </a:ext>
            </a:extLst>
          </p:cNvPr>
          <p:cNvPicPr>
            <a:picLocks noChangeAspect="1"/>
          </p:cNvPicPr>
          <p:nvPr/>
        </p:nvPicPr>
        <p:blipFill>
          <a:blip r:embed="rId6"/>
          <a:stretch>
            <a:fillRect/>
          </a:stretch>
        </p:blipFill>
        <p:spPr>
          <a:xfrm>
            <a:off x="480497" y="3009104"/>
            <a:ext cx="5113463" cy="1874682"/>
          </a:xfrm>
          <a:prstGeom prst="rect">
            <a:avLst/>
          </a:prstGeom>
        </p:spPr>
      </p:pic>
    </p:spTree>
    <p:extLst>
      <p:ext uri="{BB962C8B-B14F-4D97-AF65-F5344CB8AC3E}">
        <p14:creationId xmlns:p14="http://schemas.microsoft.com/office/powerpoint/2010/main" val="369353302"/>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E73B-BC40-A35F-B6D3-9BF2C075B04B}"/>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0AB413E0-3966-A7ED-B1CB-B79A8430D1FC}"/>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0CDA30D2-90CA-CCB1-6BDE-A2CBE713A3A2}"/>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F644C738-752A-165E-5C2C-7D234429E444}"/>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33547EE4-CACE-D95D-B4EF-2B7D4D20ADE1}"/>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D196633B-22CB-A4D1-2482-BDA876DC602C}"/>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数据说明</a:t>
            </a:r>
            <a:endParaRPr lang="zh-CN" altLang="zh-CN" sz="2400" dirty="0"/>
          </a:p>
        </p:txBody>
      </p:sp>
      <p:grpSp>
        <p:nvGrpSpPr>
          <p:cNvPr id="43" name="组合 42">
            <a:extLst>
              <a:ext uri="{FF2B5EF4-FFF2-40B4-BE49-F238E27FC236}">
                <a16:creationId xmlns:a16="http://schemas.microsoft.com/office/drawing/2014/main" id="{B8609627-9148-DE8F-9E6C-2C42CAF24156}"/>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BDE0898B-AB42-5C76-FE5C-0DBF88969E0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BC4C83A3-0905-9F8C-AD9C-6CF8F44CA1F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3D06571F-6DDD-E28E-EF2D-F276D41F9EC9}"/>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B22DADFB-C80C-C143-703A-B20E466DA651}"/>
              </a:ext>
            </a:extLst>
          </p:cNvPr>
          <p:cNvSpPr/>
          <p:nvPr/>
        </p:nvSpPr>
        <p:spPr>
          <a:xfrm>
            <a:off x="4953550" y="2743266"/>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1CA262FB-E16E-4F43-12D8-ECE2AA718CF9}"/>
              </a:ext>
            </a:extLst>
          </p:cNvPr>
          <p:cNvSpPr txBox="1"/>
          <p:nvPr/>
        </p:nvSpPr>
        <p:spPr>
          <a:xfrm>
            <a:off x="480497" y="1120676"/>
            <a:ext cx="10673971" cy="3416320"/>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实验</a:t>
            </a:r>
            <a:r>
              <a:rPr lang="en-US" altLang="zh-CN" b="1"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p>
          <a:p>
            <a:r>
              <a:rPr lang="zh-CN" altLang="zh-CN" dirty="0"/>
              <a:t>采用了</a:t>
            </a:r>
            <a:r>
              <a:rPr lang="en-US" altLang="zh-CN" dirty="0"/>
              <a:t>EDGAR</a:t>
            </a:r>
            <a:r>
              <a:rPr lang="zh-CN" altLang="zh-CN" dirty="0"/>
              <a:t>提供的二氧化碳排放量月度数据，因此可以将政策发布时间精确到月份，同时碳排放数据可以进一步拆分到电力行业碳排放、工业过程碳排放等八个具体的碳排放数据。此时，地方政策发布时间会出现交错情况，双向固定效应模型可能会存在偏误，因此采用</a:t>
            </a:r>
            <a:r>
              <a:rPr lang="en-US" altLang="zh-CN" dirty="0"/>
              <a:t>Callaway and Sant‘Anna (2021)</a:t>
            </a:r>
            <a:r>
              <a:rPr lang="zh-CN" altLang="zh-CN" dirty="0"/>
              <a:t>的模型设置进行估计。</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70EEDC27-C005-7645-C802-42BEF66B14AD}"/>
              </a:ext>
            </a:extLst>
          </p:cNvPr>
          <p:cNvGraphicFramePr>
            <a:graphicFrameLocks noGrp="1"/>
          </p:cNvGraphicFramePr>
          <p:nvPr>
            <p:extLst>
              <p:ext uri="{D42A27DB-BD31-4B8C-83A1-F6EECF244321}">
                <p14:modId xmlns:p14="http://schemas.microsoft.com/office/powerpoint/2010/main" val="4231872754"/>
              </p:ext>
            </p:extLst>
          </p:nvPr>
        </p:nvGraphicFramePr>
        <p:xfrm>
          <a:off x="291497" y="3293970"/>
          <a:ext cx="11488795" cy="2554055"/>
        </p:xfrm>
        <a:graphic>
          <a:graphicData uri="http://schemas.openxmlformats.org/drawingml/2006/table">
            <a:tbl>
              <a:tblPr>
                <a:tableStyleId>{5C22544A-7EE6-4342-B048-85BDC9FD1C3A}</a:tableStyleId>
              </a:tblPr>
              <a:tblGrid>
                <a:gridCol w="426168">
                  <a:extLst>
                    <a:ext uri="{9D8B030D-6E8A-4147-A177-3AD203B41FA5}">
                      <a16:colId xmlns:a16="http://schemas.microsoft.com/office/drawing/2014/main" val="1486265267"/>
                    </a:ext>
                  </a:extLst>
                </a:gridCol>
                <a:gridCol w="426168">
                  <a:extLst>
                    <a:ext uri="{9D8B030D-6E8A-4147-A177-3AD203B41FA5}">
                      <a16:colId xmlns:a16="http://schemas.microsoft.com/office/drawing/2014/main" val="892907122"/>
                    </a:ext>
                  </a:extLst>
                </a:gridCol>
                <a:gridCol w="426168">
                  <a:extLst>
                    <a:ext uri="{9D8B030D-6E8A-4147-A177-3AD203B41FA5}">
                      <a16:colId xmlns:a16="http://schemas.microsoft.com/office/drawing/2014/main" val="1374084873"/>
                    </a:ext>
                  </a:extLst>
                </a:gridCol>
                <a:gridCol w="426168">
                  <a:extLst>
                    <a:ext uri="{9D8B030D-6E8A-4147-A177-3AD203B41FA5}">
                      <a16:colId xmlns:a16="http://schemas.microsoft.com/office/drawing/2014/main" val="227298440"/>
                    </a:ext>
                  </a:extLst>
                </a:gridCol>
                <a:gridCol w="772431">
                  <a:extLst>
                    <a:ext uri="{9D8B030D-6E8A-4147-A177-3AD203B41FA5}">
                      <a16:colId xmlns:a16="http://schemas.microsoft.com/office/drawing/2014/main" val="4067105656"/>
                    </a:ext>
                  </a:extLst>
                </a:gridCol>
                <a:gridCol w="426168">
                  <a:extLst>
                    <a:ext uri="{9D8B030D-6E8A-4147-A177-3AD203B41FA5}">
                      <a16:colId xmlns:a16="http://schemas.microsoft.com/office/drawing/2014/main" val="1042324102"/>
                    </a:ext>
                  </a:extLst>
                </a:gridCol>
                <a:gridCol w="736916">
                  <a:extLst>
                    <a:ext uri="{9D8B030D-6E8A-4147-A177-3AD203B41FA5}">
                      <a16:colId xmlns:a16="http://schemas.microsoft.com/office/drawing/2014/main" val="1372163221"/>
                    </a:ext>
                  </a:extLst>
                </a:gridCol>
                <a:gridCol w="736916">
                  <a:extLst>
                    <a:ext uri="{9D8B030D-6E8A-4147-A177-3AD203B41FA5}">
                      <a16:colId xmlns:a16="http://schemas.microsoft.com/office/drawing/2014/main" val="3595841356"/>
                    </a:ext>
                  </a:extLst>
                </a:gridCol>
                <a:gridCol w="736916">
                  <a:extLst>
                    <a:ext uri="{9D8B030D-6E8A-4147-A177-3AD203B41FA5}">
                      <a16:colId xmlns:a16="http://schemas.microsoft.com/office/drawing/2014/main" val="103762267"/>
                    </a:ext>
                  </a:extLst>
                </a:gridCol>
                <a:gridCol w="736916">
                  <a:extLst>
                    <a:ext uri="{9D8B030D-6E8A-4147-A177-3AD203B41FA5}">
                      <a16:colId xmlns:a16="http://schemas.microsoft.com/office/drawing/2014/main" val="4192718815"/>
                    </a:ext>
                  </a:extLst>
                </a:gridCol>
                <a:gridCol w="736916">
                  <a:extLst>
                    <a:ext uri="{9D8B030D-6E8A-4147-A177-3AD203B41FA5}">
                      <a16:colId xmlns:a16="http://schemas.microsoft.com/office/drawing/2014/main" val="1133234792"/>
                    </a:ext>
                  </a:extLst>
                </a:gridCol>
                <a:gridCol w="612618">
                  <a:extLst>
                    <a:ext uri="{9D8B030D-6E8A-4147-A177-3AD203B41FA5}">
                      <a16:colId xmlns:a16="http://schemas.microsoft.com/office/drawing/2014/main" val="2263296508"/>
                    </a:ext>
                  </a:extLst>
                </a:gridCol>
                <a:gridCol w="612618">
                  <a:extLst>
                    <a:ext uri="{9D8B030D-6E8A-4147-A177-3AD203B41FA5}">
                      <a16:colId xmlns:a16="http://schemas.microsoft.com/office/drawing/2014/main" val="4260789246"/>
                    </a:ext>
                  </a:extLst>
                </a:gridCol>
                <a:gridCol w="612618">
                  <a:extLst>
                    <a:ext uri="{9D8B030D-6E8A-4147-A177-3AD203B41FA5}">
                      <a16:colId xmlns:a16="http://schemas.microsoft.com/office/drawing/2014/main" val="1603112802"/>
                    </a:ext>
                  </a:extLst>
                </a:gridCol>
                <a:gridCol w="612618">
                  <a:extLst>
                    <a:ext uri="{9D8B030D-6E8A-4147-A177-3AD203B41FA5}">
                      <a16:colId xmlns:a16="http://schemas.microsoft.com/office/drawing/2014/main" val="1459778198"/>
                    </a:ext>
                  </a:extLst>
                </a:gridCol>
                <a:gridCol w="612618">
                  <a:extLst>
                    <a:ext uri="{9D8B030D-6E8A-4147-A177-3AD203B41FA5}">
                      <a16:colId xmlns:a16="http://schemas.microsoft.com/office/drawing/2014/main" val="583896387"/>
                    </a:ext>
                  </a:extLst>
                </a:gridCol>
                <a:gridCol w="612618">
                  <a:extLst>
                    <a:ext uri="{9D8B030D-6E8A-4147-A177-3AD203B41FA5}">
                      <a16:colId xmlns:a16="http://schemas.microsoft.com/office/drawing/2014/main" val="3847283328"/>
                    </a:ext>
                  </a:extLst>
                </a:gridCol>
                <a:gridCol w="612618">
                  <a:extLst>
                    <a:ext uri="{9D8B030D-6E8A-4147-A177-3AD203B41FA5}">
                      <a16:colId xmlns:a16="http://schemas.microsoft.com/office/drawing/2014/main" val="2001389341"/>
                    </a:ext>
                  </a:extLst>
                </a:gridCol>
                <a:gridCol w="612618">
                  <a:extLst>
                    <a:ext uri="{9D8B030D-6E8A-4147-A177-3AD203B41FA5}">
                      <a16:colId xmlns:a16="http://schemas.microsoft.com/office/drawing/2014/main" val="3251806053"/>
                    </a:ext>
                  </a:extLst>
                </a:gridCol>
              </a:tblGrid>
              <a:tr h="204323">
                <a:tc>
                  <a:txBody>
                    <a:bodyPr/>
                    <a:lstStyle/>
                    <a:p>
                      <a:pPr algn="ctr" fontAlgn="t">
                        <a:buNone/>
                      </a:pPr>
                      <a:r>
                        <a:rPr lang="en-US" sz="700" u="none" strike="noStrike">
                          <a:effectLst/>
                        </a:rPr>
                        <a:t>id</a:t>
                      </a:r>
                      <a:endParaRPr 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en-US" sz="700" u="none" strike="noStrike">
                          <a:effectLst/>
                        </a:rPr>
                        <a:t>name</a:t>
                      </a:r>
                      <a:endParaRPr 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zh-CN" altLang="en-US" sz="700" u="none" strike="noStrike">
                          <a:effectLst/>
                        </a:rPr>
                        <a:t>指标</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zh-CN" altLang="en-US" sz="700" u="none" strike="noStrike">
                          <a:effectLst/>
                        </a:rPr>
                        <a:t>时间</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zh-CN" altLang="en-US" sz="700" u="none" strike="noStrike">
                          <a:effectLst/>
                        </a:rPr>
                        <a:t>年度</a:t>
                      </a:r>
                      <a:r>
                        <a:rPr lang="en-US" sz="700" u="none" strike="noStrike">
                          <a:effectLst/>
                        </a:rPr>
                        <a:t>GDP(</a:t>
                      </a:r>
                      <a:r>
                        <a:rPr lang="zh-CN" altLang="en-US" sz="700" u="none" strike="noStrike">
                          <a:effectLst/>
                        </a:rPr>
                        <a:t>亿元</a:t>
                      </a:r>
                      <a:r>
                        <a:rPr lang="en-US" altLang="zh-CN" sz="700" u="none" strike="noStrike">
                          <a:effectLst/>
                        </a:rPr>
                        <a:t>)</a:t>
                      </a:r>
                      <a:endParaRPr lang="en-US" altLang="zh-CN" sz="700" b="1" i="0" u="none" strike="noStrike">
                        <a:solidFill>
                          <a:srgbClr val="000000"/>
                        </a:solidFill>
                        <a:effectLst/>
                        <a:latin typeface="等线" panose="02010600030101010101" pitchFamily="2" charset="-122"/>
                        <a:ea typeface="等线" panose="02010600030101010101" pitchFamily="2" charset="-122"/>
                      </a:endParaRPr>
                    </a:p>
                  </a:txBody>
                  <a:tcPr marL="0" marR="0" marT="0" marB="0"/>
                </a:tc>
                <a:tc>
                  <a:txBody>
                    <a:bodyPr/>
                    <a:lstStyle/>
                    <a:p>
                      <a:pPr algn="ctr" fontAlgn="t">
                        <a:buNone/>
                      </a:pPr>
                      <a:r>
                        <a:rPr lang="en-US" sz="700" u="none" strike="noStrike">
                          <a:effectLst/>
                        </a:rPr>
                        <a:t>month</a:t>
                      </a:r>
                      <a:endParaRPr 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en-US" sz="700" u="none" strike="noStrike">
                          <a:effectLst/>
                        </a:rPr>
                        <a:t>policy_month</a:t>
                      </a:r>
                      <a:endParaRPr 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en-US" sz="700" u="none" strike="noStrike">
                          <a:effectLst/>
                        </a:rPr>
                        <a:t>real_time</a:t>
                      </a:r>
                      <a:endParaRPr 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en-US" sz="700" u="none" strike="noStrike">
                          <a:effectLst/>
                        </a:rPr>
                        <a:t>treated</a:t>
                      </a:r>
                      <a:endParaRPr 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en-US" sz="700" u="none" strike="noStrike">
                          <a:effectLst/>
                        </a:rPr>
                        <a:t>degree</a:t>
                      </a:r>
                      <a:endParaRPr 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en-US" sz="700" u="none" strike="noStrike">
                          <a:effectLst/>
                        </a:rPr>
                        <a:t>target</a:t>
                      </a:r>
                      <a:endParaRPr 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zh-CN" altLang="en-US" sz="700" u="none" strike="noStrike">
                          <a:effectLst/>
                        </a:rPr>
                        <a:t>电力行业</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zh-CN" altLang="en-US" sz="700" u="none" strike="noStrike">
                          <a:effectLst/>
                        </a:rPr>
                        <a:t>工业过程</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zh-CN" altLang="en-US" sz="700" u="none" strike="noStrike">
                          <a:effectLst/>
                        </a:rPr>
                        <a:t>建筑物能源</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zh-CN" altLang="en-US" sz="700" u="none" strike="noStrike">
                          <a:effectLst/>
                        </a:rPr>
                        <a:t>工业燃烧</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zh-CN" altLang="en-US" sz="700" u="none" strike="noStrike">
                          <a:effectLst/>
                        </a:rPr>
                        <a:t>浪费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zh-CN" altLang="en-US" sz="700" u="none" strike="noStrike">
                          <a:effectLst/>
                        </a:rPr>
                        <a:t>农业</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zh-CN" altLang="en-US" sz="700" u="none" strike="noStrike">
                          <a:effectLst/>
                        </a:rPr>
                        <a:t>燃烧能源</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tc>
                  <a:txBody>
                    <a:bodyPr/>
                    <a:lstStyle/>
                    <a:p>
                      <a:pPr algn="ctr" fontAlgn="t">
                        <a:buNone/>
                      </a:pPr>
                      <a:r>
                        <a:rPr lang="zh-CN" altLang="en-US" sz="700" u="none" strike="noStrike">
                          <a:effectLst/>
                        </a:rPr>
                        <a:t>运输</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0" marR="0" marT="0" marB="0"/>
                </a:tc>
                <a:extLst>
                  <a:ext uri="{0D108BD9-81ED-4DB2-BD59-A6C34878D82A}">
                    <a16:rowId xmlns:a16="http://schemas.microsoft.com/office/drawing/2014/main" val="1903685024"/>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202106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40269.55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1275541.625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326658.3438</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865223.1875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1176305.125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6471.155762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2424.571045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1407274.5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1586201.375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3203696854"/>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202107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40269.55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a:effectLst/>
                        </a:rPr>
                        <a:t>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1385489.75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314786.25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865223.1875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1126891.375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6471.155762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1425.59375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1422639.875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1555106.125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2980000818"/>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202108</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40269.55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dirty="0">
                          <a:effectLst/>
                        </a:rPr>
                        <a:t>3</a:t>
                      </a:r>
                      <a:endParaRPr lang="en-US" altLang="zh-CN" sz="700" b="0" i="0" u="none" strike="noStrike" dirty="0">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1384950.875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306504.1875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865223.1875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1091870.875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6471.155762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2001.81543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1370016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1570746.25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2720807598"/>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202109</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40269.55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a:effectLst/>
                        </a:rPr>
                        <a:t>4</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1316323.125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319174.0625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865223.1875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1142073.625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6471.155762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5604.890137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1355009.125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1597657.625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29360545"/>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202110</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40269.55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a:effectLst/>
                        </a:rPr>
                        <a:t>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1491665.25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327684.2188</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865223.1875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1179708.25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6471.155762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7730.250488</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1427974.125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1652056.75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1446442386"/>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202111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40269.55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a:effectLst/>
                        </a:rPr>
                        <a:t>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1575922.75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325443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865223.1875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1178561.625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6471.155762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5101.058105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1415959.75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1631832.375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1197878395"/>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202112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40269.55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a:effectLst/>
                        </a:rPr>
                        <a:t>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-10</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1924810.375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327826.6563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865638.5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1190919.25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6474.262207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2405.749756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1415991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1574408.75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1306458825"/>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202201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41610.9</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a:effectLst/>
                        </a:rPr>
                        <a:t>8</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-9</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1346399.125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315002.4688</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863217.125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1140098</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6618.644043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1229.261108</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1467302.875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1446824.875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1642377208"/>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202202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41610.9</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a:effectLst/>
                        </a:rPr>
                        <a:t>9</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1339727.5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308853.2188</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863217.125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1119811.75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6618.644043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1735.85791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1411115.875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1466517.875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3540356036"/>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202203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41610.9</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a:effectLst/>
                        </a:rPr>
                        <a:t>10</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1524007.625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320405.5625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863217.125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1160790.5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6618.644043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4951.046875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1391791.75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1498064.125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1474903123"/>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202204</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41610.9</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1378494.875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326245.75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863217.125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1174916.375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6618.644043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6824.637207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1463573.5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1550299.25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2258966496"/>
                  </a:ext>
                </a:extLst>
              </a:tr>
              <a:tr h="195811">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zh-CN" altLang="en-US" sz="700" u="none" strike="noStrike">
                          <a:effectLst/>
                        </a:rPr>
                        <a:t>北京市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sz="700" u="none" strike="noStrike">
                          <a:effectLst/>
                        </a:rPr>
                        <a:t>sum</a:t>
                      </a:r>
                      <a:endParaRPr lang="en-US"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l" fontAlgn="b">
                        <a:buNone/>
                      </a:pPr>
                      <a:r>
                        <a:rPr lang="en-US" altLang="zh-CN" sz="700" u="none" strike="noStrike">
                          <a:effectLst/>
                        </a:rPr>
                        <a:t>202205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ctr" fontAlgn="ctr">
                        <a:buNone/>
                      </a:pPr>
                      <a:r>
                        <a:rPr lang="en-US" altLang="zh-CN" sz="700" u="none" strike="noStrike">
                          <a:effectLst/>
                        </a:rPr>
                        <a:t>41610.9</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ctr"/>
                </a:tc>
                <a:tc>
                  <a:txBody>
                    <a:bodyPr/>
                    <a:lstStyle/>
                    <a:p>
                      <a:pPr algn="r" fontAlgn="b">
                        <a:buNone/>
                      </a:pPr>
                      <a:r>
                        <a:rPr lang="en-US" altLang="zh-CN" sz="700" u="none" strike="noStrike">
                          <a:effectLst/>
                        </a:rPr>
                        <a:t>12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0.491202346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1369479.25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322630.1563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863217.125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1159884.875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6618.644043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4493.086914</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a:effectLst/>
                        </a:rPr>
                        <a:t>1445636.25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tc>
                  <a:txBody>
                    <a:bodyPr/>
                    <a:lstStyle/>
                    <a:p>
                      <a:pPr algn="r" fontAlgn="b">
                        <a:buNone/>
                      </a:pPr>
                      <a:r>
                        <a:rPr lang="en-US" altLang="zh-CN" sz="700" u="none" strike="noStrike" dirty="0">
                          <a:effectLst/>
                        </a:rPr>
                        <a:t>1538695.875</a:t>
                      </a:r>
                      <a:endParaRPr lang="en-US" altLang="zh-CN" sz="700" b="0" i="0" u="none" strike="noStrike" dirty="0">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1336999810"/>
                  </a:ext>
                </a:extLst>
              </a:tr>
            </a:tbl>
          </a:graphicData>
        </a:graphic>
      </p:graphicFrame>
    </p:spTree>
    <p:extLst>
      <p:ext uri="{BB962C8B-B14F-4D97-AF65-F5344CB8AC3E}">
        <p14:creationId xmlns:p14="http://schemas.microsoft.com/office/powerpoint/2010/main" val="1587720850"/>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46855-510D-2279-1E5D-2E8A91751263}"/>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EFA09ABE-E6E3-80B7-6F75-8624D41517CF}"/>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9BFA152C-5B63-D73F-A0E2-7287FF10EEFD}"/>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C8A304DC-8613-C365-1689-5EB80BB3AD6C}"/>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00EAFF23-474B-8F79-E481-DC47ADDE8238}"/>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EF97130B-ECDE-0B38-4FAC-0E4117273296}"/>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数据说明</a:t>
            </a:r>
            <a:endParaRPr lang="zh-CN" altLang="zh-CN" sz="2400" dirty="0"/>
          </a:p>
        </p:txBody>
      </p:sp>
      <p:grpSp>
        <p:nvGrpSpPr>
          <p:cNvPr id="43" name="组合 42">
            <a:extLst>
              <a:ext uri="{FF2B5EF4-FFF2-40B4-BE49-F238E27FC236}">
                <a16:creationId xmlns:a16="http://schemas.microsoft.com/office/drawing/2014/main" id="{4C5BC131-E5FE-7558-943E-A9A01B98D8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B6688968-42DD-9E0E-8BBC-2AA4D998587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B90902C6-C95E-CA19-928D-E603BAE0E65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2ABC99E1-E52B-3EA3-C116-B35F83652E37}"/>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77E669CF-6F15-E73E-99D2-E5BDF2448DC5}"/>
              </a:ext>
            </a:extLst>
          </p:cNvPr>
          <p:cNvSpPr/>
          <p:nvPr/>
        </p:nvSpPr>
        <p:spPr>
          <a:xfrm>
            <a:off x="4953550" y="2743266"/>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02CA341D-B4A5-2560-9438-FAB234FF57C5}"/>
              </a:ext>
            </a:extLst>
          </p:cNvPr>
          <p:cNvSpPr txBox="1"/>
          <p:nvPr/>
        </p:nvSpPr>
        <p:spPr>
          <a:xfrm>
            <a:off x="480497" y="1120676"/>
            <a:ext cx="10673971" cy="2031325"/>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实验</a:t>
            </a:r>
            <a:r>
              <a:rPr lang="en-US" altLang="zh-CN" b="1"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77447EB4-5C82-7C76-88C0-45133FB15C9B}"/>
              </a:ext>
            </a:extLst>
          </p:cNvPr>
          <p:cNvPicPr>
            <a:picLocks noChangeAspect="1"/>
          </p:cNvPicPr>
          <p:nvPr/>
        </p:nvPicPr>
        <p:blipFill>
          <a:blip r:embed="rId5"/>
          <a:stretch>
            <a:fillRect/>
          </a:stretch>
        </p:blipFill>
        <p:spPr>
          <a:xfrm>
            <a:off x="792020" y="1968171"/>
            <a:ext cx="5303980" cy="1005927"/>
          </a:xfrm>
          <a:prstGeom prst="rect">
            <a:avLst/>
          </a:prstGeom>
        </p:spPr>
      </p:pic>
      <p:pic>
        <p:nvPicPr>
          <p:cNvPr id="12" name="图片 11">
            <a:extLst>
              <a:ext uri="{FF2B5EF4-FFF2-40B4-BE49-F238E27FC236}">
                <a16:creationId xmlns:a16="http://schemas.microsoft.com/office/drawing/2014/main" id="{E5037E8B-AA54-735C-1A17-59F10B7615C7}"/>
              </a:ext>
            </a:extLst>
          </p:cNvPr>
          <p:cNvPicPr>
            <a:picLocks noChangeAspect="1"/>
          </p:cNvPicPr>
          <p:nvPr/>
        </p:nvPicPr>
        <p:blipFill>
          <a:blip r:embed="rId6"/>
          <a:stretch>
            <a:fillRect/>
          </a:stretch>
        </p:blipFill>
        <p:spPr>
          <a:xfrm>
            <a:off x="830124" y="2974098"/>
            <a:ext cx="5265876" cy="662997"/>
          </a:xfrm>
          <a:prstGeom prst="rect">
            <a:avLst/>
          </a:prstGeom>
        </p:spPr>
      </p:pic>
      <p:pic>
        <p:nvPicPr>
          <p:cNvPr id="14" name="图片 13">
            <a:extLst>
              <a:ext uri="{FF2B5EF4-FFF2-40B4-BE49-F238E27FC236}">
                <a16:creationId xmlns:a16="http://schemas.microsoft.com/office/drawing/2014/main" id="{F3A4AC39-BB6C-D1DD-36AC-F1ED93C920C1}"/>
              </a:ext>
            </a:extLst>
          </p:cNvPr>
          <p:cNvPicPr>
            <a:picLocks noChangeAspect="1"/>
          </p:cNvPicPr>
          <p:nvPr/>
        </p:nvPicPr>
        <p:blipFill>
          <a:blip r:embed="rId7"/>
          <a:stretch>
            <a:fillRect/>
          </a:stretch>
        </p:blipFill>
        <p:spPr>
          <a:xfrm>
            <a:off x="830124" y="4157928"/>
            <a:ext cx="6797629" cy="2194750"/>
          </a:xfrm>
          <a:prstGeom prst="rect">
            <a:avLst/>
          </a:prstGeom>
        </p:spPr>
      </p:pic>
    </p:spTree>
    <p:extLst>
      <p:ext uri="{BB962C8B-B14F-4D97-AF65-F5344CB8AC3E}">
        <p14:creationId xmlns:p14="http://schemas.microsoft.com/office/powerpoint/2010/main" val="3197942620"/>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6C40D3CC-77A7-4EF7-B123-60B81ACA3DB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B003DBEA-DCA9-4367-9C7D-276E86308A89}"/>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03</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0596444F-0E55-45FB-ADDC-7CB49F17B057}"/>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6600" dirty="0"/>
              <a:t>结果</a:t>
            </a:r>
            <a:endPar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a:extLst>
              <a:ext uri="{FF2B5EF4-FFF2-40B4-BE49-F238E27FC236}">
                <a16:creationId xmlns:a16="http://schemas.microsoft.com/office/drawing/2014/main" id="{2803D4B4-1DA9-48D5-9DA1-22E2C28CE9E8}"/>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06200922-3CF6-4931-BC88-44D4B19E806C}"/>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D15F4C6-AC88-41C4-9097-B10E7060E768}"/>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1B02D87A-F649-476F-8BC8-FB6C4075F1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FE902F3-E032-4929-AF5F-9660584777C6}"/>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81F4CA57-0574-43E4-8476-CA9509AA416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32FBF787-E511-4917-B553-A562828617B2}"/>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238EB420-7087-463D-907F-0BDF70FC2E4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5FC3661D-9232-451A-BFEE-4549D7DF0858}"/>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6426CA03-B54C-4E11-BBD3-920EB24A6C2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1C55E38C-6740-4923-ACEF-D98A0947DF6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EA1DC3D-6BB9-4E11-A0FD-ECC673B2344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349433937"/>
      </p:ext>
    </p:extLst>
  </p:cSld>
  <p:clrMapOvr>
    <a:masterClrMapping/>
  </p:clrMapOvr>
  <mc:AlternateContent xmlns:mc="http://schemas.openxmlformats.org/markup-compatibility/2006" xmlns:p14="http://schemas.microsoft.com/office/powerpoint/2010/main">
    <mc:Choice Requires="p14">
      <p:transition spd="slow" p14:dur="2000" advTm="737"/>
    </mc:Choice>
    <mc:Fallback xmlns="">
      <p:transition spd="slow" advTm="73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C8535-6BEB-82A7-17A2-DFEEBAE96199}"/>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419FA7B7-5BA6-2687-8510-78283CBE7D51}"/>
              </a:ext>
            </a:extLst>
          </p:cNvPr>
          <p:cNvPicPr>
            <a:picLocks noChangeAspect="1"/>
          </p:cNvPicPr>
          <p:nvPr/>
        </p:nvPicPr>
        <p:blipFill>
          <a:blip r:embed="rId3"/>
          <a:stretch>
            <a:fillRect/>
          </a:stretch>
        </p:blipFill>
        <p:spPr>
          <a:xfrm>
            <a:off x="519832" y="0"/>
            <a:ext cx="3742962" cy="6858000"/>
          </a:xfrm>
          <a:prstGeom prst="rect">
            <a:avLst/>
          </a:prstGeom>
        </p:spPr>
      </p:pic>
      <p:grpSp>
        <p:nvGrpSpPr>
          <p:cNvPr id="4" name="组合 3">
            <a:extLst>
              <a:ext uri="{FF2B5EF4-FFF2-40B4-BE49-F238E27FC236}">
                <a16:creationId xmlns:a16="http://schemas.microsoft.com/office/drawing/2014/main" id="{A41F9763-310F-8017-AC2C-308BBE9F34F3}"/>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08CFF4F8-B842-5CA7-0A64-22BCE412B796}"/>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D506FCA0-00EC-216F-A974-A7A0CA687DB5}"/>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D53F8693-E85B-3A6B-4E31-3FD72D82C6FD}"/>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A4236573-3EEB-4DBD-0E74-E5A6E56A5B4A}"/>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实验</a:t>
            </a:r>
            <a:r>
              <a:rPr lang="en-US" altLang="zh-CN" sz="2400" dirty="0"/>
              <a:t>a</a:t>
            </a:r>
            <a:endParaRPr lang="zh-CN" altLang="zh-CN" sz="2400" dirty="0"/>
          </a:p>
        </p:txBody>
      </p:sp>
      <p:grpSp>
        <p:nvGrpSpPr>
          <p:cNvPr id="43" name="组合 42">
            <a:extLst>
              <a:ext uri="{FF2B5EF4-FFF2-40B4-BE49-F238E27FC236}">
                <a16:creationId xmlns:a16="http://schemas.microsoft.com/office/drawing/2014/main" id="{EAD8E8A4-75B7-FF9F-1A98-5D3879E0BDFB}"/>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9ECB91FF-2BD5-42CD-AEEF-2BCDA0E71B3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BDA24D2B-4FFE-E821-93CD-FF24EC1A340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12CD6CF9-5250-8911-4C98-EE84384D7F94}"/>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23B7542E-881B-5DBC-B216-8BDE4BF30B3D}"/>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1E3FBBAA-C5EE-C10D-7AFE-D42C617A0B28}"/>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a:extLst>
              <a:ext uri="{FF2B5EF4-FFF2-40B4-BE49-F238E27FC236}">
                <a16:creationId xmlns:a16="http://schemas.microsoft.com/office/drawing/2014/main" id="{288B1624-EB9A-6FD7-11C8-E689A70D3DC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60178" y="307349"/>
            <a:ext cx="5274310" cy="3956050"/>
          </a:xfrm>
          <a:prstGeom prst="rect">
            <a:avLst/>
          </a:prstGeom>
          <a:noFill/>
          <a:ln>
            <a:noFill/>
          </a:ln>
        </p:spPr>
      </p:pic>
      <p:sp>
        <p:nvSpPr>
          <p:cNvPr id="12" name="文本框 11">
            <a:extLst>
              <a:ext uri="{FF2B5EF4-FFF2-40B4-BE49-F238E27FC236}">
                <a16:creationId xmlns:a16="http://schemas.microsoft.com/office/drawing/2014/main" id="{B3B98C26-25DB-866E-C701-782F4A245D86}"/>
              </a:ext>
            </a:extLst>
          </p:cNvPr>
          <p:cNvSpPr txBox="1"/>
          <p:nvPr/>
        </p:nvSpPr>
        <p:spPr>
          <a:xfrm>
            <a:off x="4324244" y="4022464"/>
            <a:ext cx="7744625" cy="2677656"/>
          </a:xfrm>
          <a:prstGeom prst="rect">
            <a:avLst/>
          </a:prstGeom>
          <a:noFill/>
        </p:spPr>
        <p:txBody>
          <a:bodyPr wrap="square">
            <a:spAutoFit/>
          </a:bodyPr>
          <a:lstStyle/>
          <a:p>
            <a:pPr algn="just">
              <a:buNone/>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结论：</a:t>
            </a:r>
            <a:endParaRPr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algn="just">
              <a:buNone/>
            </a:pPr>
            <a:b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b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）在表</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的基准回归中，可以发现无论是政策冲击还是语调冲击，均给碳治理指标带来</a:t>
            </a:r>
            <a:r>
              <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rPr>
              <a:t>正向影响</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，即双碳政策发布能有效降低能耗强度和碳排强度、提高非化石能源消费占比；</a:t>
            </a:r>
            <a:r>
              <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rPr>
              <a:t>引入语调后</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，发现政策语调越强，对能耗强度和碳排强度的降低、非化石能源消费占比的提高也越强，这说明了双碳政策不仅得到了有效执行，而且执行力度与政策语调相匹配。</a:t>
            </a:r>
          </a:p>
          <a:p>
            <a:pPr algn="just">
              <a:buNone/>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）观察图</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事件研究图趋势变化和表</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中的显著性水平，可以发现引入语调后，语调冲击在与政策冲击趋势保持一致的同时，可以在</a:t>
            </a:r>
            <a:r>
              <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rPr>
              <a:t>一定程度上提升冲击的显著性</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，这可能意味着政策语调在挖掘政策执行心理时的潜力。</a:t>
            </a:r>
          </a:p>
          <a:p>
            <a:pPr algn="just">
              <a:buNone/>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）可以发现，非化石能源占比受到的政策冲击和语调冲击没有能耗强度与碳排强度显著，这与在政策目标制定时，各省市在能耗与碳排强度指标上紧跟中央，却在非化石能源占比指标上两极分化的事实相呼应。</a:t>
            </a:r>
          </a:p>
        </p:txBody>
      </p:sp>
    </p:spTree>
    <p:extLst>
      <p:ext uri="{BB962C8B-B14F-4D97-AF65-F5344CB8AC3E}">
        <p14:creationId xmlns:p14="http://schemas.microsoft.com/office/powerpoint/2010/main" val="2246236081"/>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73E3D-33E7-FAAE-13E3-AA0A4F9C26BA}"/>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DE6AF0E7-9417-5EAB-9CB1-0CA8F0116C83}"/>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9BE4573C-43E5-2E5B-2E4E-79208E5CA672}"/>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BBE6D1D9-F657-0D20-4C42-9A719A95E44C}"/>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2A719E09-A41A-202E-57E9-88363867DB8D}"/>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5FFA76B0-A512-24D1-D27A-9D3B3703ADC2}"/>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实验</a:t>
            </a:r>
            <a:r>
              <a:rPr lang="en-US" altLang="zh-CN" sz="2400" dirty="0"/>
              <a:t>b</a:t>
            </a:r>
            <a:endParaRPr lang="zh-CN" altLang="zh-CN" sz="2400" dirty="0"/>
          </a:p>
        </p:txBody>
      </p:sp>
      <p:grpSp>
        <p:nvGrpSpPr>
          <p:cNvPr id="43" name="组合 42">
            <a:extLst>
              <a:ext uri="{FF2B5EF4-FFF2-40B4-BE49-F238E27FC236}">
                <a16:creationId xmlns:a16="http://schemas.microsoft.com/office/drawing/2014/main" id="{BC1EFA15-94A4-06B4-586D-29A735278A48}"/>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74934C82-31AC-3D71-EEE4-F62560376B2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110D2D04-6B14-E9BA-C129-9965C690C9F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D78B9BB9-D63D-26F9-4301-933EEE96E9F4}"/>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B649F154-214E-28E9-F249-CBE00998ECFA}"/>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019E83DE-FFFE-B714-5040-BB13A86CA6F9}"/>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 name="表格 1">
            <a:extLst>
              <a:ext uri="{FF2B5EF4-FFF2-40B4-BE49-F238E27FC236}">
                <a16:creationId xmlns:a16="http://schemas.microsoft.com/office/drawing/2014/main" id="{868250B8-2F1D-6076-5F49-F78E089F42F9}"/>
              </a:ext>
            </a:extLst>
          </p:cNvPr>
          <p:cNvGraphicFramePr>
            <a:graphicFrameLocks noGrp="1"/>
          </p:cNvGraphicFramePr>
          <p:nvPr>
            <p:extLst>
              <p:ext uri="{D42A27DB-BD31-4B8C-83A1-F6EECF244321}">
                <p14:modId xmlns:p14="http://schemas.microsoft.com/office/powerpoint/2010/main" val="2696561537"/>
              </p:ext>
            </p:extLst>
          </p:nvPr>
        </p:nvGraphicFramePr>
        <p:xfrm>
          <a:off x="436005" y="944994"/>
          <a:ext cx="6830750" cy="5796356"/>
        </p:xfrm>
        <a:graphic>
          <a:graphicData uri="http://schemas.openxmlformats.org/drawingml/2006/table">
            <a:tbl>
              <a:tblPr/>
              <a:tblGrid>
                <a:gridCol w="1080500">
                  <a:extLst>
                    <a:ext uri="{9D8B030D-6E8A-4147-A177-3AD203B41FA5}">
                      <a16:colId xmlns:a16="http://schemas.microsoft.com/office/drawing/2014/main" val="2155740119"/>
                    </a:ext>
                  </a:extLst>
                </a:gridCol>
                <a:gridCol w="509200">
                  <a:extLst>
                    <a:ext uri="{9D8B030D-6E8A-4147-A177-3AD203B41FA5}">
                      <a16:colId xmlns:a16="http://schemas.microsoft.com/office/drawing/2014/main" val="133805795"/>
                    </a:ext>
                  </a:extLst>
                </a:gridCol>
                <a:gridCol w="956305">
                  <a:extLst>
                    <a:ext uri="{9D8B030D-6E8A-4147-A177-3AD203B41FA5}">
                      <a16:colId xmlns:a16="http://schemas.microsoft.com/office/drawing/2014/main" val="3327038863"/>
                    </a:ext>
                  </a:extLst>
                </a:gridCol>
                <a:gridCol w="869368">
                  <a:extLst>
                    <a:ext uri="{9D8B030D-6E8A-4147-A177-3AD203B41FA5}">
                      <a16:colId xmlns:a16="http://schemas.microsoft.com/office/drawing/2014/main" val="1519650540"/>
                    </a:ext>
                  </a:extLst>
                </a:gridCol>
                <a:gridCol w="869368">
                  <a:extLst>
                    <a:ext uri="{9D8B030D-6E8A-4147-A177-3AD203B41FA5}">
                      <a16:colId xmlns:a16="http://schemas.microsoft.com/office/drawing/2014/main" val="1544507395"/>
                    </a:ext>
                  </a:extLst>
                </a:gridCol>
                <a:gridCol w="794852">
                  <a:extLst>
                    <a:ext uri="{9D8B030D-6E8A-4147-A177-3AD203B41FA5}">
                      <a16:colId xmlns:a16="http://schemas.microsoft.com/office/drawing/2014/main" val="2750119148"/>
                    </a:ext>
                  </a:extLst>
                </a:gridCol>
                <a:gridCol w="956305">
                  <a:extLst>
                    <a:ext uri="{9D8B030D-6E8A-4147-A177-3AD203B41FA5}">
                      <a16:colId xmlns:a16="http://schemas.microsoft.com/office/drawing/2014/main" val="4058932618"/>
                    </a:ext>
                  </a:extLst>
                </a:gridCol>
                <a:gridCol w="794852">
                  <a:extLst>
                    <a:ext uri="{9D8B030D-6E8A-4147-A177-3AD203B41FA5}">
                      <a16:colId xmlns:a16="http://schemas.microsoft.com/office/drawing/2014/main" val="124934693"/>
                    </a:ext>
                  </a:extLst>
                </a:gridCol>
              </a:tblGrid>
              <a:tr h="125696">
                <a:tc>
                  <a:txBody>
                    <a:bodyPr/>
                    <a:lstStyle/>
                    <a:p>
                      <a:pPr algn="ctr" fontAlgn="ctr">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ctr">
                    <a:lnL>
                      <a:noFill/>
                    </a:lnL>
                    <a:lnR>
                      <a:noFill/>
                    </a:lnR>
                    <a:lnT>
                      <a:noFill/>
                    </a:lnT>
                    <a:lnB>
                      <a:noFill/>
                    </a:lnB>
                    <a:noFill/>
                  </a:tcPr>
                </a:tc>
                <a:tc rowSpan="2">
                  <a:txBody>
                    <a:bodyPr/>
                    <a:lstStyle/>
                    <a:p>
                      <a:pPr algn="ctr" fontAlgn="ctr">
                        <a:buNone/>
                      </a:pPr>
                      <a:r>
                        <a:rPr lang="zh-CN" altLang="en-US" sz="600" b="1" i="0" u="none" strike="noStrike">
                          <a:solidFill>
                            <a:srgbClr val="000000"/>
                          </a:solidFill>
                          <a:effectLst/>
                          <a:latin typeface="等线" panose="02010600030101010101" pitchFamily="2" charset="-122"/>
                          <a:ea typeface="等线" panose="02010600030101010101" pitchFamily="2" charset="-122"/>
                        </a:rPr>
                        <a:t>全样本</a:t>
                      </a:r>
                    </a:p>
                  </a:txBody>
                  <a:tcPr marL="4078" marR="4078" marT="4078" marB="0" anchor="ctr">
                    <a:lnL>
                      <a:noFill/>
                    </a:lnL>
                    <a:lnR>
                      <a:noFill/>
                    </a:lnR>
                    <a:lnT>
                      <a:noFill/>
                    </a:lnT>
                    <a:lnB>
                      <a:noFill/>
                    </a:lnB>
                    <a:noFill/>
                  </a:tcPr>
                </a:tc>
                <a:tc rowSpan="2">
                  <a:txBody>
                    <a:bodyPr/>
                    <a:lstStyle/>
                    <a:p>
                      <a:pPr algn="ctr" fontAlgn="ctr">
                        <a:buNone/>
                      </a:pPr>
                      <a:r>
                        <a:rPr lang="zh-CN" altLang="en-US" sz="600" b="1" i="0" u="none" strike="noStrike">
                          <a:solidFill>
                            <a:srgbClr val="000000"/>
                          </a:solidFill>
                          <a:effectLst/>
                          <a:latin typeface="等线" panose="02010600030101010101" pitchFamily="2" charset="-122"/>
                          <a:ea typeface="等线" panose="02010600030101010101" pitchFamily="2" charset="-122"/>
                        </a:rPr>
                        <a:t>分位数</a:t>
                      </a:r>
                      <a:r>
                        <a:rPr lang="en-US" altLang="zh-CN" sz="600" b="1" i="0" u="none" strike="noStrike">
                          <a:solidFill>
                            <a:srgbClr val="000000"/>
                          </a:solidFill>
                          <a:effectLst/>
                          <a:latin typeface="等线" panose="02010600030101010101" pitchFamily="2" charset="-122"/>
                          <a:ea typeface="等线" panose="02010600030101010101" pitchFamily="2" charset="-122"/>
                        </a:rPr>
                        <a:t>100_75</a:t>
                      </a:r>
                    </a:p>
                  </a:txBody>
                  <a:tcPr marL="4078" marR="4078" marT="4078" marB="0" anchor="ctr">
                    <a:lnL>
                      <a:noFill/>
                    </a:lnL>
                    <a:lnR>
                      <a:noFill/>
                    </a:lnR>
                    <a:lnT>
                      <a:noFill/>
                    </a:lnT>
                    <a:lnB>
                      <a:noFill/>
                    </a:lnB>
                    <a:noFill/>
                  </a:tcPr>
                </a:tc>
                <a:tc rowSpan="2">
                  <a:txBody>
                    <a:bodyPr/>
                    <a:lstStyle/>
                    <a:p>
                      <a:pPr algn="ctr" fontAlgn="ctr">
                        <a:buNone/>
                      </a:pPr>
                      <a:r>
                        <a:rPr lang="zh-CN" altLang="en-US" sz="600" b="1" i="0" u="none" strike="noStrike">
                          <a:solidFill>
                            <a:srgbClr val="000000"/>
                          </a:solidFill>
                          <a:effectLst/>
                          <a:latin typeface="等线" panose="02010600030101010101" pitchFamily="2" charset="-122"/>
                          <a:ea typeface="等线" panose="02010600030101010101" pitchFamily="2" charset="-122"/>
                        </a:rPr>
                        <a:t>分位数</a:t>
                      </a:r>
                      <a:r>
                        <a:rPr lang="en-US" altLang="zh-CN" sz="600" b="1" i="0" u="none" strike="noStrike">
                          <a:solidFill>
                            <a:srgbClr val="000000"/>
                          </a:solidFill>
                          <a:effectLst/>
                          <a:latin typeface="等线" panose="02010600030101010101" pitchFamily="2" charset="-122"/>
                          <a:ea typeface="等线" panose="02010600030101010101" pitchFamily="2" charset="-122"/>
                        </a:rPr>
                        <a:t>75_50</a:t>
                      </a:r>
                    </a:p>
                  </a:txBody>
                  <a:tcPr marL="4078" marR="4078" marT="4078" marB="0" anchor="ctr">
                    <a:lnL>
                      <a:noFill/>
                    </a:lnL>
                    <a:lnR>
                      <a:noFill/>
                    </a:lnR>
                    <a:lnT>
                      <a:noFill/>
                    </a:lnT>
                    <a:lnB>
                      <a:noFill/>
                    </a:lnB>
                    <a:noFill/>
                  </a:tcPr>
                </a:tc>
                <a:tc rowSpan="2">
                  <a:txBody>
                    <a:bodyPr/>
                    <a:lstStyle/>
                    <a:p>
                      <a:pPr algn="ctr" fontAlgn="ctr">
                        <a:buNone/>
                      </a:pPr>
                      <a:r>
                        <a:rPr lang="zh-CN" altLang="en-US" sz="600" b="1" i="0" u="none" strike="noStrike">
                          <a:solidFill>
                            <a:srgbClr val="000000"/>
                          </a:solidFill>
                          <a:effectLst/>
                          <a:latin typeface="等线" panose="02010600030101010101" pitchFamily="2" charset="-122"/>
                          <a:ea typeface="等线" panose="02010600030101010101" pitchFamily="2" charset="-122"/>
                        </a:rPr>
                        <a:t>分位数</a:t>
                      </a:r>
                      <a:r>
                        <a:rPr lang="en-US" altLang="zh-CN" sz="600" b="1" i="0" u="none" strike="noStrike">
                          <a:solidFill>
                            <a:srgbClr val="000000"/>
                          </a:solidFill>
                          <a:effectLst/>
                          <a:latin typeface="等线" panose="02010600030101010101" pitchFamily="2" charset="-122"/>
                          <a:ea typeface="等线" panose="02010600030101010101" pitchFamily="2" charset="-122"/>
                        </a:rPr>
                        <a:t>50_25</a:t>
                      </a:r>
                    </a:p>
                  </a:txBody>
                  <a:tcPr marL="4078" marR="4078" marT="4078" marB="0" anchor="ctr">
                    <a:lnL>
                      <a:noFill/>
                    </a:lnL>
                    <a:lnR>
                      <a:noFill/>
                    </a:lnR>
                    <a:lnT>
                      <a:noFill/>
                    </a:lnT>
                    <a:lnB>
                      <a:noFill/>
                    </a:lnB>
                    <a:noFill/>
                  </a:tcPr>
                </a:tc>
                <a:tc rowSpan="2">
                  <a:txBody>
                    <a:bodyPr/>
                    <a:lstStyle/>
                    <a:p>
                      <a:pPr algn="ctr" fontAlgn="ctr">
                        <a:buNone/>
                      </a:pPr>
                      <a:r>
                        <a:rPr lang="zh-CN" altLang="en-US" sz="600" b="1" i="0" u="none" strike="noStrike">
                          <a:solidFill>
                            <a:srgbClr val="000000"/>
                          </a:solidFill>
                          <a:effectLst/>
                          <a:latin typeface="等线" panose="02010600030101010101" pitchFamily="2" charset="-122"/>
                          <a:ea typeface="等线" panose="02010600030101010101" pitchFamily="2" charset="-122"/>
                        </a:rPr>
                        <a:t>分位数</a:t>
                      </a:r>
                      <a:r>
                        <a:rPr lang="en-US" altLang="zh-CN" sz="600" b="1" i="0" u="none" strike="noStrike">
                          <a:solidFill>
                            <a:srgbClr val="000000"/>
                          </a:solidFill>
                          <a:effectLst/>
                          <a:latin typeface="等线" panose="02010600030101010101" pitchFamily="2" charset="-122"/>
                          <a:ea typeface="等线" panose="02010600030101010101" pitchFamily="2" charset="-122"/>
                        </a:rPr>
                        <a:t>25_0</a:t>
                      </a:r>
                    </a:p>
                  </a:txBody>
                  <a:tcPr marL="4078" marR="4078" marT="4078" marB="0" anchor="ctr">
                    <a:lnL>
                      <a:noFill/>
                    </a:lnL>
                    <a:lnR>
                      <a:noFill/>
                    </a:lnR>
                    <a:lnT>
                      <a:noFill/>
                    </a:lnT>
                    <a:lnB>
                      <a:noFill/>
                    </a:lnB>
                    <a:noFill/>
                  </a:tcPr>
                </a:tc>
                <a:tc rowSpan="2">
                  <a:txBody>
                    <a:bodyPr/>
                    <a:lstStyle/>
                    <a:p>
                      <a:pPr algn="ctr" fontAlgn="ctr">
                        <a:buNone/>
                      </a:pPr>
                      <a:r>
                        <a:rPr lang="zh-CN" altLang="en-US" sz="600" b="1" i="0" u="none" strike="noStrike">
                          <a:solidFill>
                            <a:srgbClr val="000000"/>
                          </a:solidFill>
                          <a:effectLst/>
                          <a:latin typeface="等线" panose="02010600030101010101" pitchFamily="2" charset="-122"/>
                          <a:ea typeface="等线" panose="02010600030101010101" pitchFamily="2" charset="-122"/>
                        </a:rPr>
                        <a:t>分位数</a:t>
                      </a:r>
                      <a:r>
                        <a:rPr lang="en-US" altLang="zh-CN" sz="600" b="1" i="0" u="none" strike="noStrike">
                          <a:solidFill>
                            <a:srgbClr val="000000"/>
                          </a:solidFill>
                          <a:effectLst/>
                          <a:latin typeface="等线" panose="02010600030101010101" pitchFamily="2" charset="-122"/>
                          <a:ea typeface="等线" panose="02010600030101010101" pitchFamily="2" charset="-122"/>
                        </a:rPr>
                        <a:t>100_50</a:t>
                      </a:r>
                    </a:p>
                  </a:txBody>
                  <a:tcPr marL="4078" marR="4078" marT="4078" marB="0" anchor="ctr">
                    <a:lnL>
                      <a:noFill/>
                    </a:lnL>
                    <a:lnR>
                      <a:noFill/>
                    </a:lnR>
                    <a:lnT>
                      <a:noFill/>
                    </a:lnT>
                    <a:lnB>
                      <a:noFill/>
                    </a:lnB>
                    <a:noFill/>
                  </a:tcPr>
                </a:tc>
                <a:tc rowSpan="2">
                  <a:txBody>
                    <a:bodyPr/>
                    <a:lstStyle/>
                    <a:p>
                      <a:pPr algn="ctr" fontAlgn="ctr">
                        <a:buNone/>
                      </a:pPr>
                      <a:r>
                        <a:rPr lang="zh-CN" altLang="en-US" sz="600" b="1" i="0" u="none" strike="noStrike">
                          <a:solidFill>
                            <a:srgbClr val="000000"/>
                          </a:solidFill>
                          <a:effectLst/>
                          <a:latin typeface="等线" panose="02010600030101010101" pitchFamily="2" charset="-122"/>
                          <a:ea typeface="等线" panose="02010600030101010101" pitchFamily="2" charset="-122"/>
                        </a:rPr>
                        <a:t>分位数</a:t>
                      </a:r>
                      <a:r>
                        <a:rPr lang="en-US" altLang="zh-CN" sz="600" b="1" i="0" u="none" strike="noStrike">
                          <a:solidFill>
                            <a:srgbClr val="000000"/>
                          </a:solidFill>
                          <a:effectLst/>
                          <a:latin typeface="等线" panose="02010600030101010101" pitchFamily="2" charset="-122"/>
                          <a:ea typeface="等线" panose="02010600030101010101" pitchFamily="2" charset="-122"/>
                        </a:rPr>
                        <a:t>50_0</a:t>
                      </a:r>
                    </a:p>
                  </a:txBody>
                  <a:tcPr marL="4078" marR="4078" marT="4078" marB="0" anchor="ctr">
                    <a:lnL>
                      <a:noFill/>
                    </a:lnL>
                    <a:lnR>
                      <a:noFill/>
                    </a:lnR>
                    <a:lnT>
                      <a:noFill/>
                    </a:lnT>
                    <a:lnB>
                      <a:noFill/>
                    </a:lnB>
                    <a:noFill/>
                  </a:tcPr>
                </a:tc>
                <a:extLst>
                  <a:ext uri="{0D108BD9-81ED-4DB2-BD59-A6C34878D82A}">
                    <a16:rowId xmlns:a16="http://schemas.microsoft.com/office/drawing/2014/main" val="2234071834"/>
                  </a:ext>
                </a:extLst>
              </a:tr>
              <a:tr h="134164">
                <a:tc>
                  <a:txBody>
                    <a:bodyPr/>
                    <a:lstStyle/>
                    <a:p>
                      <a:pPr algn="ctr" fontAlgn="b">
                        <a:buNone/>
                      </a:pPr>
                      <a:r>
                        <a:rPr lang="zh-CN" altLang="en-US" sz="600" b="1" i="0" u="none" strike="noStrike">
                          <a:solidFill>
                            <a:srgbClr val="000000"/>
                          </a:solidFill>
                          <a:effectLst/>
                          <a:latin typeface="宋体" panose="02010600030101010101" pitchFamily="2" charset="-122"/>
                          <a:ea typeface="宋体" panose="02010600030101010101" pitchFamily="2" charset="-122"/>
                        </a:rPr>
                        <a:t>（</a:t>
                      </a:r>
                      <a:r>
                        <a:rPr lang="en-US" altLang="zh-CN" sz="600" b="1" i="0" u="none" strike="noStrike">
                          <a:solidFill>
                            <a:srgbClr val="000000"/>
                          </a:solidFill>
                          <a:effectLst/>
                          <a:latin typeface="等线" panose="02010600030101010101" pitchFamily="2" charset="-122"/>
                          <a:ea typeface="等线" panose="02010600030101010101" pitchFamily="2" charset="-122"/>
                        </a:rPr>
                        <a:t>1</a:t>
                      </a:r>
                      <a:r>
                        <a:rPr lang="zh-CN" altLang="en-US" sz="600" b="1" i="0" u="none" strike="noStrike">
                          <a:solidFill>
                            <a:srgbClr val="000000"/>
                          </a:solidFill>
                          <a:effectLst/>
                          <a:latin typeface="宋体" panose="02010600030101010101" pitchFamily="2" charset="-122"/>
                          <a:ea typeface="宋体" panose="02010600030101010101" pitchFamily="2" charset="-122"/>
                        </a:rPr>
                        <a:t>）</a:t>
                      </a:r>
                      <a:endParaRPr lang="zh-CN" altLang="en-US" sz="600" b="1" i="0" u="none" strike="noStrike">
                        <a:solidFill>
                          <a:srgbClr val="000000"/>
                        </a:solidFill>
                        <a:effectLst/>
                        <a:latin typeface="Calibri" panose="020F0502020204030204" pitchFamily="34" charset="0"/>
                        <a:ea typeface="等线" panose="02010600030101010101" pitchFamily="2" charset="-122"/>
                      </a:endParaRPr>
                    </a:p>
                  </a:txBody>
                  <a:tcPr marL="4078" marR="4078" marT="4078" marB="0" anchor="b">
                    <a:lnL>
                      <a:noFill/>
                    </a:lnL>
                    <a:lnR>
                      <a:noFill/>
                    </a:lnR>
                    <a:lnT>
                      <a:noFill/>
                    </a:lnT>
                    <a:lnB>
                      <a:noFill/>
                    </a:lnB>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61161645"/>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总碳排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0.008</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-0.023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-0.005</a:t>
                      </a:r>
                    </a:p>
                  </a:txBody>
                  <a:tcPr marL="4078" marR="4078" marT="4078" marB="0" anchor="b">
                    <a:lnL>
                      <a:noFill/>
                    </a:lnL>
                    <a:lnR>
                      <a:noFill/>
                    </a:lnR>
                    <a:lnT>
                      <a:noFill/>
                    </a:lnT>
                    <a:lnB>
                      <a:noFill/>
                    </a:lnB>
                    <a:noFill/>
                  </a:tcPr>
                </a:tc>
                <a:extLst>
                  <a:ext uri="{0D108BD9-81ED-4DB2-BD59-A6C34878D82A}">
                    <a16:rowId xmlns:a16="http://schemas.microsoft.com/office/drawing/2014/main" val="416844987"/>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电力行业碳排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-0.079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0.037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-0.156*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-0.053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0.058**</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-0.023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extLst>
                  <a:ext uri="{0D108BD9-81ED-4DB2-BD59-A6C34878D82A}">
                    <a16:rowId xmlns:a16="http://schemas.microsoft.com/office/drawing/2014/main" val="571778650"/>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工业过程碳排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0.004**</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extLst>
                  <a:ext uri="{0D108BD9-81ED-4DB2-BD59-A6C34878D82A}">
                    <a16:rowId xmlns:a16="http://schemas.microsoft.com/office/drawing/2014/main" val="3155429644"/>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建筑物能源碳排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-0.008</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extLst>
                  <a:ext uri="{0D108BD9-81ED-4DB2-BD59-A6C34878D82A}">
                    <a16:rowId xmlns:a16="http://schemas.microsoft.com/office/drawing/2014/main" val="2049393693"/>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工业燃烧碳排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0.041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-0.073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0.090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0.033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-0.059***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-0.018</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-0.012</a:t>
                      </a:r>
                    </a:p>
                  </a:txBody>
                  <a:tcPr marL="4078" marR="4078" marT="4078" marB="0" anchor="b">
                    <a:lnL>
                      <a:noFill/>
                    </a:lnL>
                    <a:lnR>
                      <a:noFill/>
                    </a:lnR>
                    <a:lnT>
                      <a:noFill/>
                    </a:lnT>
                    <a:lnB>
                      <a:noFill/>
                    </a:lnB>
                    <a:noFill/>
                  </a:tcPr>
                </a:tc>
                <a:extLst>
                  <a:ext uri="{0D108BD9-81ED-4DB2-BD59-A6C34878D82A}">
                    <a16:rowId xmlns:a16="http://schemas.microsoft.com/office/drawing/2014/main" val="2254141964"/>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浪费碳排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extLst>
                  <a:ext uri="{0D108BD9-81ED-4DB2-BD59-A6C34878D82A}">
                    <a16:rowId xmlns:a16="http://schemas.microsoft.com/office/drawing/2014/main" val="1169773604"/>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农业碳排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extLst>
                  <a:ext uri="{0D108BD9-81ED-4DB2-BD59-A6C34878D82A}">
                    <a16:rowId xmlns:a16="http://schemas.microsoft.com/office/drawing/2014/main" val="2832869450"/>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燃烧能源碳排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0.050**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0.061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0.072**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0.032***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-0.024</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0.057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0.007</a:t>
                      </a:r>
                    </a:p>
                  </a:txBody>
                  <a:tcPr marL="4078" marR="4078" marT="4078" marB="0" anchor="b">
                    <a:lnL>
                      <a:noFill/>
                    </a:lnL>
                    <a:lnR>
                      <a:noFill/>
                    </a:lnR>
                    <a:lnT>
                      <a:noFill/>
                    </a:lnT>
                    <a:lnB>
                      <a:noFill/>
                    </a:lnB>
                    <a:noFill/>
                  </a:tcPr>
                </a:tc>
                <a:extLst>
                  <a:ext uri="{0D108BD9-81ED-4DB2-BD59-A6C34878D82A}">
                    <a16:rowId xmlns:a16="http://schemas.microsoft.com/office/drawing/2014/main" val="444263232"/>
                  </a:ext>
                </a:extLst>
              </a:tr>
              <a:tr h="125696">
                <a:tc>
                  <a:txBody>
                    <a:bodyPr/>
                    <a:lstStyle/>
                    <a:p>
                      <a:pPr algn="ctr" fontAlgn="b">
                        <a:buNone/>
                      </a:pPr>
                      <a:r>
                        <a:rPr lang="zh-CN" altLang="en-US" sz="600" b="0" i="0" u="none" strike="noStrike" dirty="0">
                          <a:solidFill>
                            <a:srgbClr val="000000"/>
                          </a:solidFill>
                          <a:effectLst/>
                          <a:latin typeface="等线" panose="02010600030101010101" pitchFamily="2" charset="-122"/>
                          <a:ea typeface="等线" panose="02010600030101010101" pitchFamily="2" charset="-122"/>
                        </a:rPr>
                        <a:t>运输碳排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-0.004</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-0.011***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-0.002</a:t>
                      </a:r>
                    </a:p>
                  </a:txBody>
                  <a:tcPr marL="4078" marR="4078" marT="4078" marB="0" anchor="b">
                    <a:lnL>
                      <a:noFill/>
                    </a:lnL>
                    <a:lnR>
                      <a:noFill/>
                    </a:lnR>
                    <a:lnT>
                      <a:noFill/>
                    </a:lnT>
                    <a:lnB>
                      <a:noFill/>
                    </a:lnB>
                    <a:noFill/>
                  </a:tcPr>
                </a:tc>
                <a:extLst>
                  <a:ext uri="{0D108BD9-81ED-4DB2-BD59-A6C34878D82A}">
                    <a16:rowId xmlns:a16="http://schemas.microsoft.com/office/drawing/2014/main" val="1815534762"/>
                  </a:ext>
                </a:extLst>
              </a:tr>
              <a:tr h="134164">
                <a:tc>
                  <a:txBody>
                    <a:bodyPr/>
                    <a:lstStyle/>
                    <a:p>
                      <a:pPr algn="ctr" fontAlgn="b">
                        <a:buNone/>
                      </a:pPr>
                      <a:r>
                        <a:rPr lang="zh-CN" altLang="en-US" sz="600" b="1" i="0" u="none" strike="noStrike">
                          <a:solidFill>
                            <a:srgbClr val="000000"/>
                          </a:solidFill>
                          <a:effectLst/>
                          <a:latin typeface="宋体" panose="02010600030101010101" pitchFamily="2" charset="-122"/>
                          <a:ea typeface="宋体" panose="02010600030101010101" pitchFamily="2" charset="-122"/>
                        </a:rPr>
                        <a:t>（</a:t>
                      </a:r>
                      <a:r>
                        <a:rPr lang="en-US" altLang="zh-CN" sz="600" b="1" i="0" u="none" strike="noStrike">
                          <a:solidFill>
                            <a:srgbClr val="000000"/>
                          </a:solidFill>
                          <a:effectLst/>
                          <a:latin typeface="Calibri" panose="020F0502020204030204" pitchFamily="34" charset="0"/>
                          <a:ea typeface="等线" panose="02010600030101010101" pitchFamily="2" charset="-122"/>
                        </a:rPr>
                        <a:t>2</a:t>
                      </a:r>
                      <a:r>
                        <a:rPr lang="zh-CN" altLang="en-US" sz="600" b="1" i="0" u="none" strike="noStrike">
                          <a:solidFill>
                            <a:srgbClr val="000000"/>
                          </a:solidFill>
                          <a:effectLst/>
                          <a:latin typeface="宋体" panose="02010600030101010101" pitchFamily="2" charset="-122"/>
                          <a:ea typeface="宋体" panose="02010600030101010101" pitchFamily="2" charset="-122"/>
                        </a:rPr>
                        <a:t>）</a:t>
                      </a:r>
                      <a:endParaRPr lang="zh-CN" altLang="en-US" sz="600" b="1" i="0" u="none" strike="noStrike">
                        <a:solidFill>
                          <a:srgbClr val="000000"/>
                        </a:solidFill>
                        <a:effectLst/>
                        <a:latin typeface="Calibri" panose="020F0502020204030204" pitchFamily="34" charset="0"/>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dirty="0">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extLst>
                  <a:ext uri="{0D108BD9-81ED-4DB2-BD59-A6C34878D82A}">
                    <a16:rowId xmlns:a16="http://schemas.microsoft.com/office/drawing/2014/main" val="3348055755"/>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总碳排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0.056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0.014</a:t>
                      </a:r>
                    </a:p>
                  </a:txBody>
                  <a:tcPr marL="4078" marR="4078" marT="4078" marB="0" anchor="b">
                    <a:lnL>
                      <a:noFill/>
                    </a:lnL>
                    <a:lnR>
                      <a:noFill/>
                    </a:lnR>
                    <a:lnT>
                      <a:noFill/>
                    </a:lnT>
                    <a:lnB>
                      <a:noFill/>
                    </a:lnB>
                    <a:noFill/>
                  </a:tcPr>
                </a:tc>
                <a:extLst>
                  <a:ext uri="{0D108BD9-81ED-4DB2-BD59-A6C34878D82A}">
                    <a16:rowId xmlns:a16="http://schemas.microsoft.com/office/drawing/2014/main" val="3750044831"/>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电力行业碳排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-0.079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-0.267***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0.163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0.093***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-0.299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0.009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-0.087</a:t>
                      </a:r>
                    </a:p>
                  </a:txBody>
                  <a:tcPr marL="4078" marR="4078" marT="4078" marB="0" anchor="b">
                    <a:lnL>
                      <a:noFill/>
                    </a:lnL>
                    <a:lnR>
                      <a:noFill/>
                    </a:lnR>
                    <a:lnT>
                      <a:noFill/>
                    </a:lnT>
                    <a:lnB>
                      <a:noFill/>
                    </a:lnB>
                    <a:noFill/>
                  </a:tcPr>
                </a:tc>
                <a:extLst>
                  <a:ext uri="{0D108BD9-81ED-4DB2-BD59-A6C34878D82A}">
                    <a16:rowId xmlns:a16="http://schemas.microsoft.com/office/drawing/2014/main" val="2742765376"/>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工业过程碳排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0.004</a:t>
                      </a:r>
                    </a:p>
                  </a:txBody>
                  <a:tcPr marL="4078" marR="4078" marT="4078" marB="0" anchor="b">
                    <a:lnL>
                      <a:noFill/>
                    </a:lnL>
                    <a:lnR>
                      <a:noFill/>
                    </a:lnR>
                    <a:lnT>
                      <a:noFill/>
                    </a:lnT>
                    <a:lnB>
                      <a:noFill/>
                    </a:lnB>
                    <a:noFill/>
                  </a:tcPr>
                </a:tc>
                <a:extLst>
                  <a:ext uri="{0D108BD9-81ED-4DB2-BD59-A6C34878D82A}">
                    <a16:rowId xmlns:a16="http://schemas.microsoft.com/office/drawing/2014/main" val="1803970567"/>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建筑物能源碳排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extLst>
                  <a:ext uri="{0D108BD9-81ED-4DB2-BD59-A6C34878D82A}">
                    <a16:rowId xmlns:a16="http://schemas.microsoft.com/office/drawing/2014/main" val="409626246"/>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工业燃烧碳排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0.041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0.195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-0.124</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0.075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0.255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-0.036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0.044</a:t>
                      </a:r>
                    </a:p>
                  </a:txBody>
                  <a:tcPr marL="4078" marR="4078" marT="4078" marB="0" anchor="b">
                    <a:lnL>
                      <a:noFill/>
                    </a:lnL>
                    <a:lnR>
                      <a:noFill/>
                    </a:lnR>
                    <a:lnT>
                      <a:noFill/>
                    </a:lnT>
                    <a:lnB>
                      <a:noFill/>
                    </a:lnB>
                    <a:noFill/>
                  </a:tcPr>
                </a:tc>
                <a:extLst>
                  <a:ext uri="{0D108BD9-81ED-4DB2-BD59-A6C34878D82A}">
                    <a16:rowId xmlns:a16="http://schemas.microsoft.com/office/drawing/2014/main" val="2487729136"/>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浪费碳排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extLst>
                  <a:ext uri="{0D108BD9-81ED-4DB2-BD59-A6C34878D82A}">
                    <a16:rowId xmlns:a16="http://schemas.microsoft.com/office/drawing/2014/main" val="2622262909"/>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农业碳排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extLst>
                  <a:ext uri="{0D108BD9-81ED-4DB2-BD59-A6C34878D82A}">
                    <a16:rowId xmlns:a16="http://schemas.microsoft.com/office/drawing/2014/main" val="3431015874"/>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燃烧能源碳排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0.050**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0.086**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-0.016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-0.159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0.093**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0.036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0.053*</a:t>
                      </a:r>
                    </a:p>
                  </a:txBody>
                  <a:tcPr marL="4078" marR="4078" marT="4078" marB="0" anchor="b">
                    <a:lnL>
                      <a:noFill/>
                    </a:lnL>
                    <a:lnR>
                      <a:noFill/>
                    </a:lnR>
                    <a:lnT>
                      <a:noFill/>
                    </a:lnT>
                    <a:lnB>
                      <a:noFill/>
                    </a:lnB>
                    <a:noFill/>
                  </a:tcPr>
                </a:tc>
                <a:extLst>
                  <a:ext uri="{0D108BD9-81ED-4DB2-BD59-A6C34878D82A}">
                    <a16:rowId xmlns:a16="http://schemas.microsoft.com/office/drawing/2014/main" val="3702116121"/>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运输碳排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-0.004</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extLst>
                  <a:ext uri="{0D108BD9-81ED-4DB2-BD59-A6C34878D82A}">
                    <a16:rowId xmlns:a16="http://schemas.microsoft.com/office/drawing/2014/main" val="20974208"/>
                  </a:ext>
                </a:extLst>
              </a:tr>
              <a:tr h="134164">
                <a:tc>
                  <a:txBody>
                    <a:bodyPr/>
                    <a:lstStyle/>
                    <a:p>
                      <a:pPr algn="ctr" fontAlgn="b">
                        <a:buNone/>
                      </a:pPr>
                      <a:r>
                        <a:rPr lang="zh-CN" altLang="en-US" sz="600" b="1" i="0" u="none" strike="noStrike">
                          <a:solidFill>
                            <a:srgbClr val="000000"/>
                          </a:solidFill>
                          <a:effectLst/>
                          <a:latin typeface="宋体" panose="02010600030101010101" pitchFamily="2" charset="-122"/>
                          <a:ea typeface="宋体" panose="02010600030101010101" pitchFamily="2" charset="-122"/>
                        </a:rPr>
                        <a:t>（</a:t>
                      </a:r>
                      <a:r>
                        <a:rPr lang="en-US" altLang="zh-CN" sz="600" b="1" i="0" u="none" strike="noStrike">
                          <a:solidFill>
                            <a:srgbClr val="000000"/>
                          </a:solidFill>
                          <a:effectLst/>
                          <a:latin typeface="Calibri" panose="020F0502020204030204" pitchFamily="34" charset="0"/>
                          <a:ea typeface="等线" panose="02010600030101010101" pitchFamily="2" charset="-122"/>
                        </a:rPr>
                        <a:t>3</a:t>
                      </a:r>
                      <a:r>
                        <a:rPr lang="zh-CN" altLang="en-US" sz="600" b="1" i="0" u="none" strike="noStrike">
                          <a:solidFill>
                            <a:srgbClr val="000000"/>
                          </a:solidFill>
                          <a:effectLst/>
                          <a:latin typeface="宋体" panose="02010600030101010101" pitchFamily="2" charset="-122"/>
                          <a:ea typeface="宋体" panose="02010600030101010101" pitchFamily="2" charset="-122"/>
                        </a:rPr>
                        <a:t>）</a:t>
                      </a:r>
                      <a:endParaRPr lang="zh-CN" altLang="en-US" sz="600" b="1" i="0" u="none" strike="noStrike">
                        <a:solidFill>
                          <a:srgbClr val="000000"/>
                        </a:solidFill>
                        <a:effectLst/>
                        <a:latin typeface="Calibri" panose="020F0502020204030204" pitchFamily="34" charset="0"/>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extLst>
                  <a:ext uri="{0D108BD9-81ED-4DB2-BD59-A6C34878D82A}">
                    <a16:rowId xmlns:a16="http://schemas.microsoft.com/office/drawing/2014/main" val="4272712470"/>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总碳排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-0.041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-0.049*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-0.039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-0.012</a:t>
                      </a:r>
                    </a:p>
                  </a:txBody>
                  <a:tcPr marL="4078" marR="4078" marT="4078" marB="0" anchor="b">
                    <a:lnL>
                      <a:noFill/>
                    </a:lnL>
                    <a:lnR>
                      <a:noFill/>
                    </a:lnR>
                    <a:lnT>
                      <a:noFill/>
                    </a:lnT>
                    <a:lnB>
                      <a:noFill/>
                    </a:lnB>
                    <a:noFill/>
                  </a:tcPr>
                </a:tc>
                <a:extLst>
                  <a:ext uri="{0D108BD9-81ED-4DB2-BD59-A6C34878D82A}">
                    <a16:rowId xmlns:a16="http://schemas.microsoft.com/office/drawing/2014/main" val="3049274794"/>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电力行业碳排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0.162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0.461**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-0.120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-0.018</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0.096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highlight>
                            <a:srgbClr val="FFFF00"/>
                          </a:highlight>
                          <a:latin typeface="等线" panose="02010600030101010101" pitchFamily="2" charset="-122"/>
                          <a:ea typeface="等线" panose="02010600030101010101" pitchFamily="2" charset="-122"/>
                        </a:rPr>
                        <a:t>0.321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-0.021</a:t>
                      </a:r>
                    </a:p>
                  </a:txBody>
                  <a:tcPr marL="4078" marR="4078" marT="4078" marB="0" anchor="b">
                    <a:lnL>
                      <a:noFill/>
                    </a:lnL>
                    <a:lnR>
                      <a:noFill/>
                    </a:lnR>
                    <a:lnT>
                      <a:noFill/>
                    </a:lnT>
                    <a:lnB>
                      <a:noFill/>
                    </a:lnB>
                    <a:noFill/>
                  </a:tcPr>
                </a:tc>
                <a:extLst>
                  <a:ext uri="{0D108BD9-81ED-4DB2-BD59-A6C34878D82A}">
                    <a16:rowId xmlns:a16="http://schemas.microsoft.com/office/drawing/2014/main" val="3196018484"/>
                  </a:ext>
                </a:extLst>
              </a:tr>
              <a:tr h="103064">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工业过程碳排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0.004</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0.004</a:t>
                      </a:r>
                    </a:p>
                  </a:txBody>
                  <a:tcPr marL="4078" marR="4078" marT="4078" marB="0" anchor="b">
                    <a:lnL>
                      <a:noFill/>
                    </a:lnL>
                    <a:lnR>
                      <a:noFill/>
                    </a:lnR>
                    <a:lnT>
                      <a:noFill/>
                    </a:lnT>
                    <a:lnB>
                      <a:noFill/>
                    </a:lnB>
                    <a:noFill/>
                  </a:tcPr>
                </a:tc>
                <a:extLst>
                  <a:ext uri="{0D108BD9-81ED-4DB2-BD59-A6C34878D82A}">
                    <a16:rowId xmlns:a16="http://schemas.microsoft.com/office/drawing/2014/main" val="3953399896"/>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建筑物能源碳排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-0.004</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extLst>
                  <a:ext uri="{0D108BD9-81ED-4DB2-BD59-A6C34878D82A}">
                    <a16:rowId xmlns:a16="http://schemas.microsoft.com/office/drawing/2014/main" val="259526761"/>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工业燃烧碳排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-0.200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-0.528*</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0.071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-0.008</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highlight>
                            <a:srgbClr val="FFFF00"/>
                          </a:highlight>
                          <a:latin typeface="等线" panose="02010600030101010101" pitchFamily="2" charset="-122"/>
                          <a:ea typeface="等线" panose="02010600030101010101" pitchFamily="2" charset="-122"/>
                        </a:rPr>
                        <a:t>-0.092*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-0.376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-0.010</a:t>
                      </a:r>
                    </a:p>
                  </a:txBody>
                  <a:tcPr marL="4078" marR="4078" marT="4078" marB="0" anchor="b">
                    <a:lnL>
                      <a:noFill/>
                    </a:lnL>
                    <a:lnR>
                      <a:noFill/>
                    </a:lnR>
                    <a:lnT>
                      <a:noFill/>
                    </a:lnT>
                    <a:lnB>
                      <a:noFill/>
                    </a:lnB>
                    <a:noFill/>
                  </a:tcPr>
                </a:tc>
                <a:extLst>
                  <a:ext uri="{0D108BD9-81ED-4DB2-BD59-A6C34878D82A}">
                    <a16:rowId xmlns:a16="http://schemas.microsoft.com/office/drawing/2014/main" val="221718768"/>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浪费碳排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extLst>
                  <a:ext uri="{0D108BD9-81ED-4DB2-BD59-A6C34878D82A}">
                    <a16:rowId xmlns:a16="http://schemas.microsoft.com/office/drawing/2014/main" val="2616360538"/>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农业碳排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extLst>
                  <a:ext uri="{0D108BD9-81ED-4DB2-BD59-A6C34878D82A}">
                    <a16:rowId xmlns:a16="http://schemas.microsoft.com/office/drawing/2014/main" val="1215298941"/>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燃烧能源碳排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0.016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0.020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0.048</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0.016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-0.062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0.013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0.014</a:t>
                      </a:r>
                    </a:p>
                  </a:txBody>
                  <a:tcPr marL="4078" marR="4078" marT="4078" marB="0" anchor="b">
                    <a:lnL>
                      <a:noFill/>
                    </a:lnL>
                    <a:lnR>
                      <a:noFill/>
                    </a:lnR>
                    <a:lnT>
                      <a:noFill/>
                    </a:lnT>
                    <a:lnB>
                      <a:noFill/>
                    </a:lnB>
                    <a:noFill/>
                  </a:tcPr>
                </a:tc>
                <a:extLst>
                  <a:ext uri="{0D108BD9-81ED-4DB2-BD59-A6C34878D82A}">
                    <a16:rowId xmlns:a16="http://schemas.microsoft.com/office/drawing/2014/main" val="2475394982"/>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运输碳排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extLst>
                  <a:ext uri="{0D108BD9-81ED-4DB2-BD59-A6C34878D82A}">
                    <a16:rowId xmlns:a16="http://schemas.microsoft.com/office/drawing/2014/main" val="1808851555"/>
                  </a:ext>
                </a:extLst>
              </a:tr>
              <a:tr h="134164">
                <a:tc>
                  <a:txBody>
                    <a:bodyPr/>
                    <a:lstStyle/>
                    <a:p>
                      <a:pPr algn="ctr" fontAlgn="b">
                        <a:buNone/>
                      </a:pPr>
                      <a:r>
                        <a:rPr lang="zh-CN" altLang="en-US" sz="600" b="1" i="0" u="none" strike="noStrike">
                          <a:solidFill>
                            <a:srgbClr val="000000"/>
                          </a:solidFill>
                          <a:effectLst/>
                          <a:latin typeface="宋体" panose="02010600030101010101" pitchFamily="2" charset="-122"/>
                          <a:ea typeface="宋体" panose="02010600030101010101" pitchFamily="2" charset="-122"/>
                        </a:rPr>
                        <a:t>（</a:t>
                      </a:r>
                      <a:r>
                        <a:rPr lang="en-US" altLang="zh-CN" sz="600" b="1" i="0" u="none" strike="noStrike">
                          <a:solidFill>
                            <a:srgbClr val="000000"/>
                          </a:solidFill>
                          <a:effectLst/>
                          <a:latin typeface="Calibri" panose="020F0502020204030204" pitchFamily="34" charset="0"/>
                          <a:ea typeface="等线" panose="02010600030101010101" pitchFamily="2" charset="-122"/>
                        </a:rPr>
                        <a:t>4</a:t>
                      </a:r>
                      <a:r>
                        <a:rPr lang="zh-CN" altLang="en-US" sz="600" b="1" i="0" u="none" strike="noStrike">
                          <a:solidFill>
                            <a:srgbClr val="000000"/>
                          </a:solidFill>
                          <a:effectLst/>
                          <a:latin typeface="宋体" panose="02010600030101010101" pitchFamily="2" charset="-122"/>
                          <a:ea typeface="宋体" panose="02010600030101010101" pitchFamily="2" charset="-122"/>
                        </a:rPr>
                        <a:t>）</a:t>
                      </a:r>
                      <a:endParaRPr lang="zh-CN" altLang="en-US" sz="600" b="1" i="0" u="none" strike="noStrike">
                        <a:solidFill>
                          <a:srgbClr val="000000"/>
                        </a:solidFill>
                        <a:effectLst/>
                        <a:latin typeface="Calibri" panose="020F0502020204030204" pitchFamily="34" charset="0"/>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dirty="0">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a:txBody>
                    <a:bodyPr/>
                    <a:lstStyle/>
                    <a:p>
                      <a:pPr algn="l"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extLst>
                  <a:ext uri="{0D108BD9-81ED-4DB2-BD59-A6C34878D82A}">
                    <a16:rowId xmlns:a16="http://schemas.microsoft.com/office/drawing/2014/main" val="1008744813"/>
                  </a:ext>
                </a:extLst>
              </a:tr>
              <a:tr h="125696">
                <a:tc>
                  <a:txBody>
                    <a:bodyPr/>
                    <a:lstStyle/>
                    <a:p>
                      <a:pPr algn="ctr" fontAlgn="b">
                        <a:buNone/>
                      </a:pPr>
                      <a:r>
                        <a:rPr lang="zh-CN" altLang="en-US" sz="600" b="0" i="0" u="none" strike="noStrike" dirty="0">
                          <a:solidFill>
                            <a:srgbClr val="000000"/>
                          </a:solidFill>
                          <a:effectLst/>
                          <a:latin typeface="等线" panose="02010600030101010101" pitchFamily="2" charset="-122"/>
                          <a:ea typeface="等线" panose="02010600030101010101" pitchFamily="2" charset="-122"/>
                        </a:rPr>
                        <a:t>总碳排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-0.013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-0.011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0.098</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-0.176***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-0.026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-0.114***</a:t>
                      </a:r>
                    </a:p>
                  </a:txBody>
                  <a:tcPr marL="4078" marR="4078" marT="4078" marB="0" anchor="b">
                    <a:lnL>
                      <a:noFill/>
                    </a:lnL>
                    <a:lnR>
                      <a:noFill/>
                    </a:lnR>
                    <a:lnT>
                      <a:noFill/>
                    </a:lnT>
                    <a:lnB>
                      <a:noFill/>
                    </a:lnB>
                    <a:noFill/>
                  </a:tcPr>
                </a:tc>
                <a:extLst>
                  <a:ext uri="{0D108BD9-81ED-4DB2-BD59-A6C34878D82A}">
                    <a16:rowId xmlns:a16="http://schemas.microsoft.com/office/drawing/2014/main" val="4245010492"/>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电力行业碳排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0.162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-0.131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0.351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0.617***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1.579***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0.135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1.046***</a:t>
                      </a:r>
                    </a:p>
                  </a:txBody>
                  <a:tcPr marL="4078" marR="4078" marT="4078" marB="0" anchor="b">
                    <a:lnL>
                      <a:noFill/>
                    </a:lnL>
                    <a:lnR>
                      <a:noFill/>
                    </a:lnR>
                    <a:lnT>
                      <a:noFill/>
                    </a:lnT>
                    <a:lnB>
                      <a:noFill/>
                    </a:lnB>
                    <a:noFill/>
                  </a:tcPr>
                </a:tc>
                <a:extLst>
                  <a:ext uri="{0D108BD9-81ED-4DB2-BD59-A6C34878D82A}">
                    <a16:rowId xmlns:a16="http://schemas.microsoft.com/office/drawing/2014/main" val="3408050594"/>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工业过程碳排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-0.008*</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0.040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0.009</a:t>
                      </a:r>
                    </a:p>
                  </a:txBody>
                  <a:tcPr marL="4078" marR="4078" marT="4078" marB="0" anchor="b">
                    <a:lnL>
                      <a:noFill/>
                    </a:lnL>
                    <a:lnR>
                      <a:noFill/>
                    </a:lnR>
                    <a:lnT>
                      <a:noFill/>
                    </a:lnT>
                    <a:lnB>
                      <a:noFill/>
                    </a:lnB>
                    <a:noFill/>
                  </a:tcPr>
                </a:tc>
                <a:extLst>
                  <a:ext uri="{0D108BD9-81ED-4DB2-BD59-A6C34878D82A}">
                    <a16:rowId xmlns:a16="http://schemas.microsoft.com/office/drawing/2014/main" val="2158566818"/>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建筑物能源碳排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0.004</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extLst>
                  <a:ext uri="{0D108BD9-81ED-4DB2-BD59-A6C34878D82A}">
                    <a16:rowId xmlns:a16="http://schemas.microsoft.com/office/drawing/2014/main" val="1208321108"/>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工业燃烧碳排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-0.200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0.093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-0.355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0.145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-1.576***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-0.225</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-1.026***</a:t>
                      </a:r>
                    </a:p>
                  </a:txBody>
                  <a:tcPr marL="4078" marR="4078" marT="4078" marB="0" anchor="b">
                    <a:lnL>
                      <a:noFill/>
                    </a:lnL>
                    <a:lnR>
                      <a:noFill/>
                    </a:lnR>
                    <a:lnT>
                      <a:noFill/>
                    </a:lnT>
                    <a:lnB>
                      <a:noFill/>
                    </a:lnB>
                    <a:noFill/>
                  </a:tcPr>
                </a:tc>
                <a:extLst>
                  <a:ext uri="{0D108BD9-81ED-4DB2-BD59-A6C34878D82A}">
                    <a16:rowId xmlns:a16="http://schemas.microsoft.com/office/drawing/2014/main" val="4230569132"/>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浪费碳排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extLst>
                  <a:ext uri="{0D108BD9-81ED-4DB2-BD59-A6C34878D82A}">
                    <a16:rowId xmlns:a16="http://schemas.microsoft.com/office/drawing/2014/main" val="122495719"/>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农业碳排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0.000</a:t>
                      </a:r>
                    </a:p>
                  </a:txBody>
                  <a:tcPr marL="4078" marR="4078" marT="4078" marB="0" anchor="b">
                    <a:lnL>
                      <a:noFill/>
                    </a:lnL>
                    <a:lnR>
                      <a:noFill/>
                    </a:lnR>
                    <a:lnT>
                      <a:noFill/>
                    </a:lnT>
                    <a:lnB>
                      <a:noFill/>
                    </a:lnB>
                    <a:noFill/>
                  </a:tcPr>
                </a:tc>
                <a:extLst>
                  <a:ext uri="{0D108BD9-81ED-4DB2-BD59-A6C34878D82A}">
                    <a16:rowId xmlns:a16="http://schemas.microsoft.com/office/drawing/2014/main" val="3497218700"/>
                  </a:ext>
                </a:extLst>
              </a:tr>
              <a:tr h="125696">
                <a:tc>
                  <a:txBody>
                    <a:bodyPr/>
                    <a:lstStyle/>
                    <a:p>
                      <a:pPr algn="ctr" fontAlgn="b">
                        <a:buNone/>
                      </a:pPr>
                      <a:r>
                        <a:rPr lang="zh-CN" altLang="en-US"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燃烧能源碳排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0.016</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0.048</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0.013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-0.701**</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-0.169***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0.067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highlight>
                            <a:srgbClr val="FFFF00"/>
                          </a:highlight>
                          <a:latin typeface="等线" panose="02010600030101010101" pitchFamily="2" charset="-122"/>
                          <a:ea typeface="等线" panose="02010600030101010101" pitchFamily="2" charset="-122"/>
                        </a:rPr>
                        <a:t>-0.140**</a:t>
                      </a:r>
                    </a:p>
                  </a:txBody>
                  <a:tcPr marL="4078" marR="4078" marT="4078" marB="0" anchor="b">
                    <a:lnL>
                      <a:noFill/>
                    </a:lnL>
                    <a:lnR>
                      <a:noFill/>
                    </a:lnR>
                    <a:lnT>
                      <a:noFill/>
                    </a:lnT>
                    <a:lnB>
                      <a:noFill/>
                    </a:lnB>
                    <a:noFill/>
                  </a:tcPr>
                </a:tc>
                <a:extLst>
                  <a:ext uri="{0D108BD9-81ED-4DB2-BD59-A6C34878D82A}">
                    <a16:rowId xmlns:a16="http://schemas.microsoft.com/office/drawing/2014/main" val="3343802509"/>
                  </a:ext>
                </a:extLst>
              </a:tr>
              <a:tr h="125696">
                <a:tc>
                  <a:txBody>
                    <a:bodyPr/>
                    <a:lstStyle/>
                    <a:p>
                      <a:pPr algn="ctr" fontAlgn="b">
                        <a:buNone/>
                      </a:pPr>
                      <a:r>
                        <a:rPr lang="zh-CN" altLang="en-US" sz="600" b="0" i="0" u="none" strike="noStrike">
                          <a:solidFill>
                            <a:srgbClr val="000000"/>
                          </a:solidFill>
                          <a:effectLst/>
                          <a:latin typeface="等线" panose="02010600030101010101" pitchFamily="2" charset="-122"/>
                          <a:ea typeface="等线" panose="02010600030101010101" pitchFamily="2" charset="-122"/>
                        </a:rPr>
                        <a:t>运输碳排</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0.003</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-0.010</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-0.009</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dirty="0">
                          <a:solidFill>
                            <a:srgbClr val="000000"/>
                          </a:solidFill>
                          <a:effectLst/>
                          <a:latin typeface="等线" panose="02010600030101010101" pitchFamily="2" charset="-122"/>
                          <a:ea typeface="等线" panose="02010600030101010101" pitchFamily="2" charset="-122"/>
                        </a:rPr>
                        <a:t>-0.007**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-0.007</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0.002</a:t>
                      </a:r>
                    </a:p>
                  </a:txBody>
                  <a:tcPr marL="4078" marR="4078" marT="4078" marB="0" anchor="b">
                    <a:lnL>
                      <a:noFill/>
                    </a:lnL>
                    <a:lnR>
                      <a:noFill/>
                    </a:lnR>
                    <a:lnT>
                      <a:noFill/>
                    </a:lnT>
                    <a:lnB>
                      <a:noFill/>
                    </a:lnB>
                    <a:noFill/>
                  </a:tcPr>
                </a:tc>
                <a:tc>
                  <a:txBody>
                    <a:bodyPr/>
                    <a:lstStyle/>
                    <a:p>
                      <a:pPr algn="l" fontAlgn="b">
                        <a:buNone/>
                      </a:pPr>
                      <a:r>
                        <a:rPr lang="en-US" altLang="zh-CN" sz="600" b="0" i="0" u="none" strike="noStrike">
                          <a:solidFill>
                            <a:srgbClr val="000000"/>
                          </a:solidFill>
                          <a:effectLst/>
                          <a:latin typeface="等线" panose="02010600030101010101" pitchFamily="2" charset="-122"/>
                          <a:ea typeface="等线" panose="02010600030101010101" pitchFamily="2" charset="-122"/>
                        </a:rPr>
                        <a:t>-0.006***</a:t>
                      </a:r>
                    </a:p>
                  </a:txBody>
                  <a:tcPr marL="4078" marR="4078" marT="4078" marB="0" anchor="b">
                    <a:lnL>
                      <a:noFill/>
                    </a:lnL>
                    <a:lnR>
                      <a:noFill/>
                    </a:lnR>
                    <a:lnT>
                      <a:noFill/>
                    </a:lnT>
                    <a:lnB>
                      <a:noFill/>
                    </a:lnB>
                    <a:noFill/>
                  </a:tcPr>
                </a:tc>
                <a:extLst>
                  <a:ext uri="{0D108BD9-81ED-4DB2-BD59-A6C34878D82A}">
                    <a16:rowId xmlns:a16="http://schemas.microsoft.com/office/drawing/2014/main" val="2104565573"/>
                  </a:ext>
                </a:extLst>
              </a:tr>
              <a:tr h="125696">
                <a:tc gridSpan="8">
                  <a:txBody>
                    <a:bodyPr/>
                    <a:lstStyle/>
                    <a:p>
                      <a:pPr algn="ctr" fontAlgn="b">
                        <a:buNone/>
                      </a:pP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078" marR="4078" marT="4078" marB="0" anchor="b">
                    <a:lnL>
                      <a:noFill/>
                    </a:lnL>
                    <a:lnR>
                      <a:noFill/>
                    </a:lnR>
                    <a:lnT>
                      <a:noFill/>
                    </a:lnT>
                    <a:lnB>
                      <a:noFill/>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326311774"/>
                  </a:ext>
                </a:extLst>
              </a:tr>
              <a:tr h="128796">
                <a:tc gridSpan="8">
                  <a:txBody>
                    <a:bodyPr/>
                    <a:lstStyle/>
                    <a:p>
                      <a:pPr algn="l" fontAlgn="b">
                        <a:buNone/>
                      </a:pPr>
                      <a:r>
                        <a:rPr lang="zh-CN" altLang="en-US" sz="600" b="0" i="1" u="none" strike="noStrike">
                          <a:solidFill>
                            <a:srgbClr val="000000"/>
                          </a:solidFill>
                          <a:effectLst/>
                          <a:latin typeface="宋体" panose="02010600030101010101" pitchFamily="2" charset="-122"/>
                          <a:ea typeface="宋体" panose="02010600030101010101" pitchFamily="2" charset="-122"/>
                        </a:rPr>
                        <a:t>（</a:t>
                      </a:r>
                      <a:r>
                        <a:rPr lang="en-US" altLang="zh-CN" sz="600" b="0" i="1" u="none" strike="noStrike">
                          <a:solidFill>
                            <a:srgbClr val="000000"/>
                          </a:solidFill>
                          <a:effectLst/>
                          <a:latin typeface="宋体" panose="02010600030101010101" pitchFamily="2" charset="-122"/>
                          <a:ea typeface="宋体" panose="02010600030101010101" pitchFamily="2" charset="-122"/>
                        </a:rPr>
                        <a:t>1</a:t>
                      </a:r>
                      <a:r>
                        <a:rPr lang="zh-CN" altLang="en-US" sz="600" b="0" i="1" u="none" strike="noStrike">
                          <a:solidFill>
                            <a:srgbClr val="000000"/>
                          </a:solidFill>
                          <a:effectLst/>
                          <a:latin typeface="宋体" panose="02010600030101010101" pitchFamily="2" charset="-122"/>
                          <a:ea typeface="宋体" panose="02010600030101010101" pitchFamily="2" charset="-122"/>
                        </a:rPr>
                        <a:t>）政策冲击的碳排分位数回归</a:t>
                      </a:r>
                    </a:p>
                  </a:txBody>
                  <a:tcPr marL="4078" marR="4078" marT="4078" marB="0" anchor="b">
                    <a:lnL>
                      <a:noFill/>
                    </a:lnL>
                    <a:lnR>
                      <a:noFill/>
                    </a:lnR>
                    <a:lnT>
                      <a:noFill/>
                    </a:lnT>
                    <a:lnB>
                      <a:noFill/>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53571856"/>
                  </a:ext>
                </a:extLst>
              </a:tr>
              <a:tr h="125696">
                <a:tc gridSpan="8">
                  <a:txBody>
                    <a:bodyPr/>
                    <a:lstStyle/>
                    <a:p>
                      <a:pPr algn="l" fontAlgn="ctr">
                        <a:buNone/>
                      </a:pPr>
                      <a:r>
                        <a:rPr lang="zh-CN" altLang="en-US" sz="600" b="0" i="1" u="none" strike="noStrike">
                          <a:solidFill>
                            <a:srgbClr val="000000"/>
                          </a:solidFill>
                          <a:effectLst/>
                          <a:latin typeface="等线" panose="02010600030101010101" pitchFamily="2" charset="-122"/>
                          <a:ea typeface="等线" panose="02010600030101010101" pitchFamily="2" charset="-122"/>
                        </a:rPr>
                        <a:t>（</a:t>
                      </a:r>
                      <a:r>
                        <a:rPr lang="en-US" altLang="zh-CN" sz="600" b="0" i="1" u="none" strike="noStrike">
                          <a:solidFill>
                            <a:srgbClr val="000000"/>
                          </a:solidFill>
                          <a:effectLst/>
                          <a:latin typeface="等线" panose="02010600030101010101" pitchFamily="2" charset="-122"/>
                          <a:ea typeface="等线" panose="02010600030101010101" pitchFamily="2" charset="-122"/>
                        </a:rPr>
                        <a:t>2</a:t>
                      </a:r>
                      <a:r>
                        <a:rPr lang="zh-CN" altLang="en-US" sz="600" b="0" i="1" u="none" strike="noStrike">
                          <a:solidFill>
                            <a:srgbClr val="000000"/>
                          </a:solidFill>
                          <a:effectLst/>
                          <a:latin typeface="等线" panose="02010600030101010101" pitchFamily="2" charset="-122"/>
                          <a:ea typeface="等线" panose="02010600030101010101" pitchFamily="2" charset="-122"/>
                        </a:rPr>
                        <a:t>）政策冲击的语调分位数回归</a:t>
                      </a:r>
                    </a:p>
                  </a:txBody>
                  <a:tcPr marL="4078" marR="4078" marT="4078" marB="0" anchor="ctr">
                    <a:lnL>
                      <a:noFill/>
                    </a:lnL>
                    <a:lnR>
                      <a:noFill/>
                    </a:lnR>
                    <a:lnT>
                      <a:noFill/>
                    </a:lnT>
                    <a:lnB>
                      <a:noFill/>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4525944"/>
                  </a:ext>
                </a:extLst>
              </a:tr>
              <a:tr h="125696">
                <a:tc gridSpan="8">
                  <a:txBody>
                    <a:bodyPr/>
                    <a:lstStyle/>
                    <a:p>
                      <a:pPr algn="l" fontAlgn="ctr">
                        <a:buNone/>
                      </a:pPr>
                      <a:r>
                        <a:rPr lang="zh-CN" altLang="en-US" sz="600" b="0" i="1" u="none" strike="noStrike">
                          <a:solidFill>
                            <a:srgbClr val="000000"/>
                          </a:solidFill>
                          <a:effectLst/>
                          <a:latin typeface="等线" panose="02010600030101010101" pitchFamily="2" charset="-122"/>
                          <a:ea typeface="等线" panose="02010600030101010101" pitchFamily="2" charset="-122"/>
                        </a:rPr>
                        <a:t>（</a:t>
                      </a:r>
                      <a:r>
                        <a:rPr lang="en-US" altLang="zh-CN" sz="600" b="0" i="1" u="none" strike="noStrike">
                          <a:solidFill>
                            <a:srgbClr val="000000"/>
                          </a:solidFill>
                          <a:effectLst/>
                          <a:latin typeface="等线" panose="02010600030101010101" pitchFamily="2" charset="-122"/>
                          <a:ea typeface="等线" panose="02010600030101010101" pitchFamily="2" charset="-122"/>
                        </a:rPr>
                        <a:t>3</a:t>
                      </a:r>
                      <a:r>
                        <a:rPr lang="zh-CN" altLang="en-US" sz="600" b="0" i="1" u="none" strike="noStrike">
                          <a:solidFill>
                            <a:srgbClr val="000000"/>
                          </a:solidFill>
                          <a:effectLst/>
                          <a:latin typeface="等线" panose="02010600030101010101" pitchFamily="2" charset="-122"/>
                          <a:ea typeface="等线" panose="02010600030101010101" pitchFamily="2" charset="-122"/>
                        </a:rPr>
                        <a:t>）语调冲击的碳排分位数回归</a:t>
                      </a:r>
                    </a:p>
                  </a:txBody>
                  <a:tcPr marL="4078" marR="4078" marT="4078" marB="0" anchor="ctr">
                    <a:lnL>
                      <a:noFill/>
                    </a:lnL>
                    <a:lnR>
                      <a:noFill/>
                    </a:lnR>
                    <a:lnT>
                      <a:noFill/>
                    </a:lnT>
                    <a:lnB>
                      <a:noFill/>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31296624"/>
                  </a:ext>
                </a:extLst>
              </a:tr>
              <a:tr h="125696">
                <a:tc gridSpan="8">
                  <a:txBody>
                    <a:bodyPr/>
                    <a:lstStyle/>
                    <a:p>
                      <a:pPr algn="l" fontAlgn="ctr">
                        <a:buNone/>
                      </a:pPr>
                      <a:r>
                        <a:rPr lang="zh-CN" altLang="en-US" sz="600" b="0" i="1" u="none" strike="noStrike" dirty="0">
                          <a:solidFill>
                            <a:srgbClr val="000000"/>
                          </a:solidFill>
                          <a:effectLst/>
                          <a:latin typeface="等线" panose="02010600030101010101" pitchFamily="2" charset="-122"/>
                          <a:ea typeface="等线" panose="02010600030101010101" pitchFamily="2" charset="-122"/>
                        </a:rPr>
                        <a:t>（</a:t>
                      </a:r>
                      <a:r>
                        <a:rPr lang="en-US" altLang="zh-CN" sz="600" b="0" i="1" u="none" strike="noStrike" dirty="0">
                          <a:solidFill>
                            <a:srgbClr val="000000"/>
                          </a:solidFill>
                          <a:effectLst/>
                          <a:latin typeface="等线" panose="02010600030101010101" pitchFamily="2" charset="-122"/>
                          <a:ea typeface="等线" panose="02010600030101010101" pitchFamily="2" charset="-122"/>
                        </a:rPr>
                        <a:t>4</a:t>
                      </a:r>
                      <a:r>
                        <a:rPr lang="zh-CN" altLang="en-US" sz="600" b="0" i="1" u="none" strike="noStrike" dirty="0">
                          <a:solidFill>
                            <a:srgbClr val="000000"/>
                          </a:solidFill>
                          <a:effectLst/>
                          <a:latin typeface="等线" panose="02010600030101010101" pitchFamily="2" charset="-122"/>
                          <a:ea typeface="等线" panose="02010600030101010101" pitchFamily="2" charset="-122"/>
                        </a:rPr>
                        <a:t>）语调冲击的语调分位数回归</a:t>
                      </a:r>
                    </a:p>
                  </a:txBody>
                  <a:tcPr marL="4078" marR="4078" marT="4078" marB="0" anchor="ctr">
                    <a:lnL>
                      <a:noFill/>
                    </a:lnL>
                    <a:lnR>
                      <a:noFill/>
                    </a:lnR>
                    <a:lnT>
                      <a:noFill/>
                    </a:lnT>
                    <a:lnB>
                      <a:noFill/>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6099213"/>
                  </a:ext>
                </a:extLst>
              </a:tr>
            </a:tbl>
          </a:graphicData>
        </a:graphic>
      </p:graphicFrame>
      <p:sp>
        <p:nvSpPr>
          <p:cNvPr id="11" name="文本框 10">
            <a:extLst>
              <a:ext uri="{FF2B5EF4-FFF2-40B4-BE49-F238E27FC236}">
                <a16:creationId xmlns:a16="http://schemas.microsoft.com/office/drawing/2014/main" id="{22CC756D-ECF9-765D-8888-6C52CB92A0CC}"/>
              </a:ext>
            </a:extLst>
          </p:cNvPr>
          <p:cNvSpPr txBox="1"/>
          <p:nvPr/>
        </p:nvSpPr>
        <p:spPr>
          <a:xfrm>
            <a:off x="7367869" y="1443841"/>
            <a:ext cx="4185447" cy="4247317"/>
          </a:xfrm>
          <a:prstGeom prst="rect">
            <a:avLst/>
          </a:prstGeom>
          <a:noFill/>
        </p:spPr>
        <p:txBody>
          <a:bodyPr wrap="square">
            <a:spAutoFit/>
          </a:bodyPr>
          <a:lstStyle/>
          <a:p>
            <a:pPr algn="l">
              <a:buNone/>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）基准回归结果如表</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所示，可以发现无论是政策冲击还是语调冲击，对不同碳排放过程的影响不同，其中对</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电力行业碳排放、工业燃烧碳排放和燃烧能源碳排放过程</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的冲击影响要比其他过程明显的多；</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buNone/>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进一步对上述结果进行了分位数回归，分别计算了政策冲击的碳排分位数、政策冲击的语调分位数、语调冲击的碳排分位数、语调冲击的语调分位数回归，可以发现不同分位数下的冲击影响亦存在</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异质性</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，且</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分位数回归</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下能够提升上述电力行业碳排放、工业燃烧碳排放和燃烧能源碳排放三个重点过程冲击的显著性。</a:t>
            </a:r>
          </a:p>
        </p:txBody>
      </p:sp>
    </p:spTree>
    <p:extLst>
      <p:ext uri="{BB962C8B-B14F-4D97-AF65-F5344CB8AC3E}">
        <p14:creationId xmlns:p14="http://schemas.microsoft.com/office/powerpoint/2010/main" val="1185826879"/>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DD08E-CFE6-88EF-A056-72870A7AF3AB}"/>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C636D330-516B-1E8F-ACC7-764045C15CF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921671"/>
            <a:ext cx="6049548" cy="6049548"/>
          </a:xfrm>
          <a:prstGeom prst="rect">
            <a:avLst/>
          </a:prstGeom>
        </p:spPr>
      </p:pic>
      <p:grpSp>
        <p:nvGrpSpPr>
          <p:cNvPr id="4" name="组合 3">
            <a:extLst>
              <a:ext uri="{FF2B5EF4-FFF2-40B4-BE49-F238E27FC236}">
                <a16:creationId xmlns:a16="http://schemas.microsoft.com/office/drawing/2014/main" id="{2724DC57-101A-ED5D-1EED-3486671E5C41}"/>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CF938B7A-BB44-2F8E-95FD-3BA5157CA15F}"/>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EC3334A6-C222-107D-C708-CE69A4E4EC73}"/>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90316EF0-4BD5-6041-32AE-7318D2842044}"/>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6D912BEF-1C4B-A56E-0DA0-B1CE1289C26F}"/>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实验</a:t>
            </a:r>
            <a:r>
              <a:rPr lang="en-US" altLang="zh-CN" sz="2400" dirty="0"/>
              <a:t>b</a:t>
            </a:r>
            <a:endParaRPr lang="zh-CN" altLang="zh-CN" sz="2400" dirty="0"/>
          </a:p>
        </p:txBody>
      </p:sp>
      <p:grpSp>
        <p:nvGrpSpPr>
          <p:cNvPr id="43" name="组合 42">
            <a:extLst>
              <a:ext uri="{FF2B5EF4-FFF2-40B4-BE49-F238E27FC236}">
                <a16:creationId xmlns:a16="http://schemas.microsoft.com/office/drawing/2014/main" id="{FC970541-5C85-CAEB-C9F4-5D12D20F036C}"/>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067A0083-D04C-7C6B-E6BD-52AAC606A1E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30C0F7AA-E51C-2373-86F4-B688010A1EC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68BA0B6E-7C49-1916-3AC7-F4C249628B27}"/>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B19205F1-1AF2-1AC6-D647-67BC3452D61C}"/>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832B07C7-EFCE-636E-ED3F-4BFA82A0C3A1}"/>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 name="图片 2">
            <a:extLst>
              <a:ext uri="{FF2B5EF4-FFF2-40B4-BE49-F238E27FC236}">
                <a16:creationId xmlns:a16="http://schemas.microsoft.com/office/drawing/2014/main" id="{282C66CE-3B90-2F56-615A-ACF1AB48158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41580" y="937584"/>
            <a:ext cx="5798991" cy="4217639"/>
          </a:xfrm>
          <a:prstGeom prst="rect">
            <a:avLst/>
          </a:prstGeom>
          <a:noFill/>
          <a:ln>
            <a:noFill/>
          </a:ln>
        </p:spPr>
      </p:pic>
      <p:pic>
        <p:nvPicPr>
          <p:cNvPr id="8" name="图片 7">
            <a:extLst>
              <a:ext uri="{FF2B5EF4-FFF2-40B4-BE49-F238E27FC236}">
                <a16:creationId xmlns:a16="http://schemas.microsoft.com/office/drawing/2014/main" id="{4505D9C3-AC68-1C09-08AB-C38D9080AF8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940571" y="969082"/>
            <a:ext cx="6122134" cy="4081177"/>
          </a:xfrm>
          <a:prstGeom prst="rect">
            <a:avLst/>
          </a:prstGeom>
          <a:noFill/>
          <a:ln>
            <a:noFill/>
          </a:ln>
        </p:spPr>
      </p:pic>
      <p:sp>
        <p:nvSpPr>
          <p:cNvPr id="12" name="文本框 11">
            <a:extLst>
              <a:ext uri="{FF2B5EF4-FFF2-40B4-BE49-F238E27FC236}">
                <a16:creationId xmlns:a16="http://schemas.microsoft.com/office/drawing/2014/main" id="{E8BB6FF1-0727-45A8-8F86-9E1A4A941B18}"/>
              </a:ext>
            </a:extLst>
          </p:cNvPr>
          <p:cNvSpPr txBox="1"/>
          <p:nvPr/>
        </p:nvSpPr>
        <p:spPr>
          <a:xfrm>
            <a:off x="1676425" y="5441299"/>
            <a:ext cx="8839150" cy="923330"/>
          </a:xfrm>
          <a:prstGeom prst="rect">
            <a:avLst/>
          </a:prstGeom>
          <a:noFill/>
        </p:spPr>
        <p:txBody>
          <a:bodyPr wrap="square">
            <a:spAutoFit/>
          </a:bodyPr>
          <a:lstStyle/>
          <a:p>
            <a:pPr algn="l">
              <a:buNone/>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）政策冲击和语调冲击的结果</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并没有很好的一致性</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，进一步考虑事件研究法，各个季度的政策和语调冲击如图</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4</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所示。同样可以发现电力行业碳排放、工业燃烧碳排放和燃烧能源碳排放这三个过程受到了政策和语调的冲击（尽管显著性并不理想）</a:t>
            </a:r>
          </a:p>
        </p:txBody>
      </p:sp>
    </p:spTree>
    <p:extLst>
      <p:ext uri="{BB962C8B-B14F-4D97-AF65-F5344CB8AC3E}">
        <p14:creationId xmlns:p14="http://schemas.microsoft.com/office/powerpoint/2010/main" val="1912132318"/>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F6689-EE03-8E4C-5A71-EE5C06244DEE}"/>
            </a:ext>
          </a:extLst>
        </p:cNvPr>
        <p:cNvGrpSpPr/>
        <p:nvPr/>
      </p:nvGrpSpPr>
      <p:grpSpPr>
        <a:xfrm>
          <a:off x="0" y="0"/>
          <a:ext cx="0" cy="0"/>
          <a:chOff x="0" y="0"/>
          <a:chExt cx="0" cy="0"/>
        </a:xfrm>
      </p:grpSpPr>
      <p:pic>
        <p:nvPicPr>
          <p:cNvPr id="27" name="图片 26">
            <a:extLst>
              <a:ext uri="{FF2B5EF4-FFF2-40B4-BE49-F238E27FC236}">
                <a16:creationId xmlns:a16="http://schemas.microsoft.com/office/drawing/2014/main" id="{D7FA0D40-17D8-465A-3E02-B7CBE428214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A5476FF8-3A47-AA70-B051-2027D9F69D4A}"/>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04</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763746F7-ACEB-2300-FC71-1E59236579BF}"/>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6600" dirty="0"/>
              <a:t>总结</a:t>
            </a:r>
            <a:endPar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a:extLst>
              <a:ext uri="{FF2B5EF4-FFF2-40B4-BE49-F238E27FC236}">
                <a16:creationId xmlns:a16="http://schemas.microsoft.com/office/drawing/2014/main" id="{98153FDB-8DDF-D42F-2099-FCD4BBBB1345}"/>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F28AB305-8891-3443-1BAB-5071B032B0FB}"/>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76F2962E-E7E4-8E40-1E39-1301A0E1A7CB}"/>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61A18B7C-9EE4-3F43-A222-DAC891BA76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B38E0EBD-4A36-4F61-93E6-9CC1EB890E1E}"/>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213A1090-AB63-75E8-1073-F42B7B822E54}"/>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2E8BB489-1FB6-D661-481E-328A6D65F238}"/>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784B3DA0-F693-7F13-2307-BC12D08013B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D458D046-B794-6AC2-7CA9-D4AE28F98966}"/>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E6330EBC-E326-6535-6FD1-AECFAAE36E9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F9D63F6B-BC8D-4E3A-8CE5-B93767BFFBA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4FC71188-9B49-D58D-CC6C-D7A06512423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39651326"/>
      </p:ext>
    </p:extLst>
  </p:cSld>
  <p:clrMapOvr>
    <a:masterClrMapping/>
  </p:clrMapOvr>
  <mc:AlternateContent xmlns:mc="http://schemas.openxmlformats.org/markup-compatibility/2006" xmlns:p14="http://schemas.microsoft.com/office/powerpoint/2010/main">
    <mc:Choice Requires="p14">
      <p:transition spd="slow" p14:dur="2000" advTm="737"/>
    </mc:Choice>
    <mc:Fallback xmlns="">
      <p:transition spd="slow" advTm="73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D86D4-734C-D846-5000-36D5BCD3FF5B}"/>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9167BDE2-5B3E-1544-EB49-E02AD1C4565D}"/>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49023EB2-7F9E-75E0-ACE6-E159747BEA3E}"/>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FF115780-ED9A-E61C-FAF3-707290DEF84D}"/>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0CFED0CB-041E-5E3B-DA3E-8A649DA7BDA0}"/>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404A2A95-602E-AB4C-0579-6410C817C1BF}"/>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总结</a:t>
            </a:r>
            <a:endParaRPr lang="zh-CN" altLang="zh-CN" sz="2400" dirty="0"/>
          </a:p>
        </p:txBody>
      </p:sp>
      <p:pic>
        <p:nvPicPr>
          <p:cNvPr id="52" name="图片 51">
            <a:extLst>
              <a:ext uri="{FF2B5EF4-FFF2-40B4-BE49-F238E27FC236}">
                <a16:creationId xmlns:a16="http://schemas.microsoft.com/office/drawing/2014/main" id="{D81602E7-2B64-4A9F-F834-60AF597FE193}"/>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38BEA253-EC8D-E01C-E737-8E5735BFA5BE}"/>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A2FBD61F-4861-D8A0-4420-8E66D86ABE2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4C127EC2-44C4-0145-3F54-8EC8AAC5F38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31CA8F6E-A847-16A7-D766-A113673BB327}"/>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F7C4DCDC-9E8E-7D36-CF4A-98248DC457A0}"/>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8" name="文本框 7">
            <a:extLst>
              <a:ext uri="{FF2B5EF4-FFF2-40B4-BE49-F238E27FC236}">
                <a16:creationId xmlns:a16="http://schemas.microsoft.com/office/drawing/2014/main" id="{215D543F-2FF3-E657-72D2-83ED36DB2219}"/>
              </a:ext>
            </a:extLst>
          </p:cNvPr>
          <p:cNvSpPr txBox="1"/>
          <p:nvPr/>
        </p:nvSpPr>
        <p:spPr>
          <a:xfrm>
            <a:off x="621872" y="1034898"/>
            <a:ext cx="10003900" cy="4524315"/>
          </a:xfrm>
          <a:prstGeom prst="rect">
            <a:avLst/>
          </a:prstGeom>
          <a:noFill/>
        </p:spPr>
        <p:txBody>
          <a:bodyPr wrap="square">
            <a:spAutoFit/>
          </a:bodyPr>
          <a:lstStyle/>
          <a:p>
            <a:pPr algn="l">
              <a:buNone/>
            </a:pPr>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这种程度的计量结果能不能放上去</a:t>
            </a:r>
            <a:endParaRPr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algn="l">
              <a:buNone/>
            </a:pP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rPr>
              <a:t>现在我们只拿了一篇，但是从逻辑上</a:t>
            </a:r>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《2030</a:t>
            </a:r>
            <a:r>
              <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rPr>
              <a:t>年前碳达峰实施方案</a:t>
            </a:r>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en-US" sz="1600" kern="100" dirty="0">
                <a:latin typeface="Calibri" panose="020F0502020204030204" pitchFamily="34" charset="0"/>
                <a:cs typeface="Times New Roman" panose="02020603050405020304" pitchFamily="18" charset="0"/>
              </a:rPr>
              <a:t>中共中央、国务院关于完整准确全面贯彻新发展理念做好碳达峰碳中和工作的意见</a:t>
            </a:r>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rPr>
              <a:t>都属于“</a:t>
            </a:r>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1+N</a:t>
            </a:r>
            <a:r>
              <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rPr>
              <a:t>”政策体系中的</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a:t>
            </a:r>
            <a:r>
              <a:rPr lang="en-US" altLang="zh-CN" sz="1600" kern="100" dirty="0">
                <a:latin typeface="Calibri" panose="020F0502020204030204" pitchFamily="34" charset="0"/>
                <a:ea typeface="宋体" panose="02010600030101010101" pitchFamily="2" charset="-122"/>
                <a:cs typeface="Times New Roman" panose="02020603050405020304" pitchFamily="18" charset="0"/>
              </a:rPr>
              <a:t>1</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”，应该把这两个都用上，但是就可能会出现</a:t>
            </a:r>
            <a:endPar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方案</a:t>
            </a: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a:t>
            </a: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2022</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年，语调</a:t>
            </a: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2.31</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，碳治理指标</a:t>
            </a: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1.01</a:t>
            </a:r>
          </a:p>
          <a:p>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意见</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2022</a:t>
            </a: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年，语调</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1.91</a:t>
            </a: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，碳治理指标</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1.01</a:t>
            </a:r>
            <a:endParaRPr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r>
              <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rPr>
              <a:t>这时候我要把意见用进去的话，是不是需要将这两个语调做个加总？</a:t>
            </a:r>
            <a:endPar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endParaRPr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endParaRPr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如果现在基于</a:t>
            </a:r>
            <a:r>
              <a:rPr lang="en-US" altLang="zh-CN" sz="1600" kern="100" dirty="0">
                <a:latin typeface="Calibri" panose="020F0502020204030204" pitchFamily="34" charset="0"/>
                <a:ea typeface="宋体" panose="02010600030101010101" pitchFamily="2" charset="-122"/>
                <a:cs typeface="Times New Roman" panose="02020603050405020304" pitchFamily="18" charset="0"/>
              </a:rPr>
              <a:t>did</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和双向固定效应的结果实在放不上去，有没有其他可能去试一试的计量方法？</a:t>
            </a:r>
            <a:endParaRPr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r>
              <a:rPr lang="en-US" altLang="zh-CN" sz="1400" dirty="0">
                <a:solidFill>
                  <a:srgbClr val="FF0000"/>
                </a:solidFill>
              </a:rPr>
              <a:t>Ba Z, Zhao Y C, Liu X, et al. </a:t>
            </a:r>
            <a:r>
              <a:rPr lang="en-US" altLang="zh-CN" sz="1400" dirty="0" err="1">
                <a:solidFill>
                  <a:srgbClr val="FF0000"/>
                </a:solidFill>
              </a:rPr>
              <a:t>Spatio</a:t>
            </a:r>
            <a:r>
              <a:rPr lang="en-US" altLang="zh-CN" sz="1400" dirty="0">
                <a:solidFill>
                  <a:srgbClr val="FF0000"/>
                </a:solidFill>
              </a:rPr>
              <a:t>-temporal dynamics and determinants of new energy policy diffusion in China: A policy citation approach[J]. Journal of Cleaner Production, 2022, 376: 134270.</a:t>
            </a:r>
          </a:p>
          <a:p>
            <a:endParaRPr lang="zh-CN" altLang="zh-CN" dirty="0"/>
          </a:p>
          <a:p>
            <a:endPar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06596911-B2FF-A26A-0C1C-894C5DF86E20}"/>
              </a:ext>
            </a:extLst>
          </p:cNvPr>
          <p:cNvPicPr>
            <a:picLocks noChangeAspect="1"/>
          </p:cNvPicPr>
          <p:nvPr/>
        </p:nvPicPr>
        <p:blipFill>
          <a:blip r:embed="rId6"/>
          <a:stretch>
            <a:fillRect/>
          </a:stretch>
        </p:blipFill>
        <p:spPr>
          <a:xfrm>
            <a:off x="3250260" y="5184380"/>
            <a:ext cx="4747123" cy="920115"/>
          </a:xfrm>
          <a:prstGeom prst="rect">
            <a:avLst/>
          </a:prstGeom>
        </p:spPr>
      </p:pic>
    </p:spTree>
    <p:extLst>
      <p:ext uri="{BB962C8B-B14F-4D97-AF65-F5344CB8AC3E}">
        <p14:creationId xmlns:p14="http://schemas.microsoft.com/office/powerpoint/2010/main" val="2301065285"/>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974FAECE-52C2-4A19-98CB-143BFA01D67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764852" y="1350313"/>
            <a:ext cx="6117528" cy="6117528"/>
          </a:xfrm>
          <a:prstGeom prst="rect">
            <a:avLst/>
          </a:prstGeom>
        </p:spPr>
      </p:pic>
      <p:pic>
        <p:nvPicPr>
          <p:cNvPr id="8" name="图片 7">
            <a:extLst>
              <a:ext uri="{FF2B5EF4-FFF2-40B4-BE49-F238E27FC236}">
                <a16:creationId xmlns:a16="http://schemas.microsoft.com/office/drawing/2014/main" id="{FE573614-05E6-400F-AF88-EA6961E0832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91345" y="116631"/>
            <a:ext cx="11809308" cy="5226782"/>
          </a:xfrm>
          <a:prstGeom prst="rect">
            <a:avLst/>
          </a:prstGeom>
        </p:spPr>
      </p:pic>
      <p:sp>
        <p:nvSpPr>
          <p:cNvPr id="7" name="矩形 6">
            <a:extLst>
              <a:ext uri="{FF2B5EF4-FFF2-40B4-BE49-F238E27FC236}">
                <a16:creationId xmlns:a16="http://schemas.microsoft.com/office/drawing/2014/main" id="{C9FC9252-9697-4073-AFE0-28B73C8FCF98}"/>
              </a:ext>
            </a:extLst>
          </p:cNvPr>
          <p:cNvSpPr/>
          <p:nvPr/>
        </p:nvSpPr>
        <p:spPr>
          <a:xfrm>
            <a:off x="191345" y="116631"/>
            <a:ext cx="11809309" cy="5226782"/>
          </a:xfrm>
          <a:prstGeom prst="rect">
            <a:avLst/>
          </a:prstGeom>
          <a:solidFill>
            <a:srgbClr val="024282">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5" name="文本占位符 30">
            <a:extLst>
              <a:ext uri="{FF2B5EF4-FFF2-40B4-BE49-F238E27FC236}">
                <a16:creationId xmlns:a16="http://schemas.microsoft.com/office/drawing/2014/main" id="{AEC1EBF5-5340-4DC9-8A70-4D38A7CD9401}"/>
              </a:ext>
            </a:extLst>
          </p:cNvPr>
          <p:cNvSpPr txBox="1">
            <a:spLocks/>
          </p:cNvSpPr>
          <p:nvPr/>
        </p:nvSpPr>
        <p:spPr>
          <a:xfrm>
            <a:off x="3121932"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汇报人：清北情报站</a:t>
            </a:r>
          </a:p>
        </p:txBody>
      </p:sp>
      <p:sp>
        <p:nvSpPr>
          <p:cNvPr id="16" name="文本占位符 31">
            <a:extLst>
              <a:ext uri="{FF2B5EF4-FFF2-40B4-BE49-F238E27FC236}">
                <a16:creationId xmlns:a16="http://schemas.microsoft.com/office/drawing/2014/main" id="{DF081BEA-0677-4367-99A9-244DBE9DC50B}"/>
              </a:ext>
            </a:extLst>
          </p:cNvPr>
          <p:cNvSpPr txBox="1">
            <a:spLocks/>
          </p:cNvSpPr>
          <p:nvPr/>
        </p:nvSpPr>
        <p:spPr>
          <a:xfrm>
            <a:off x="6460218"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指导老师：公众号</a:t>
            </a:r>
          </a:p>
        </p:txBody>
      </p:sp>
      <p:grpSp>
        <p:nvGrpSpPr>
          <p:cNvPr id="19" name="组合 18">
            <a:extLst>
              <a:ext uri="{FF2B5EF4-FFF2-40B4-BE49-F238E27FC236}">
                <a16:creationId xmlns:a16="http://schemas.microsoft.com/office/drawing/2014/main" id="{84995886-2C45-43AA-97AB-D7F04D61C9DF}"/>
              </a:ext>
            </a:extLst>
          </p:cNvPr>
          <p:cNvGrpSpPr/>
          <p:nvPr/>
        </p:nvGrpSpPr>
        <p:grpSpPr>
          <a:xfrm>
            <a:off x="3879975" y="1131474"/>
            <a:ext cx="4918925" cy="1253932"/>
            <a:chOff x="751446" y="486412"/>
            <a:chExt cx="4918925" cy="1253932"/>
          </a:xfrm>
        </p:grpSpPr>
        <p:pic>
          <p:nvPicPr>
            <p:cNvPr id="21" name="图片 20">
              <a:extLst>
                <a:ext uri="{FF2B5EF4-FFF2-40B4-BE49-F238E27FC236}">
                  <a16:creationId xmlns:a16="http://schemas.microsoft.com/office/drawing/2014/main" id="{06EB3F4A-6D0E-42C9-A048-FCD40EC7438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751446" y="486412"/>
              <a:ext cx="1253932" cy="1253932"/>
            </a:xfrm>
            <a:prstGeom prst="rect">
              <a:avLst/>
            </a:prstGeom>
          </p:spPr>
        </p:pic>
        <p:pic>
          <p:nvPicPr>
            <p:cNvPr id="22" name="图片 21">
              <a:extLst>
                <a:ext uri="{FF2B5EF4-FFF2-40B4-BE49-F238E27FC236}">
                  <a16:creationId xmlns:a16="http://schemas.microsoft.com/office/drawing/2014/main" id="{EB2FA68D-EEA8-4FAB-AD8F-D4B373F2EC66}"/>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960350" y="609785"/>
              <a:ext cx="3710021" cy="607920"/>
            </a:xfrm>
            <a:prstGeom prst="rect">
              <a:avLst/>
            </a:prstGeom>
          </p:spPr>
        </p:pic>
        <p:sp>
          <p:nvSpPr>
            <p:cNvPr id="23" name="矩形 22">
              <a:extLst>
                <a:ext uri="{FF2B5EF4-FFF2-40B4-BE49-F238E27FC236}">
                  <a16:creationId xmlns:a16="http://schemas.microsoft.com/office/drawing/2014/main" id="{3B0BCE8E-261E-425C-A6BF-96341D5501E7}"/>
                </a:ext>
              </a:extLst>
            </p:cNvPr>
            <p:cNvSpPr/>
            <p:nvPr/>
          </p:nvSpPr>
          <p:spPr>
            <a:xfrm>
              <a:off x="2167394" y="1226892"/>
              <a:ext cx="3502977" cy="307777"/>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BEIHANG UNIVERSITY</a:t>
              </a:r>
              <a:endParaRPr kumimoji="0" lang="zh-CN" altLang="en-US" sz="14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sp>
        <p:nvSpPr>
          <p:cNvPr id="18" name="文本占位符 24">
            <a:extLst>
              <a:ext uri="{FF2B5EF4-FFF2-40B4-BE49-F238E27FC236}">
                <a16:creationId xmlns:a16="http://schemas.microsoft.com/office/drawing/2014/main" id="{ED6A891B-380D-485C-811B-DDFCE0E349F9}"/>
              </a:ext>
            </a:extLst>
          </p:cNvPr>
          <p:cNvSpPr txBox="1">
            <a:spLocks/>
          </p:cNvSpPr>
          <p:nvPr/>
        </p:nvSpPr>
        <p:spPr>
          <a:xfrm>
            <a:off x="191347" y="2324320"/>
            <a:ext cx="11809308" cy="141560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zh-CN" altLang="en-US" sz="72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  汇报结束  感谢聆听</a:t>
            </a:r>
            <a:r>
              <a:rPr kumimoji="0" lang="zh-CN" altLang="en-US" sz="7200" b="1" i="1"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a:t>
            </a:r>
          </a:p>
        </p:txBody>
      </p:sp>
      <p:cxnSp>
        <p:nvCxnSpPr>
          <p:cNvPr id="26" name="直接连接符 25">
            <a:extLst>
              <a:ext uri="{FF2B5EF4-FFF2-40B4-BE49-F238E27FC236}">
                <a16:creationId xmlns:a16="http://schemas.microsoft.com/office/drawing/2014/main" id="{800128EB-8591-4195-ACEA-9A766601615E}"/>
              </a:ext>
            </a:extLst>
          </p:cNvPr>
          <p:cNvCxnSpPr/>
          <p:nvPr/>
        </p:nvCxnSpPr>
        <p:spPr>
          <a:xfrm>
            <a:off x="2567608" y="3888438"/>
            <a:ext cx="691276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7" name="图片 26">
            <a:extLst>
              <a:ext uri="{FF2B5EF4-FFF2-40B4-BE49-F238E27FC236}">
                <a16:creationId xmlns:a16="http://schemas.microsoft.com/office/drawing/2014/main" id="{638E0185-FC14-44BE-92F4-520A043919DA}"/>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2039657" y="4040776"/>
            <a:ext cx="8112685" cy="734387"/>
          </a:xfrm>
          <a:prstGeom prst="rect">
            <a:avLst/>
          </a:prstGeom>
        </p:spPr>
      </p:pic>
    </p:spTree>
    <p:extLst>
      <p:ext uri="{BB962C8B-B14F-4D97-AF65-F5344CB8AC3E}">
        <p14:creationId xmlns:p14="http://schemas.microsoft.com/office/powerpoint/2010/main" val="3586167622"/>
      </p:ext>
    </p:extLst>
  </p:cSld>
  <p:clrMapOvr>
    <a:masterClrMapping/>
  </p:clrMapOvr>
  <mc:AlternateContent xmlns:mc="http://schemas.openxmlformats.org/markup-compatibility/2006" xmlns:p14="http://schemas.microsoft.com/office/powerpoint/2010/main">
    <mc:Choice Requires="p14">
      <p:transition spd="slow" p14:dur="2000" advTm="1198"/>
    </mc:Choice>
    <mc:Fallback xmlns="">
      <p:transition spd="slow" advTm="1198"/>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ADDD7-ADA1-1CBF-B507-2B7A3C510EF0}"/>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A5E5B896-71C7-0719-FF6F-810C3132CF60}"/>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8860FF2B-AED5-E491-D48A-89EEA903CC21}"/>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8173B44-A09C-5136-11A3-4106045E2F9E}"/>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F2B19769-27F1-65D2-C2BC-8C9AD8DBED73}"/>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ABB3F909-F236-6B3B-B584-5A4F6857931C}"/>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271C6C9B-93F3-9C50-0DBF-60EE7AA2C761}"/>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1B9FC259-F86A-ECDD-5428-06AAA593B2B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48042B21-C596-A5FC-6C12-AA30CDEA924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C4F166B7-828F-4201-A8E7-E6860AD3EAA8}"/>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E369E58F-8DED-6F8E-B294-8EC8FB2FDA91}"/>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DFF39222-C21C-6897-5BF0-63CE25ACC697}"/>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 name="图片 1">
            <a:extLst>
              <a:ext uri="{FF2B5EF4-FFF2-40B4-BE49-F238E27FC236}">
                <a16:creationId xmlns:a16="http://schemas.microsoft.com/office/drawing/2014/main" id="{2D77497E-E6EA-98EA-DD51-CE99C6BF5CC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019187" y="969082"/>
            <a:ext cx="7720926" cy="5615472"/>
          </a:xfrm>
          <a:prstGeom prst="rect">
            <a:avLst/>
          </a:prstGeom>
          <a:noFill/>
          <a:ln>
            <a:noFill/>
          </a:ln>
        </p:spPr>
      </p:pic>
    </p:spTree>
    <p:extLst>
      <p:ext uri="{BB962C8B-B14F-4D97-AF65-F5344CB8AC3E}">
        <p14:creationId xmlns:p14="http://schemas.microsoft.com/office/powerpoint/2010/main" val="2714338470"/>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E730F-84F2-13F6-5970-54CA9E62B9C5}"/>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403815FC-B4E4-475A-5B28-74C96F376946}"/>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8254A6FC-FA0C-C003-8897-81B5AB7DAAD5}"/>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114D2F6D-6DBB-DADC-4409-55FFB4BCFFBE}"/>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C74CFF38-613D-86DE-D088-6313DC3C400D}"/>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6E30B25-567E-79C6-F437-EAB846732826}"/>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48B0C4AE-DA8F-A95C-52F5-8B744EC66F66}"/>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F55A2A13-1E6F-5522-1A17-597C4A2C0DE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5837CCC5-0F29-4909-9B0A-D8EDA125AD8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2F350322-6C1E-4F3E-194E-75DED62C9BE0}"/>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BBF2EA6F-C9FA-8BB6-3C69-43659B8B61BB}"/>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9732D995-7154-9F66-F9F6-BA54279797D7}"/>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图片 7">
            <a:extLst>
              <a:ext uri="{FF2B5EF4-FFF2-40B4-BE49-F238E27FC236}">
                <a16:creationId xmlns:a16="http://schemas.microsoft.com/office/drawing/2014/main" id="{9A7A5849-28E5-D48F-32BF-D3BE197BBA2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423017" y="921671"/>
            <a:ext cx="8764684" cy="5842771"/>
          </a:xfrm>
          <a:prstGeom prst="rect">
            <a:avLst/>
          </a:prstGeom>
          <a:noFill/>
          <a:ln>
            <a:noFill/>
          </a:ln>
        </p:spPr>
      </p:pic>
    </p:spTree>
    <p:extLst>
      <p:ext uri="{BB962C8B-B14F-4D97-AF65-F5344CB8AC3E}">
        <p14:creationId xmlns:p14="http://schemas.microsoft.com/office/powerpoint/2010/main" val="1925298707"/>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79C36-DC31-AECC-B46B-740A8602ACD1}"/>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87C96C4B-9D9D-0427-7682-6613840DC140}"/>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DD2086C7-2E02-6D80-E963-B94D73848FD7}"/>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AD27FD5F-7143-C2DC-7D18-136B72687DCC}"/>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2DE577BE-D9B2-7C1D-4C80-4E083EC80632}"/>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6ADE447B-F40E-0E67-CD94-084039D77ACE}"/>
              </a:ext>
            </a:extLst>
          </p:cNvPr>
          <p:cNvSpPr txBox="1">
            <a:spLocks/>
          </p:cNvSpPr>
          <p:nvPr/>
        </p:nvSpPr>
        <p:spPr>
          <a:xfrm>
            <a:off x="1022081" y="206357"/>
            <a:ext cx="6787135" cy="5228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结果</a:t>
            </a:r>
            <a:endParaRPr lang="zh-CN" altLang="zh-CN" sz="2400" dirty="0"/>
          </a:p>
        </p:txBody>
      </p:sp>
      <p:grpSp>
        <p:nvGrpSpPr>
          <p:cNvPr id="43" name="组合 42">
            <a:extLst>
              <a:ext uri="{FF2B5EF4-FFF2-40B4-BE49-F238E27FC236}">
                <a16:creationId xmlns:a16="http://schemas.microsoft.com/office/drawing/2014/main" id="{B9F82822-AF13-03AB-A539-03B7FE6AC890}"/>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05F09DDA-E921-228A-C687-1A11E4888B1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63F5A79E-D8D4-6380-BDDF-5678E8392BE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F5FC7632-6758-FA77-C621-2B02EFA89427}"/>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4" name="矩形 23">
            <a:extLst>
              <a:ext uri="{FF2B5EF4-FFF2-40B4-BE49-F238E27FC236}">
                <a16:creationId xmlns:a16="http://schemas.microsoft.com/office/drawing/2014/main" id="{451D16A4-EAC2-CCBC-43D4-D2FA73F4FF06}"/>
              </a:ext>
            </a:extLst>
          </p:cNvPr>
          <p:cNvSpPr/>
          <p:nvPr/>
        </p:nvSpPr>
        <p:spPr>
          <a:xfrm>
            <a:off x="3954371" y="2373872"/>
            <a:ext cx="1560347" cy="461665"/>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lang="zh-CN" altLang="en-US" sz="2400" kern="0" dirty="0">
                <a:solidFill>
                  <a:sysClr val="window" lastClr="FFFFFF"/>
                </a:solidFill>
                <a:latin typeface="微软雅黑" pitchFamily="34" charset="-122"/>
                <a:ea typeface="微软雅黑" pitchFamily="34" charset="-122"/>
              </a:rPr>
              <a:t>方法构建</a:t>
            </a:r>
            <a:endParaRPr kumimoji="0" lang="en-US" altLang="zh-CN" sz="24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sp>
        <p:nvSpPr>
          <p:cNvPr id="16" name="Rectangle 9">
            <a:extLst>
              <a:ext uri="{FF2B5EF4-FFF2-40B4-BE49-F238E27FC236}">
                <a16:creationId xmlns:a16="http://schemas.microsoft.com/office/drawing/2014/main" id="{C6468990-DEAC-795C-81ED-0B6288F4476D}"/>
              </a:ext>
            </a:extLst>
          </p:cNvPr>
          <p:cNvSpPr>
            <a:spLocks noChangeArrowheads="1"/>
          </p:cNvSpPr>
          <p:nvPr/>
        </p:nvSpPr>
        <p:spPr bwMode="auto">
          <a:xfrm>
            <a:off x="436005" y="223604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 name="图片 1">
            <a:extLst>
              <a:ext uri="{FF2B5EF4-FFF2-40B4-BE49-F238E27FC236}">
                <a16:creationId xmlns:a16="http://schemas.microsoft.com/office/drawing/2014/main" id="{AF9E7BC7-0F8A-983C-94F3-79ED64F9967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54519" y="1247930"/>
            <a:ext cx="10105655" cy="4946977"/>
          </a:xfrm>
          <a:prstGeom prst="rect">
            <a:avLst/>
          </a:prstGeom>
          <a:noFill/>
          <a:ln>
            <a:noFill/>
          </a:ln>
        </p:spPr>
      </p:pic>
    </p:spTree>
    <p:extLst>
      <p:ext uri="{BB962C8B-B14F-4D97-AF65-F5344CB8AC3E}">
        <p14:creationId xmlns:p14="http://schemas.microsoft.com/office/powerpoint/2010/main" val="1103937663"/>
      </p:ext>
    </p:extLst>
  </p:cSld>
  <p:clrMapOvr>
    <a:masterClrMapping/>
  </p:clrMapOvr>
  <mc:AlternateContent xmlns:mc="http://schemas.openxmlformats.org/markup-compatibility/2006" xmlns:p14="http://schemas.microsoft.com/office/powerpoint/2010/main">
    <mc:Choice Requires="p14">
      <p:transition spd="slow" p14:dur="2000" advTm="31201"/>
    </mc:Choice>
    <mc:Fallback xmlns="">
      <p:transition spd="slow" advTm="31201"/>
    </mc:Fallback>
  </mc:AlternateContent>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6234</TotalTime>
  <Words>2958</Words>
  <Application>Microsoft Office PowerPoint</Application>
  <PresentationFormat>宽屏</PresentationFormat>
  <Paragraphs>725</Paragraphs>
  <Slides>22</Slides>
  <Notes>12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等线</vt:lpstr>
      <vt:lpstr>宋体</vt:lpstr>
      <vt:lpstr>微软雅黑</vt:lpstr>
      <vt:lpstr>Arial</vt:lpstr>
      <vt:lpstr>Arial Black</vt:lpstr>
      <vt:lpstr>Calibri</vt:lpstr>
      <vt:lpstr>Helvetica</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超涵 章</cp:lastModifiedBy>
  <cp:revision>90</cp:revision>
  <dcterms:created xsi:type="dcterms:W3CDTF">2020-07-27T01:08:13Z</dcterms:created>
  <dcterms:modified xsi:type="dcterms:W3CDTF">2025-11-20T07:53:15Z</dcterms:modified>
</cp:coreProperties>
</file>