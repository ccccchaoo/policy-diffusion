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61" r:id="rId2"/>
    <p:sldId id="262" r:id="rId3"/>
    <p:sldId id="334" r:id="rId4"/>
    <p:sldId id="335" r:id="rId5"/>
    <p:sldId id="380" r:id="rId6"/>
    <p:sldId id="291" r:id="rId7"/>
    <p:sldId id="341" r:id="rId8"/>
    <p:sldId id="381" r:id="rId9"/>
    <p:sldId id="295" r:id="rId10"/>
    <p:sldId id="357" r:id="rId11"/>
    <p:sldId id="382" r:id="rId12"/>
    <p:sldId id="383" r:id="rId13"/>
    <p:sldId id="384" r:id="rId14"/>
    <p:sldId id="395" r:id="rId15"/>
    <p:sldId id="396" r:id="rId16"/>
    <p:sldId id="313" r:id="rId17"/>
    <p:sldId id="385" r:id="rId18"/>
    <p:sldId id="386" r:id="rId19"/>
    <p:sldId id="387" r:id="rId20"/>
    <p:sldId id="388" r:id="rId21"/>
    <p:sldId id="389" r:id="rId22"/>
    <p:sldId id="390" r:id="rId23"/>
    <p:sldId id="391" r:id="rId24"/>
    <p:sldId id="392" r:id="rId25"/>
    <p:sldId id="393" r:id="rId26"/>
    <p:sldId id="394"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18" autoAdjust="0"/>
    <p:restoredTop sz="94660"/>
  </p:normalViewPr>
  <p:slideViewPr>
    <p:cSldViewPr snapToGrid="0" showGuides="1">
      <p:cViewPr varScale="1">
        <p:scale>
          <a:sx n="126" d="100"/>
          <a:sy n="126" d="100"/>
        </p:scale>
        <p:origin x="86" y="19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E977C3-5D49-4AE3-94A3-4A850F718679}" type="datetimeFigureOut">
              <a:rPr lang="zh-CN" altLang="en-US" smtClean="0"/>
              <a:pPr/>
              <a:t>2025/10/21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D3FDB9-DDE0-4054-8528-4EF247FF7996}" type="slidenum">
              <a:rPr lang="zh-CN" altLang="en-US" smtClean="0"/>
              <a:pPr/>
              <a:t>‹#›</a:t>
            </a:fld>
            <a:endParaRPr lang="zh-CN" altLang="en-US"/>
          </a:p>
        </p:txBody>
      </p:sp>
    </p:spTree>
    <p:extLst>
      <p:ext uri="{BB962C8B-B14F-4D97-AF65-F5344CB8AC3E}">
        <p14:creationId xmlns:p14="http://schemas.microsoft.com/office/powerpoint/2010/main" val="295207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1D3FDB9-DDE0-4054-8528-4EF247FF7996}" type="slidenum">
              <a:rPr lang="zh-CN" altLang="en-US" smtClean="0"/>
              <a:pPr/>
              <a:t>1</a:t>
            </a:fld>
            <a:endParaRPr lang="zh-CN" altLang="en-US"/>
          </a:p>
        </p:txBody>
      </p:sp>
    </p:spTree>
    <p:extLst>
      <p:ext uri="{BB962C8B-B14F-4D97-AF65-F5344CB8AC3E}">
        <p14:creationId xmlns:p14="http://schemas.microsoft.com/office/powerpoint/2010/main" val="2849816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1D3FDB9-DDE0-4054-8528-4EF247FF7996}" type="slidenum">
              <a:rPr lang="zh-CN" altLang="en-US" smtClean="0"/>
              <a:pPr/>
              <a:t>7</a:t>
            </a:fld>
            <a:endParaRPr lang="zh-CN" altLang="en-US"/>
          </a:p>
        </p:txBody>
      </p:sp>
    </p:spTree>
    <p:extLst>
      <p:ext uri="{BB962C8B-B14F-4D97-AF65-F5344CB8AC3E}">
        <p14:creationId xmlns:p14="http://schemas.microsoft.com/office/powerpoint/2010/main" val="1787143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CCD05-6A1B-CA2C-3415-FF8208CBAD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020465-2EA6-6BC7-ABF3-B260FF81AF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93FACC6-A5D1-C8C3-44CD-E9569401CB8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DE607DF-7092-D1F2-A4A0-82D3230BC57B}"/>
              </a:ext>
            </a:extLst>
          </p:cNvPr>
          <p:cNvSpPr>
            <a:spLocks noGrp="1"/>
          </p:cNvSpPr>
          <p:nvPr>
            <p:ph type="sldNum" sz="quarter" idx="5"/>
          </p:nvPr>
        </p:nvSpPr>
        <p:spPr/>
        <p:txBody>
          <a:bodyPr/>
          <a:lstStyle/>
          <a:p>
            <a:fld id="{D1D3FDB9-DDE0-4054-8528-4EF247FF7996}" type="slidenum">
              <a:rPr lang="zh-CN" altLang="en-US" smtClean="0"/>
              <a:pPr/>
              <a:t>8</a:t>
            </a:fld>
            <a:endParaRPr lang="zh-CN" altLang="en-US"/>
          </a:p>
        </p:txBody>
      </p:sp>
    </p:spTree>
    <p:extLst>
      <p:ext uri="{BB962C8B-B14F-4D97-AF65-F5344CB8AC3E}">
        <p14:creationId xmlns:p14="http://schemas.microsoft.com/office/powerpoint/2010/main" val="3374233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A6B97-8372-B473-CD25-77B28DEC7F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668465-1519-CB31-FFA7-1BD472D126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415D389-DEBD-36EC-3E94-D723E0F9C80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F7F8316-0832-74B1-2A53-F1AB281983B0}"/>
              </a:ext>
            </a:extLst>
          </p:cNvPr>
          <p:cNvSpPr>
            <a:spLocks noGrp="1"/>
          </p:cNvSpPr>
          <p:nvPr>
            <p:ph type="sldNum" sz="quarter" idx="5"/>
          </p:nvPr>
        </p:nvSpPr>
        <p:spPr/>
        <p:txBody>
          <a:bodyPr/>
          <a:lstStyle/>
          <a:p>
            <a:fld id="{D1D3FDB9-DDE0-4054-8528-4EF247FF7996}" type="slidenum">
              <a:rPr lang="zh-CN" altLang="en-US" smtClean="0"/>
              <a:pPr/>
              <a:t>10</a:t>
            </a:fld>
            <a:endParaRPr lang="zh-CN" altLang="en-US"/>
          </a:p>
        </p:txBody>
      </p:sp>
    </p:spTree>
    <p:extLst>
      <p:ext uri="{BB962C8B-B14F-4D97-AF65-F5344CB8AC3E}">
        <p14:creationId xmlns:p14="http://schemas.microsoft.com/office/powerpoint/2010/main" val="4216029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F5420-0A1F-4B91-C394-DBC5A02C55D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9A8BAE-76D8-1F95-5761-9F1323BA5F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7A2179-8CE3-42DD-1D6D-62B4107189A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85FE3D6-6D79-170F-649E-A6F20CD37B11}"/>
              </a:ext>
            </a:extLst>
          </p:cNvPr>
          <p:cNvSpPr>
            <a:spLocks noGrp="1"/>
          </p:cNvSpPr>
          <p:nvPr>
            <p:ph type="sldNum" sz="quarter" idx="5"/>
          </p:nvPr>
        </p:nvSpPr>
        <p:spPr/>
        <p:txBody>
          <a:bodyPr/>
          <a:lstStyle/>
          <a:p>
            <a:fld id="{D1D3FDB9-DDE0-4054-8528-4EF247FF7996}" type="slidenum">
              <a:rPr lang="zh-CN" altLang="en-US" smtClean="0"/>
              <a:pPr/>
              <a:t>11</a:t>
            </a:fld>
            <a:endParaRPr lang="zh-CN" altLang="en-US"/>
          </a:p>
        </p:txBody>
      </p:sp>
    </p:spTree>
    <p:extLst>
      <p:ext uri="{BB962C8B-B14F-4D97-AF65-F5344CB8AC3E}">
        <p14:creationId xmlns:p14="http://schemas.microsoft.com/office/powerpoint/2010/main" val="3427614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D91FB-3B6D-FF75-ABB0-23B5DAAF01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ED4C37-0D3E-67FB-EEC9-43E45E8E14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AADE984-502C-75B4-FC7A-55EF1D6671E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3E230DC-F694-0F9F-7281-E6DD9245D432}"/>
              </a:ext>
            </a:extLst>
          </p:cNvPr>
          <p:cNvSpPr>
            <a:spLocks noGrp="1"/>
          </p:cNvSpPr>
          <p:nvPr>
            <p:ph type="sldNum" sz="quarter" idx="5"/>
          </p:nvPr>
        </p:nvSpPr>
        <p:spPr/>
        <p:txBody>
          <a:bodyPr/>
          <a:lstStyle/>
          <a:p>
            <a:fld id="{D1D3FDB9-DDE0-4054-8528-4EF247FF7996}" type="slidenum">
              <a:rPr lang="zh-CN" altLang="en-US" smtClean="0"/>
              <a:pPr/>
              <a:t>12</a:t>
            </a:fld>
            <a:endParaRPr lang="zh-CN" altLang="en-US"/>
          </a:p>
        </p:txBody>
      </p:sp>
    </p:spTree>
    <p:extLst>
      <p:ext uri="{BB962C8B-B14F-4D97-AF65-F5344CB8AC3E}">
        <p14:creationId xmlns:p14="http://schemas.microsoft.com/office/powerpoint/2010/main" val="2520666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F5F23-9A93-98BF-DFA5-C4E99BD428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F27551-BF28-9550-68A9-3A28C37F170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551D9C-553F-FA71-3941-EF8774563A2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E03619F-F936-494E-07CB-162263B869CB}"/>
              </a:ext>
            </a:extLst>
          </p:cNvPr>
          <p:cNvSpPr>
            <a:spLocks noGrp="1"/>
          </p:cNvSpPr>
          <p:nvPr>
            <p:ph type="sldNum" sz="quarter" idx="5"/>
          </p:nvPr>
        </p:nvSpPr>
        <p:spPr/>
        <p:txBody>
          <a:bodyPr/>
          <a:lstStyle/>
          <a:p>
            <a:fld id="{D1D3FDB9-DDE0-4054-8528-4EF247FF7996}" type="slidenum">
              <a:rPr lang="zh-CN" altLang="en-US" smtClean="0"/>
              <a:pPr/>
              <a:t>13</a:t>
            </a:fld>
            <a:endParaRPr lang="zh-CN" altLang="en-US"/>
          </a:p>
        </p:txBody>
      </p:sp>
    </p:spTree>
    <p:extLst>
      <p:ext uri="{BB962C8B-B14F-4D97-AF65-F5344CB8AC3E}">
        <p14:creationId xmlns:p14="http://schemas.microsoft.com/office/powerpoint/2010/main" val="219898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E6CD5-6795-1F7C-1299-D8377E4777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99F0F7-B903-103E-DB53-7DD4AC71C4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1DFE93-971A-C823-7D7E-2C6B7C8C883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6D7B4B5-D513-109D-A057-CFFF4116A9AE}"/>
              </a:ext>
            </a:extLst>
          </p:cNvPr>
          <p:cNvSpPr>
            <a:spLocks noGrp="1"/>
          </p:cNvSpPr>
          <p:nvPr>
            <p:ph type="sldNum" sz="quarter" idx="5"/>
          </p:nvPr>
        </p:nvSpPr>
        <p:spPr/>
        <p:txBody>
          <a:bodyPr/>
          <a:lstStyle/>
          <a:p>
            <a:fld id="{D1D3FDB9-DDE0-4054-8528-4EF247FF7996}" type="slidenum">
              <a:rPr lang="zh-CN" altLang="en-US" smtClean="0"/>
              <a:pPr/>
              <a:t>15</a:t>
            </a:fld>
            <a:endParaRPr lang="zh-CN" altLang="en-US"/>
          </a:p>
        </p:txBody>
      </p:sp>
    </p:spTree>
    <p:extLst>
      <p:ext uri="{BB962C8B-B14F-4D97-AF65-F5344CB8AC3E}">
        <p14:creationId xmlns:p14="http://schemas.microsoft.com/office/powerpoint/2010/main" val="3157021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922EB3-8BB3-4D7C-920D-99B3A498A38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59158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34B01-E9A1-D11D-59E2-DD227B4E15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35C365-39A7-85A0-5640-92C8CD75E7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370E29-A19B-CD85-BC5D-EC35F62487F0}"/>
              </a:ext>
            </a:extLst>
          </p:cNvPr>
          <p:cNvSpPr>
            <a:spLocks noGrp="1"/>
          </p:cNvSpPr>
          <p:nvPr>
            <p:ph type="body" idx="1"/>
          </p:nvPr>
        </p:nvSpPr>
        <p:spPr/>
        <p:txBody>
          <a:bodyPr/>
          <a:lstStyle/>
          <a:p>
            <a:r>
              <a:rPr lang="zh-CN" altLang="en-US" dirty="0"/>
              <a:t>（</a:t>
            </a:r>
            <a:r>
              <a:rPr lang="en-US" altLang="zh-CN" dirty="0"/>
              <a:t>1</a:t>
            </a:r>
            <a:r>
              <a:rPr lang="zh-CN" altLang="en-US" dirty="0"/>
              <a:t>）</a:t>
            </a:r>
          </a:p>
        </p:txBody>
      </p:sp>
      <p:sp>
        <p:nvSpPr>
          <p:cNvPr id="4" name="灯片编号占位符 3">
            <a:extLst>
              <a:ext uri="{FF2B5EF4-FFF2-40B4-BE49-F238E27FC236}">
                <a16:creationId xmlns:a16="http://schemas.microsoft.com/office/drawing/2014/main" id="{30BEAA70-F4B5-25E7-157C-B14755DE2F02}"/>
              </a:ext>
            </a:extLst>
          </p:cNvPr>
          <p:cNvSpPr>
            <a:spLocks noGrp="1"/>
          </p:cNvSpPr>
          <p:nvPr>
            <p:ph type="sldNum" sz="quarter" idx="5"/>
          </p:nvPr>
        </p:nvSpPr>
        <p:spPr/>
        <p:txBody>
          <a:bodyPr/>
          <a:lstStyle/>
          <a:p>
            <a:fld id="{D1D3FDB9-DDE0-4054-8528-4EF247FF7996}" type="slidenum">
              <a:rPr lang="zh-CN" altLang="en-US" smtClean="0"/>
              <a:pPr/>
              <a:t>17</a:t>
            </a:fld>
            <a:endParaRPr lang="zh-CN" altLang="en-US"/>
          </a:p>
        </p:txBody>
      </p:sp>
    </p:spTree>
    <p:extLst>
      <p:ext uri="{BB962C8B-B14F-4D97-AF65-F5344CB8AC3E}">
        <p14:creationId xmlns:p14="http://schemas.microsoft.com/office/powerpoint/2010/main" val="1403906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6D70A-5614-84F3-F834-082170BFA5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BEFF4E-3A5F-5F5C-CF36-871B40152E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EA4D764-8965-A3D7-A1AC-DD0A89229023}"/>
              </a:ext>
            </a:extLst>
          </p:cNvPr>
          <p:cNvSpPr>
            <a:spLocks noGrp="1"/>
          </p:cNvSpPr>
          <p:nvPr>
            <p:ph type="body" idx="1"/>
          </p:nvPr>
        </p:nvSpPr>
        <p:spPr/>
        <p:txBody>
          <a:bodyPr/>
          <a:lstStyle/>
          <a:p>
            <a:r>
              <a:rPr lang="zh-CN" altLang="en-US" dirty="0"/>
              <a:t>（</a:t>
            </a:r>
            <a:r>
              <a:rPr lang="en-US" altLang="zh-CN" dirty="0"/>
              <a:t>2</a:t>
            </a:r>
            <a:r>
              <a:rPr lang="zh-CN" altLang="en-US" dirty="0"/>
              <a:t>）</a:t>
            </a:r>
          </a:p>
        </p:txBody>
      </p:sp>
      <p:sp>
        <p:nvSpPr>
          <p:cNvPr id="4" name="灯片编号占位符 3">
            <a:extLst>
              <a:ext uri="{FF2B5EF4-FFF2-40B4-BE49-F238E27FC236}">
                <a16:creationId xmlns:a16="http://schemas.microsoft.com/office/drawing/2014/main" id="{B85DCDE8-D9DA-8F07-72EF-7F338F309A2D}"/>
              </a:ext>
            </a:extLst>
          </p:cNvPr>
          <p:cNvSpPr>
            <a:spLocks noGrp="1"/>
          </p:cNvSpPr>
          <p:nvPr>
            <p:ph type="sldNum" sz="quarter" idx="5"/>
          </p:nvPr>
        </p:nvSpPr>
        <p:spPr/>
        <p:txBody>
          <a:bodyPr/>
          <a:lstStyle/>
          <a:p>
            <a:fld id="{D1D3FDB9-DDE0-4054-8528-4EF247FF7996}" type="slidenum">
              <a:rPr lang="zh-CN" altLang="en-US" smtClean="0"/>
              <a:pPr/>
              <a:t>18</a:t>
            </a:fld>
            <a:endParaRPr lang="zh-CN" altLang="en-US"/>
          </a:p>
        </p:txBody>
      </p:sp>
    </p:spTree>
    <p:extLst>
      <p:ext uri="{BB962C8B-B14F-4D97-AF65-F5344CB8AC3E}">
        <p14:creationId xmlns:p14="http://schemas.microsoft.com/office/powerpoint/2010/main" val="3617576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307B1-4DF3-C785-DEE3-7DF3A408D4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7E4EB3-E9DD-6F92-8508-D396B1531AD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0952E8C-9683-3A0C-BAEA-C3A4DBF0EB33}"/>
              </a:ext>
            </a:extLst>
          </p:cNvPr>
          <p:cNvSpPr>
            <a:spLocks noGrp="1"/>
          </p:cNvSpPr>
          <p:nvPr>
            <p:ph type="body" idx="1"/>
          </p:nvPr>
        </p:nvSpPr>
        <p:spPr/>
        <p:txBody>
          <a:bodyPr/>
          <a:lstStyle/>
          <a:p>
            <a:r>
              <a:rPr lang="zh-CN" altLang="en-US" dirty="0"/>
              <a:t>（</a:t>
            </a:r>
            <a:r>
              <a:rPr lang="en-US" altLang="zh-CN" dirty="0"/>
              <a:t>3</a:t>
            </a:r>
            <a:r>
              <a:rPr lang="zh-CN" altLang="en-US" dirty="0"/>
              <a:t>）相似度、相似度标准化</a:t>
            </a:r>
          </a:p>
        </p:txBody>
      </p:sp>
      <p:sp>
        <p:nvSpPr>
          <p:cNvPr id="4" name="灯片编号占位符 3">
            <a:extLst>
              <a:ext uri="{FF2B5EF4-FFF2-40B4-BE49-F238E27FC236}">
                <a16:creationId xmlns:a16="http://schemas.microsoft.com/office/drawing/2014/main" id="{0C6D42F6-D152-B87E-3D36-6D2563F45A60}"/>
              </a:ext>
            </a:extLst>
          </p:cNvPr>
          <p:cNvSpPr>
            <a:spLocks noGrp="1"/>
          </p:cNvSpPr>
          <p:nvPr>
            <p:ph type="sldNum" sz="quarter" idx="5"/>
          </p:nvPr>
        </p:nvSpPr>
        <p:spPr/>
        <p:txBody>
          <a:bodyPr/>
          <a:lstStyle/>
          <a:p>
            <a:fld id="{D1D3FDB9-DDE0-4054-8528-4EF247FF7996}" type="slidenum">
              <a:rPr lang="zh-CN" altLang="en-US" smtClean="0"/>
              <a:pPr/>
              <a:t>19</a:t>
            </a:fld>
            <a:endParaRPr lang="zh-CN" altLang="en-US"/>
          </a:p>
        </p:txBody>
      </p:sp>
    </p:spTree>
    <p:extLst>
      <p:ext uri="{BB962C8B-B14F-4D97-AF65-F5344CB8AC3E}">
        <p14:creationId xmlns:p14="http://schemas.microsoft.com/office/powerpoint/2010/main" val="1040447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B932F-78D0-E658-D4A3-D21590342A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51CF2D-172C-4490-C476-61F37902FC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ECE9F9-A09C-9DE2-DEA1-B59A227641E4}"/>
              </a:ext>
            </a:extLst>
          </p:cNvPr>
          <p:cNvSpPr>
            <a:spLocks noGrp="1"/>
          </p:cNvSpPr>
          <p:nvPr>
            <p:ph type="body" idx="1"/>
          </p:nvPr>
        </p:nvSpPr>
        <p:spPr/>
        <p:txBody>
          <a:bodyPr/>
          <a:lstStyle/>
          <a:p>
            <a:r>
              <a:rPr lang="zh-CN" altLang="en-US" dirty="0"/>
              <a:t>（</a:t>
            </a:r>
            <a:r>
              <a:rPr lang="en-US" altLang="zh-CN" dirty="0"/>
              <a:t>3</a:t>
            </a:r>
            <a:r>
              <a:rPr lang="zh-CN" altLang="en-US" dirty="0"/>
              <a:t>）语调、语调标准化、隐式语调、隐式语调标准化（从左到右、从上到下）</a:t>
            </a:r>
          </a:p>
        </p:txBody>
      </p:sp>
      <p:sp>
        <p:nvSpPr>
          <p:cNvPr id="4" name="灯片编号占位符 3">
            <a:extLst>
              <a:ext uri="{FF2B5EF4-FFF2-40B4-BE49-F238E27FC236}">
                <a16:creationId xmlns:a16="http://schemas.microsoft.com/office/drawing/2014/main" id="{169A8C4B-91C7-C80F-0EE0-5024178F6E15}"/>
              </a:ext>
            </a:extLst>
          </p:cNvPr>
          <p:cNvSpPr>
            <a:spLocks noGrp="1"/>
          </p:cNvSpPr>
          <p:nvPr>
            <p:ph type="sldNum" sz="quarter" idx="5"/>
          </p:nvPr>
        </p:nvSpPr>
        <p:spPr/>
        <p:txBody>
          <a:bodyPr/>
          <a:lstStyle/>
          <a:p>
            <a:fld id="{D1D3FDB9-DDE0-4054-8528-4EF247FF7996}" type="slidenum">
              <a:rPr lang="zh-CN" altLang="en-US" smtClean="0"/>
              <a:pPr/>
              <a:t>20</a:t>
            </a:fld>
            <a:endParaRPr lang="zh-CN" altLang="en-US"/>
          </a:p>
        </p:txBody>
      </p:sp>
    </p:spTree>
    <p:extLst>
      <p:ext uri="{BB962C8B-B14F-4D97-AF65-F5344CB8AC3E}">
        <p14:creationId xmlns:p14="http://schemas.microsoft.com/office/powerpoint/2010/main" val="32409149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A4827-1EF8-4A32-C421-6340334A807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9DA340-9A53-D931-F571-6690A8D49E1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354B6D-EA7E-9B6E-5233-0D7FB9269BA8}"/>
              </a:ext>
            </a:extLst>
          </p:cNvPr>
          <p:cNvSpPr>
            <a:spLocks noGrp="1"/>
          </p:cNvSpPr>
          <p:nvPr>
            <p:ph type="body" idx="1"/>
          </p:nvPr>
        </p:nvSpPr>
        <p:spPr/>
        <p:txBody>
          <a:bodyPr/>
          <a:lstStyle/>
          <a:p>
            <a:r>
              <a:rPr lang="zh-CN" altLang="en-US" dirty="0"/>
              <a:t>（</a:t>
            </a:r>
            <a:r>
              <a:rPr lang="en-US" altLang="zh-CN" dirty="0"/>
              <a:t>3</a:t>
            </a:r>
            <a:r>
              <a:rPr lang="zh-CN" altLang="en-US" dirty="0"/>
              <a:t>）</a:t>
            </a:r>
            <a:r>
              <a:rPr lang="en-US" altLang="zh-CN" dirty="0"/>
              <a:t>70</a:t>
            </a:r>
            <a:r>
              <a:rPr lang="zh-CN" altLang="en-US" dirty="0"/>
              <a:t>、</a:t>
            </a:r>
            <a:r>
              <a:rPr lang="en-US" altLang="zh-CN" dirty="0"/>
              <a:t>80</a:t>
            </a:r>
            <a:r>
              <a:rPr lang="zh-CN" altLang="en-US" dirty="0"/>
              <a:t>、</a:t>
            </a:r>
            <a:r>
              <a:rPr lang="en-US" altLang="zh-CN" dirty="0"/>
              <a:t>90</a:t>
            </a:r>
            <a:r>
              <a:rPr lang="zh-CN" altLang="en-US" dirty="0"/>
              <a:t>相似度阈值下的语调（从左到右、从上到下）</a:t>
            </a:r>
          </a:p>
        </p:txBody>
      </p:sp>
      <p:sp>
        <p:nvSpPr>
          <p:cNvPr id="4" name="灯片编号占位符 3">
            <a:extLst>
              <a:ext uri="{FF2B5EF4-FFF2-40B4-BE49-F238E27FC236}">
                <a16:creationId xmlns:a16="http://schemas.microsoft.com/office/drawing/2014/main" id="{92F89E18-0AFF-412C-1ECB-2F802362456C}"/>
              </a:ext>
            </a:extLst>
          </p:cNvPr>
          <p:cNvSpPr>
            <a:spLocks noGrp="1"/>
          </p:cNvSpPr>
          <p:nvPr>
            <p:ph type="sldNum" sz="quarter" idx="5"/>
          </p:nvPr>
        </p:nvSpPr>
        <p:spPr/>
        <p:txBody>
          <a:bodyPr/>
          <a:lstStyle/>
          <a:p>
            <a:fld id="{D1D3FDB9-DDE0-4054-8528-4EF247FF7996}" type="slidenum">
              <a:rPr lang="zh-CN" altLang="en-US" smtClean="0"/>
              <a:pPr/>
              <a:t>21</a:t>
            </a:fld>
            <a:endParaRPr lang="zh-CN" altLang="en-US"/>
          </a:p>
        </p:txBody>
      </p:sp>
    </p:spTree>
    <p:extLst>
      <p:ext uri="{BB962C8B-B14F-4D97-AF65-F5344CB8AC3E}">
        <p14:creationId xmlns:p14="http://schemas.microsoft.com/office/powerpoint/2010/main" val="1294663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176CA-433E-131E-E050-82AB3C7B0F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7A706EE-47AF-E6DA-A1F9-C768EF40609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AF24E3-B1E5-F10C-EDFE-A1FA546F1223}"/>
              </a:ext>
            </a:extLst>
          </p:cNvPr>
          <p:cNvSpPr>
            <a:spLocks noGrp="1"/>
          </p:cNvSpPr>
          <p:nvPr>
            <p:ph type="body" idx="1"/>
          </p:nvPr>
        </p:nvSpPr>
        <p:spPr/>
        <p:txBody>
          <a:bodyPr/>
          <a:lstStyle/>
          <a:p>
            <a:r>
              <a:rPr lang="zh-CN" altLang="en-US" dirty="0"/>
              <a:t>（</a:t>
            </a:r>
            <a:r>
              <a:rPr lang="en-US" altLang="zh-CN" dirty="0"/>
              <a:t>3</a:t>
            </a:r>
            <a:r>
              <a:rPr lang="zh-CN" altLang="en-US" dirty="0"/>
              <a:t>）</a:t>
            </a:r>
            <a:r>
              <a:rPr lang="en-US" altLang="zh-CN" dirty="0"/>
              <a:t>70</a:t>
            </a:r>
            <a:r>
              <a:rPr lang="zh-CN" altLang="en-US" dirty="0"/>
              <a:t>、</a:t>
            </a:r>
            <a:r>
              <a:rPr lang="en-US" altLang="zh-CN" dirty="0"/>
              <a:t>80</a:t>
            </a:r>
            <a:r>
              <a:rPr lang="zh-CN" altLang="en-US" dirty="0"/>
              <a:t>、</a:t>
            </a:r>
            <a:r>
              <a:rPr lang="en-US" altLang="zh-CN" dirty="0"/>
              <a:t>90</a:t>
            </a:r>
            <a:r>
              <a:rPr lang="zh-CN" altLang="en-US" dirty="0"/>
              <a:t>相似度阈值下的语调标准化（从左到右、从上到下）</a:t>
            </a:r>
          </a:p>
        </p:txBody>
      </p:sp>
      <p:sp>
        <p:nvSpPr>
          <p:cNvPr id="4" name="灯片编号占位符 3">
            <a:extLst>
              <a:ext uri="{FF2B5EF4-FFF2-40B4-BE49-F238E27FC236}">
                <a16:creationId xmlns:a16="http://schemas.microsoft.com/office/drawing/2014/main" id="{E5733D9F-AC25-3295-1FFE-6A74BA3B9F97}"/>
              </a:ext>
            </a:extLst>
          </p:cNvPr>
          <p:cNvSpPr>
            <a:spLocks noGrp="1"/>
          </p:cNvSpPr>
          <p:nvPr>
            <p:ph type="sldNum" sz="quarter" idx="5"/>
          </p:nvPr>
        </p:nvSpPr>
        <p:spPr/>
        <p:txBody>
          <a:bodyPr/>
          <a:lstStyle/>
          <a:p>
            <a:fld id="{D1D3FDB9-DDE0-4054-8528-4EF247FF7996}" type="slidenum">
              <a:rPr lang="zh-CN" altLang="en-US" smtClean="0"/>
              <a:pPr/>
              <a:t>22</a:t>
            </a:fld>
            <a:endParaRPr lang="zh-CN" altLang="en-US"/>
          </a:p>
        </p:txBody>
      </p:sp>
    </p:spTree>
    <p:extLst>
      <p:ext uri="{BB962C8B-B14F-4D97-AF65-F5344CB8AC3E}">
        <p14:creationId xmlns:p14="http://schemas.microsoft.com/office/powerpoint/2010/main" val="35801563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AD19D-6E0F-8E55-DCC5-9FEB009525E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78212D-8B6D-9679-39BF-9FDB024AFC2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D86950-4CC6-D572-4F4D-5A51D3E9AE62}"/>
              </a:ext>
            </a:extLst>
          </p:cNvPr>
          <p:cNvSpPr>
            <a:spLocks noGrp="1"/>
          </p:cNvSpPr>
          <p:nvPr>
            <p:ph type="body" idx="1"/>
          </p:nvPr>
        </p:nvSpPr>
        <p:spPr/>
        <p:txBody>
          <a:bodyPr/>
          <a:lstStyle/>
          <a:p>
            <a:r>
              <a:rPr lang="zh-CN" altLang="en-US" dirty="0"/>
              <a:t>（</a:t>
            </a:r>
            <a:r>
              <a:rPr lang="en-US" altLang="zh-CN" dirty="0"/>
              <a:t>3</a:t>
            </a:r>
            <a:r>
              <a:rPr lang="zh-CN" altLang="en-US" dirty="0"/>
              <a:t>）主要目标语调、及标准化（从左到右、从上到下）</a:t>
            </a:r>
          </a:p>
        </p:txBody>
      </p:sp>
      <p:sp>
        <p:nvSpPr>
          <p:cNvPr id="4" name="灯片编号占位符 3">
            <a:extLst>
              <a:ext uri="{FF2B5EF4-FFF2-40B4-BE49-F238E27FC236}">
                <a16:creationId xmlns:a16="http://schemas.microsoft.com/office/drawing/2014/main" id="{0323A3D1-15E2-F20D-AD01-6012E11F72C0}"/>
              </a:ext>
            </a:extLst>
          </p:cNvPr>
          <p:cNvSpPr>
            <a:spLocks noGrp="1"/>
          </p:cNvSpPr>
          <p:nvPr>
            <p:ph type="sldNum" sz="quarter" idx="5"/>
          </p:nvPr>
        </p:nvSpPr>
        <p:spPr/>
        <p:txBody>
          <a:bodyPr/>
          <a:lstStyle/>
          <a:p>
            <a:fld id="{D1D3FDB9-DDE0-4054-8528-4EF247FF7996}" type="slidenum">
              <a:rPr lang="zh-CN" altLang="en-US" smtClean="0"/>
              <a:pPr/>
              <a:t>23</a:t>
            </a:fld>
            <a:endParaRPr lang="zh-CN" altLang="en-US"/>
          </a:p>
        </p:txBody>
      </p:sp>
    </p:spTree>
    <p:extLst>
      <p:ext uri="{BB962C8B-B14F-4D97-AF65-F5344CB8AC3E}">
        <p14:creationId xmlns:p14="http://schemas.microsoft.com/office/powerpoint/2010/main" val="1499411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40B82-56AF-41DF-CA61-B02B3CC93D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0EC710E-C1DA-7096-3140-9F62F97D3E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49955E-F224-A523-2F46-DF4CBECB8088}"/>
              </a:ext>
            </a:extLst>
          </p:cNvPr>
          <p:cNvSpPr>
            <a:spLocks noGrp="1"/>
          </p:cNvSpPr>
          <p:nvPr>
            <p:ph type="body" idx="1"/>
          </p:nvPr>
        </p:nvSpPr>
        <p:spPr/>
        <p:txBody>
          <a:bodyPr/>
          <a:lstStyle/>
          <a:p>
            <a:r>
              <a:rPr lang="zh-CN" altLang="en-US" dirty="0"/>
              <a:t>（</a:t>
            </a:r>
            <a:r>
              <a:rPr lang="en-US" altLang="zh-CN" dirty="0"/>
              <a:t>3</a:t>
            </a:r>
            <a:r>
              <a:rPr lang="zh-CN" altLang="en-US" dirty="0"/>
              <a:t>）十四五</a:t>
            </a:r>
            <a:r>
              <a:rPr lang="en-US" altLang="zh-CN" dirty="0"/>
              <a:t>a\b\c</a:t>
            </a:r>
            <a:r>
              <a:rPr lang="zh-CN" altLang="en-US" dirty="0"/>
              <a:t>，十五五</a:t>
            </a:r>
            <a:r>
              <a:rPr lang="en-US" altLang="zh-CN" dirty="0"/>
              <a:t>a\c</a:t>
            </a:r>
            <a:r>
              <a:rPr lang="zh-CN" altLang="en-US" dirty="0"/>
              <a:t>具体数值（从左到右、从上到下，</a:t>
            </a:r>
            <a:r>
              <a:rPr lang="en-US" altLang="zh-CN" dirty="0"/>
              <a:t>a</a:t>
            </a:r>
            <a:r>
              <a:rPr lang="zh-CN" altLang="en-US" dirty="0"/>
              <a:t>、</a:t>
            </a:r>
            <a:r>
              <a:rPr lang="en-US" altLang="zh-CN" dirty="0"/>
              <a:t>b</a:t>
            </a:r>
            <a:r>
              <a:rPr lang="zh-CN" altLang="en-US" dirty="0"/>
              <a:t>、</a:t>
            </a:r>
            <a:r>
              <a:rPr lang="en-US" altLang="zh-CN" dirty="0"/>
              <a:t>c</a:t>
            </a:r>
            <a:r>
              <a:rPr lang="zh-CN" altLang="en-US" dirty="0"/>
              <a:t>分别指非化石能源、能耗和碳排）</a:t>
            </a:r>
          </a:p>
        </p:txBody>
      </p:sp>
      <p:sp>
        <p:nvSpPr>
          <p:cNvPr id="4" name="灯片编号占位符 3">
            <a:extLst>
              <a:ext uri="{FF2B5EF4-FFF2-40B4-BE49-F238E27FC236}">
                <a16:creationId xmlns:a16="http://schemas.microsoft.com/office/drawing/2014/main" id="{9E200198-7D71-8D7F-6980-AE9E96BC6E8A}"/>
              </a:ext>
            </a:extLst>
          </p:cNvPr>
          <p:cNvSpPr>
            <a:spLocks noGrp="1"/>
          </p:cNvSpPr>
          <p:nvPr>
            <p:ph type="sldNum" sz="quarter" idx="5"/>
          </p:nvPr>
        </p:nvSpPr>
        <p:spPr/>
        <p:txBody>
          <a:bodyPr/>
          <a:lstStyle/>
          <a:p>
            <a:fld id="{D1D3FDB9-DDE0-4054-8528-4EF247FF7996}" type="slidenum">
              <a:rPr lang="zh-CN" altLang="en-US" smtClean="0"/>
              <a:pPr/>
              <a:t>24</a:t>
            </a:fld>
            <a:endParaRPr lang="zh-CN" altLang="en-US"/>
          </a:p>
        </p:txBody>
      </p:sp>
    </p:spTree>
    <p:extLst>
      <p:ext uri="{BB962C8B-B14F-4D97-AF65-F5344CB8AC3E}">
        <p14:creationId xmlns:p14="http://schemas.microsoft.com/office/powerpoint/2010/main" val="19409833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D50FD-8F58-5041-E8E4-B6B46A845B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2E2201-2E0B-B9D3-7843-516AFA24CE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B9CCFC-2EA9-105C-488D-8256A6EDA2D0}"/>
              </a:ext>
            </a:extLst>
          </p:cNvPr>
          <p:cNvSpPr>
            <a:spLocks noGrp="1"/>
          </p:cNvSpPr>
          <p:nvPr>
            <p:ph type="body" idx="1"/>
          </p:nvPr>
        </p:nvSpPr>
        <p:spPr/>
        <p:txBody>
          <a:bodyPr/>
          <a:lstStyle/>
          <a:p>
            <a:r>
              <a:rPr lang="zh-CN" altLang="en-US" dirty="0"/>
              <a:t>（</a:t>
            </a:r>
            <a:r>
              <a:rPr lang="en-US" altLang="zh-CN" dirty="0"/>
              <a:t>3</a:t>
            </a:r>
            <a:r>
              <a:rPr lang="zh-CN" altLang="en-US" dirty="0"/>
              <a:t>）十四五</a:t>
            </a:r>
            <a:r>
              <a:rPr lang="en-US" altLang="zh-CN" dirty="0"/>
              <a:t>a\b\c</a:t>
            </a:r>
            <a:r>
              <a:rPr lang="zh-CN" altLang="en-US" dirty="0"/>
              <a:t>，十五五</a:t>
            </a:r>
            <a:r>
              <a:rPr lang="en-US" altLang="zh-CN" dirty="0"/>
              <a:t>a\c</a:t>
            </a:r>
            <a:r>
              <a:rPr lang="zh-CN" altLang="en-US" dirty="0"/>
              <a:t>标准化</a:t>
            </a:r>
            <a:r>
              <a:rPr lang="en-US" altLang="zh-CN" dirty="0"/>
              <a:t>(</a:t>
            </a:r>
            <a:r>
              <a:rPr lang="zh-CN" altLang="zh-CN" sz="1200" kern="1200" dirty="0">
                <a:solidFill>
                  <a:schemeClr val="tx1"/>
                </a:solidFill>
                <a:effectLst/>
                <a:latin typeface="+mn-lt"/>
                <a:ea typeface="+mn-ea"/>
                <a:cs typeface="+mn-cs"/>
              </a:rPr>
              <a:t>地方</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中央</a:t>
            </a:r>
            <a:r>
              <a:rPr lang="en-US" altLang="zh-CN" dirty="0"/>
              <a:t>)</a:t>
            </a:r>
            <a:r>
              <a:rPr lang="zh-CN" altLang="en-US" dirty="0"/>
              <a:t>（从左到右、从上到下，</a:t>
            </a:r>
            <a:r>
              <a:rPr lang="en-US" altLang="zh-CN" dirty="0"/>
              <a:t>a</a:t>
            </a:r>
            <a:r>
              <a:rPr lang="zh-CN" altLang="en-US" dirty="0"/>
              <a:t>、</a:t>
            </a:r>
            <a:r>
              <a:rPr lang="en-US" altLang="zh-CN" dirty="0"/>
              <a:t>b</a:t>
            </a:r>
            <a:r>
              <a:rPr lang="zh-CN" altLang="en-US" dirty="0"/>
              <a:t>、</a:t>
            </a:r>
            <a:r>
              <a:rPr lang="en-US" altLang="zh-CN" dirty="0"/>
              <a:t>c</a:t>
            </a:r>
            <a:r>
              <a:rPr lang="zh-CN" altLang="en-US" dirty="0"/>
              <a:t>分别指非化石能源、能耗和碳排）</a:t>
            </a:r>
          </a:p>
        </p:txBody>
      </p:sp>
      <p:sp>
        <p:nvSpPr>
          <p:cNvPr id="4" name="灯片编号占位符 3">
            <a:extLst>
              <a:ext uri="{FF2B5EF4-FFF2-40B4-BE49-F238E27FC236}">
                <a16:creationId xmlns:a16="http://schemas.microsoft.com/office/drawing/2014/main" id="{D45771B7-90EB-33AF-6E92-5D58083050E6}"/>
              </a:ext>
            </a:extLst>
          </p:cNvPr>
          <p:cNvSpPr>
            <a:spLocks noGrp="1"/>
          </p:cNvSpPr>
          <p:nvPr>
            <p:ph type="sldNum" sz="quarter" idx="5"/>
          </p:nvPr>
        </p:nvSpPr>
        <p:spPr/>
        <p:txBody>
          <a:bodyPr/>
          <a:lstStyle/>
          <a:p>
            <a:fld id="{D1D3FDB9-DDE0-4054-8528-4EF247FF7996}" type="slidenum">
              <a:rPr lang="zh-CN" altLang="en-US" smtClean="0"/>
              <a:pPr/>
              <a:t>25</a:t>
            </a:fld>
            <a:endParaRPr lang="zh-CN" altLang="en-US"/>
          </a:p>
        </p:txBody>
      </p:sp>
    </p:spTree>
    <p:extLst>
      <p:ext uri="{BB962C8B-B14F-4D97-AF65-F5344CB8AC3E}">
        <p14:creationId xmlns:p14="http://schemas.microsoft.com/office/powerpoint/2010/main" val="28646594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4C63E-BC8C-6A7B-6069-61549AE3A9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6C5861-904E-357F-345A-CE3FD73CBF9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51A11E-44D3-78DF-F2EC-D0A193B01F88}"/>
              </a:ext>
            </a:extLst>
          </p:cNvPr>
          <p:cNvSpPr>
            <a:spLocks noGrp="1"/>
          </p:cNvSpPr>
          <p:nvPr>
            <p:ph type="body" idx="1"/>
          </p:nvPr>
        </p:nvSpPr>
        <p:spPr/>
        <p:txBody>
          <a:bodyPr/>
          <a:lstStyle/>
          <a:p>
            <a:r>
              <a:rPr lang="zh-CN" altLang="en-US" dirty="0"/>
              <a:t>（</a:t>
            </a:r>
            <a:r>
              <a:rPr lang="en-US" altLang="zh-CN" dirty="0"/>
              <a:t>3</a:t>
            </a:r>
            <a:r>
              <a:rPr lang="zh-CN" altLang="en-US" dirty="0"/>
              <a:t>）十四五</a:t>
            </a:r>
            <a:r>
              <a:rPr lang="en-US" altLang="zh-CN" dirty="0"/>
              <a:t>a\b\c</a:t>
            </a:r>
            <a:r>
              <a:rPr lang="zh-CN" altLang="en-US" dirty="0"/>
              <a:t>，十五五</a:t>
            </a:r>
            <a:r>
              <a:rPr lang="en-US" altLang="zh-CN" dirty="0"/>
              <a:t>a\c</a:t>
            </a:r>
            <a:r>
              <a:rPr lang="zh-CN" altLang="en-US" dirty="0"/>
              <a:t>标准化</a:t>
            </a:r>
            <a:r>
              <a:rPr lang="en-US" altLang="zh-CN" dirty="0"/>
              <a:t>(</a:t>
            </a:r>
            <a:r>
              <a:rPr lang="zh-CN" altLang="zh-CN" sz="1200" kern="1200" dirty="0">
                <a:solidFill>
                  <a:schemeClr val="tx1"/>
                </a:solidFill>
                <a:effectLst/>
                <a:latin typeface="+mn-lt"/>
                <a:ea typeface="+mn-ea"/>
                <a:cs typeface="+mn-cs"/>
              </a:rPr>
              <a:t>地方与中央大小关系，</a:t>
            </a:r>
            <a:r>
              <a:rPr lang="en-US" altLang="zh-CN" sz="1200" kern="1200" dirty="0">
                <a:solidFill>
                  <a:schemeClr val="tx1"/>
                </a:solidFill>
                <a:effectLst/>
                <a:latin typeface="+mn-lt"/>
                <a:ea typeface="+mn-ea"/>
                <a:cs typeface="+mn-cs"/>
              </a:rPr>
              <a:t>-1/0/1</a:t>
            </a:r>
            <a:r>
              <a:rPr lang="zh-CN" altLang="zh-CN" sz="1200" kern="1200" dirty="0">
                <a:solidFill>
                  <a:schemeClr val="tx1"/>
                </a:solidFill>
                <a:effectLst/>
                <a:latin typeface="+mn-lt"/>
                <a:ea typeface="+mn-ea"/>
                <a:cs typeface="+mn-cs"/>
              </a:rPr>
              <a:t>化</a:t>
            </a:r>
            <a:r>
              <a:rPr lang="en-US" altLang="zh-CN" dirty="0"/>
              <a:t>)</a:t>
            </a:r>
            <a:r>
              <a:rPr lang="zh-CN" altLang="en-US" dirty="0"/>
              <a:t>（从左到右、从上到下，</a:t>
            </a:r>
            <a:r>
              <a:rPr lang="en-US" altLang="zh-CN" dirty="0"/>
              <a:t>a</a:t>
            </a:r>
            <a:r>
              <a:rPr lang="zh-CN" altLang="en-US" dirty="0"/>
              <a:t>、</a:t>
            </a:r>
            <a:r>
              <a:rPr lang="en-US" altLang="zh-CN" dirty="0"/>
              <a:t>b</a:t>
            </a:r>
            <a:r>
              <a:rPr lang="zh-CN" altLang="en-US" dirty="0"/>
              <a:t>、</a:t>
            </a:r>
            <a:r>
              <a:rPr lang="en-US" altLang="zh-CN" dirty="0"/>
              <a:t>c</a:t>
            </a:r>
            <a:r>
              <a:rPr lang="zh-CN" altLang="en-US" dirty="0"/>
              <a:t>分别指非化石能源、能耗和碳排）</a:t>
            </a:r>
          </a:p>
        </p:txBody>
      </p:sp>
      <p:sp>
        <p:nvSpPr>
          <p:cNvPr id="4" name="灯片编号占位符 3">
            <a:extLst>
              <a:ext uri="{FF2B5EF4-FFF2-40B4-BE49-F238E27FC236}">
                <a16:creationId xmlns:a16="http://schemas.microsoft.com/office/drawing/2014/main" id="{53A77528-D1DA-FC42-EC99-96137F022C9C}"/>
              </a:ext>
            </a:extLst>
          </p:cNvPr>
          <p:cNvSpPr>
            <a:spLocks noGrp="1"/>
          </p:cNvSpPr>
          <p:nvPr>
            <p:ph type="sldNum" sz="quarter" idx="5"/>
          </p:nvPr>
        </p:nvSpPr>
        <p:spPr/>
        <p:txBody>
          <a:bodyPr/>
          <a:lstStyle/>
          <a:p>
            <a:fld id="{D1D3FDB9-DDE0-4054-8528-4EF247FF7996}" type="slidenum">
              <a:rPr lang="zh-CN" altLang="en-US" smtClean="0"/>
              <a:pPr/>
              <a:t>26</a:t>
            </a:fld>
            <a:endParaRPr lang="zh-CN" altLang="en-US"/>
          </a:p>
        </p:txBody>
      </p:sp>
    </p:spTree>
    <p:extLst>
      <p:ext uri="{BB962C8B-B14F-4D97-AF65-F5344CB8AC3E}">
        <p14:creationId xmlns:p14="http://schemas.microsoft.com/office/powerpoint/2010/main" val="300078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861648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035859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4224369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2025/10/21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341790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2025/10/21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186933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2025/10/21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585584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2025/10/21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469698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2025/10/21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4149664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2025/10/21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15935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42531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507613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bg2"/>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2025/10/21</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8684520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4.bin"/><Relationship Id="rId18" Type="http://schemas.openxmlformats.org/officeDocument/2006/relationships/image" Target="../media/image13.wmf"/><Relationship Id="rId3" Type="http://schemas.openxmlformats.org/officeDocument/2006/relationships/image" Target="../media/image6.png"/><Relationship Id="rId7" Type="http://schemas.openxmlformats.org/officeDocument/2006/relationships/oleObject" Target="../embeddings/oleObject1.bin"/><Relationship Id="rId12" Type="http://schemas.openxmlformats.org/officeDocument/2006/relationships/image" Target="../media/image10.wmf"/><Relationship Id="rId17" Type="http://schemas.openxmlformats.org/officeDocument/2006/relationships/oleObject" Target="../embeddings/oleObject6.bin"/><Relationship Id="rId2" Type="http://schemas.openxmlformats.org/officeDocument/2006/relationships/image" Target="../media/image5.png"/><Relationship Id="rId16" Type="http://schemas.openxmlformats.org/officeDocument/2006/relationships/image" Target="../media/image12.wmf"/><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oleObject" Target="../embeddings/oleObject3.bin"/><Relationship Id="rId5" Type="http://schemas.openxmlformats.org/officeDocument/2006/relationships/image" Target="../media/image7.png"/><Relationship Id="rId15" Type="http://schemas.openxmlformats.org/officeDocument/2006/relationships/oleObject" Target="../embeddings/oleObject5.bin"/><Relationship Id="rId10" Type="http://schemas.openxmlformats.org/officeDocument/2006/relationships/image" Target="../media/image9.wmf"/><Relationship Id="rId4" Type="http://schemas.microsoft.com/office/2007/relationships/hdphoto" Target="../media/hdphoto1.wdp"/><Relationship Id="rId9" Type="http://schemas.openxmlformats.org/officeDocument/2006/relationships/oleObject" Target="../embeddings/oleObject2.bin"/><Relationship Id="rId14" Type="http://schemas.openxmlformats.org/officeDocument/2006/relationships/image" Target="../media/image11.wmf"/></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5.png"/><Relationship Id="rId7" Type="http://schemas.openxmlformats.org/officeDocument/2006/relationships/image" Target="../media/image8.w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oleObject" Target="../embeddings/oleObject1.bin"/><Relationship Id="rId11" Type="http://schemas.openxmlformats.org/officeDocument/2006/relationships/image" Target="../media/image16.png"/><Relationship Id="rId5" Type="http://schemas.openxmlformats.org/officeDocument/2006/relationships/image" Target="../media/image4.png"/><Relationship Id="rId10" Type="http://schemas.openxmlformats.org/officeDocument/2006/relationships/image" Target="../media/image15.png"/><Relationship Id="rId4" Type="http://schemas.openxmlformats.org/officeDocument/2006/relationships/image" Target="../media/image7.png"/><Relationship Id="rId9" Type="http://schemas.openxmlformats.org/officeDocument/2006/relationships/image" Target="../media/image9.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5.png"/><Relationship Id="rId7" Type="http://schemas.openxmlformats.org/officeDocument/2006/relationships/image" Target="../media/image10.w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18.png"/><Relationship Id="rId5" Type="http://schemas.openxmlformats.org/officeDocument/2006/relationships/image" Target="../media/image4.png"/><Relationship Id="rId10" Type="http://schemas.openxmlformats.org/officeDocument/2006/relationships/image" Target="../media/image17.png"/><Relationship Id="rId4" Type="http://schemas.openxmlformats.org/officeDocument/2006/relationships/image" Target="../media/image7.png"/><Relationship Id="rId9" Type="http://schemas.openxmlformats.org/officeDocument/2006/relationships/image" Target="../media/image11.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5.png"/><Relationship Id="rId7" Type="http://schemas.openxmlformats.org/officeDocument/2006/relationships/image" Target="../media/image12.w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oleObject" Target="../embeddings/oleObject5.bin"/><Relationship Id="rId11" Type="http://schemas.openxmlformats.org/officeDocument/2006/relationships/image" Target="../media/image20.png"/><Relationship Id="rId5" Type="http://schemas.openxmlformats.org/officeDocument/2006/relationships/image" Target="../media/image4.png"/><Relationship Id="rId10" Type="http://schemas.openxmlformats.org/officeDocument/2006/relationships/image" Target="../media/image19.png"/><Relationship Id="rId4" Type="http://schemas.openxmlformats.org/officeDocument/2006/relationships/image" Target="../media/image7.png"/><Relationship Id="rId9" Type="http://schemas.openxmlformats.org/officeDocument/2006/relationships/image" Target="../media/image13.wmf"/></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e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4.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4.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5.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4.png"/><Relationship Id="rId4" Type="http://schemas.openxmlformats.org/officeDocument/2006/relationships/image" Target="../media/image7.png"/><Relationship Id="rId9" Type="http://schemas.openxmlformats.org/officeDocument/2006/relationships/image" Target="../media/image29.png"/></Relationships>
</file>

<file path=ppt/slides/_rels/slide2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5.png"/><Relationship Id="rId7"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4.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5.png"/><Relationship Id="rId7"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4.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4.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5.png"/><Relationship Id="rId7"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4.png"/><Relationship Id="rId10" Type="http://schemas.openxmlformats.org/officeDocument/2006/relationships/image" Target="../media/image41.png"/><Relationship Id="rId4" Type="http://schemas.openxmlformats.org/officeDocument/2006/relationships/image" Target="../media/image7.png"/><Relationship Id="rId9" Type="http://schemas.openxmlformats.org/officeDocument/2006/relationships/image" Target="../media/image40.png"/></Relationships>
</file>

<file path=ppt/slides/_rels/slide2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5.png"/><Relationship Id="rId7"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png"/><Relationship Id="rId10" Type="http://schemas.openxmlformats.org/officeDocument/2006/relationships/image" Target="../media/image46.png"/><Relationship Id="rId4" Type="http://schemas.openxmlformats.org/officeDocument/2006/relationships/image" Target="../media/image7.png"/><Relationship Id="rId9" Type="http://schemas.openxmlformats.org/officeDocument/2006/relationships/image" Target="../media/image45.png"/></Relationships>
</file>

<file path=ppt/slides/_rels/slide2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5.png"/><Relationship Id="rId7"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png"/><Relationship Id="rId10" Type="http://schemas.openxmlformats.org/officeDocument/2006/relationships/image" Target="../media/image51.png"/><Relationship Id="rId4" Type="http://schemas.openxmlformats.org/officeDocument/2006/relationships/image" Target="../media/image7.png"/><Relationship Id="rId9"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8AE344B-6678-453A-82EF-ACEA0B8BC18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2290" r="16132"/>
          <a:stretch/>
        </p:blipFill>
        <p:spPr>
          <a:xfrm>
            <a:off x="1" y="-1"/>
            <a:ext cx="6240014" cy="6872989"/>
          </a:xfrm>
          <a:prstGeom prst="rect">
            <a:avLst/>
          </a:prstGeom>
        </p:spPr>
      </p:pic>
      <p:sp>
        <p:nvSpPr>
          <p:cNvPr id="3" name="矩形 2">
            <a:extLst>
              <a:ext uri="{FF2B5EF4-FFF2-40B4-BE49-F238E27FC236}">
                <a16:creationId xmlns:a16="http://schemas.microsoft.com/office/drawing/2014/main" id="{4C588F26-1CFB-40E2-96B3-8F047D3BF6CF}"/>
              </a:ext>
            </a:extLst>
          </p:cNvPr>
          <p:cNvSpPr/>
          <p:nvPr/>
        </p:nvSpPr>
        <p:spPr>
          <a:xfrm>
            <a:off x="-19601" y="0"/>
            <a:ext cx="6259616" cy="6872990"/>
          </a:xfrm>
          <a:prstGeom prst="rect">
            <a:avLst/>
          </a:prstGeom>
          <a:gradFill flip="none" rotWithShape="1">
            <a:gsLst>
              <a:gs pos="0">
                <a:srgbClr val="024282">
                  <a:alpha val="70000"/>
                </a:srgbClr>
              </a:gs>
              <a:gs pos="59000">
                <a:srgbClr val="024282">
                  <a:alpha val="80000"/>
                </a:srgbClr>
              </a:gs>
              <a:gs pos="100000">
                <a:srgbClr val="024282">
                  <a:alpha val="9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a:extLst>
              <a:ext uri="{FF2B5EF4-FFF2-40B4-BE49-F238E27FC236}">
                <a16:creationId xmlns:a16="http://schemas.microsoft.com/office/drawing/2014/main" id="{982EF669-C6C0-4501-BB74-B2334633C168}"/>
              </a:ext>
            </a:extLst>
          </p:cNvPr>
          <p:cNvGrpSpPr/>
          <p:nvPr/>
        </p:nvGrpSpPr>
        <p:grpSpPr>
          <a:xfrm>
            <a:off x="1251251" y="948678"/>
            <a:ext cx="3022484" cy="1350274"/>
            <a:chOff x="1283804" y="1236710"/>
            <a:chExt cx="3022484" cy="1350274"/>
          </a:xfrm>
        </p:grpSpPr>
        <p:sp>
          <p:nvSpPr>
            <p:cNvPr id="4" name="平行四边形 3">
              <a:extLst>
                <a:ext uri="{FF2B5EF4-FFF2-40B4-BE49-F238E27FC236}">
                  <a16:creationId xmlns:a16="http://schemas.microsoft.com/office/drawing/2014/main" id="{4315C31A-B49E-4E2A-8ED7-7B1309176C6E}"/>
                </a:ext>
              </a:extLst>
            </p:cNvPr>
            <p:cNvSpPr/>
            <p:nvPr/>
          </p:nvSpPr>
          <p:spPr>
            <a:xfrm>
              <a:off x="1283804" y="1236710"/>
              <a:ext cx="3022484" cy="1350274"/>
            </a:xfrm>
            <a:prstGeom prst="parallelogram">
              <a:avLst>
                <a:gd name="adj" fmla="val 3020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6" name="组合 5">
              <a:extLst>
                <a:ext uri="{FF2B5EF4-FFF2-40B4-BE49-F238E27FC236}">
                  <a16:creationId xmlns:a16="http://schemas.microsoft.com/office/drawing/2014/main" id="{5AFEF92C-A8B8-425A-8984-6CD39896DBBD}"/>
                </a:ext>
              </a:extLst>
            </p:cNvPr>
            <p:cNvGrpSpPr/>
            <p:nvPr/>
          </p:nvGrpSpPr>
          <p:grpSpPr>
            <a:xfrm>
              <a:off x="1573792" y="1256225"/>
              <a:ext cx="2410259" cy="1330759"/>
              <a:chOff x="4874746" y="232424"/>
              <a:chExt cx="2410259" cy="1330759"/>
            </a:xfrm>
          </p:grpSpPr>
          <p:sp>
            <p:nvSpPr>
              <p:cNvPr id="7" name="文本框 6"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CCA2D74D-60CD-4B4B-899F-3CB6F1FDCE1F}"/>
                  </a:ext>
                </a:extLst>
              </p:cNvPr>
              <p:cNvSpPr txBox="1">
                <a:spLocks noChangeArrowheads="1"/>
              </p:cNvSpPr>
              <p:nvPr/>
            </p:nvSpPr>
            <p:spPr bwMode="auto">
              <a:xfrm>
                <a:off x="5193843" y="1163073"/>
                <a:ext cx="1772064" cy="400110"/>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en-US" altLang="zh-CN" sz="2000" b="1" i="0" u="none" strike="noStrike" kern="1200" cap="none" spc="0" normalizeH="0" baseline="0" noProof="0" dirty="0">
                    <a:ln>
                      <a:noFill/>
                    </a:ln>
                    <a:solidFill>
                      <a:srgbClr val="024282"/>
                    </a:solidFill>
                    <a:effectLst/>
                    <a:uLnTx/>
                    <a:uFillTx/>
                    <a:latin typeface="Arial"/>
                    <a:ea typeface="微软雅黑"/>
                    <a:cs typeface="+mn-cs"/>
                    <a:sym typeface="Calibri" panose="020F0502020204030204" pitchFamily="34" charset="0"/>
                  </a:rPr>
                  <a:t>CONTENTS</a:t>
                </a:r>
              </a:p>
            </p:txBody>
          </p:sp>
          <p:sp>
            <p:nvSpPr>
              <p:cNvPr id="8" name="文本框 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28ABCAB4-C892-46A6-941B-6D634EB4394E}"/>
                  </a:ext>
                </a:extLst>
              </p:cNvPr>
              <p:cNvSpPr txBox="1">
                <a:spLocks noChangeArrowheads="1"/>
              </p:cNvSpPr>
              <p:nvPr/>
            </p:nvSpPr>
            <p:spPr bwMode="auto">
              <a:xfrm>
                <a:off x="4874746" y="232424"/>
                <a:ext cx="2410259" cy="83099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zh-CN" altLang="en-US" sz="4800" b="1" i="0" u="none" strike="noStrike" kern="1200" cap="none" spc="0" normalizeH="0" baseline="0" noProof="0" dirty="0">
                    <a:ln>
                      <a:noFill/>
                    </a:ln>
                    <a:solidFill>
                      <a:srgbClr val="024282"/>
                    </a:solidFill>
                    <a:effectLst/>
                    <a:uLnTx/>
                    <a:uFillTx/>
                    <a:latin typeface="微软雅黑"/>
                    <a:ea typeface="微软雅黑"/>
                    <a:cs typeface="+mn-cs"/>
                    <a:sym typeface="Calibri" panose="020F0502020204030204" pitchFamily="34" charset="0"/>
                  </a:rPr>
                  <a:t>目 录</a:t>
                </a:r>
                <a:endParaRPr kumimoji="0" lang="en-US" altLang="zh-CN" sz="4800" b="1" i="0" u="none" strike="noStrike" kern="1200" cap="none" spc="0" normalizeH="0" baseline="0" noProof="0" dirty="0">
                  <a:ln>
                    <a:noFill/>
                  </a:ln>
                  <a:solidFill>
                    <a:srgbClr val="024282"/>
                  </a:solidFill>
                  <a:effectLst/>
                  <a:uLnTx/>
                  <a:uFillTx/>
                  <a:latin typeface="微软雅黑"/>
                  <a:ea typeface="微软雅黑"/>
                  <a:cs typeface="+mn-cs"/>
                  <a:sym typeface="Calibri" panose="020F0502020204030204" pitchFamily="34" charset="0"/>
                </a:endParaRPr>
              </a:p>
            </p:txBody>
          </p:sp>
          <p:cxnSp>
            <p:nvCxnSpPr>
              <p:cNvPr id="9" name="直接连接符 8">
                <a:extLst>
                  <a:ext uri="{FF2B5EF4-FFF2-40B4-BE49-F238E27FC236}">
                    <a16:creationId xmlns:a16="http://schemas.microsoft.com/office/drawing/2014/main" id="{9016EEE6-E325-4DBA-BDD6-4D6694C4CC3E}"/>
                  </a:ext>
                </a:extLst>
              </p:cNvPr>
              <p:cNvCxnSpPr>
                <a:cxnSpLocks/>
              </p:cNvCxnSpPr>
              <p:nvPr/>
            </p:nvCxnSpPr>
            <p:spPr>
              <a:xfrm>
                <a:off x="5471592" y="1091557"/>
                <a:ext cx="1224136"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grpSp>
      </p:grpSp>
      <p:grpSp>
        <p:nvGrpSpPr>
          <p:cNvPr id="13" name="组合 12">
            <a:extLst>
              <a:ext uri="{FF2B5EF4-FFF2-40B4-BE49-F238E27FC236}">
                <a16:creationId xmlns:a16="http://schemas.microsoft.com/office/drawing/2014/main" id="{35B453DA-1046-402C-A089-32D076E8E824}"/>
              </a:ext>
            </a:extLst>
          </p:cNvPr>
          <p:cNvGrpSpPr/>
          <p:nvPr/>
        </p:nvGrpSpPr>
        <p:grpSpPr>
          <a:xfrm>
            <a:off x="5534013" y="741725"/>
            <a:ext cx="1381373" cy="660400"/>
            <a:chOff x="5519936" y="1488468"/>
            <a:chExt cx="1381373" cy="660400"/>
          </a:xfrm>
          <a:effectLst>
            <a:outerShdw blurRad="50800" dist="38100" dir="5400000" algn="t" rotWithShape="0">
              <a:prstClr val="black">
                <a:alpha val="40000"/>
              </a:prstClr>
            </a:outerShdw>
          </a:effectLst>
        </p:grpSpPr>
        <p:sp>
          <p:nvSpPr>
            <p:cNvPr id="11" name="平行四边形 10">
              <a:extLst>
                <a:ext uri="{FF2B5EF4-FFF2-40B4-BE49-F238E27FC236}">
                  <a16:creationId xmlns:a16="http://schemas.microsoft.com/office/drawing/2014/main" id="{1C3599B1-4D20-4671-BEF4-65C9EAB2EF63}"/>
                </a:ext>
              </a:extLst>
            </p:cNvPr>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2" name="文本框 11"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EAADFE1E-A461-4378-BEA8-75231538EC55}"/>
                </a:ext>
              </a:extLst>
            </p:cNvPr>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01</a:t>
              </a:r>
            </a:p>
          </p:txBody>
        </p:sp>
      </p:grpSp>
      <p:grpSp>
        <p:nvGrpSpPr>
          <p:cNvPr id="14" name="组合 13">
            <a:extLst>
              <a:ext uri="{FF2B5EF4-FFF2-40B4-BE49-F238E27FC236}">
                <a16:creationId xmlns:a16="http://schemas.microsoft.com/office/drawing/2014/main" id="{4970C482-E917-4E9C-8032-BAB8936864D8}"/>
              </a:ext>
            </a:extLst>
          </p:cNvPr>
          <p:cNvGrpSpPr/>
          <p:nvPr/>
        </p:nvGrpSpPr>
        <p:grpSpPr>
          <a:xfrm>
            <a:off x="5534014" y="2157882"/>
            <a:ext cx="1381373" cy="660400"/>
            <a:chOff x="5519936" y="1488468"/>
            <a:chExt cx="1381373" cy="660400"/>
          </a:xfrm>
          <a:effectLst>
            <a:outerShdw blurRad="50800" dist="38100" dir="2700000" algn="tl" rotWithShape="0">
              <a:prstClr val="black">
                <a:alpha val="40000"/>
              </a:prstClr>
            </a:outerShdw>
          </a:effectLst>
        </p:grpSpPr>
        <p:sp>
          <p:nvSpPr>
            <p:cNvPr id="15" name="平行四边形 14">
              <a:extLst>
                <a:ext uri="{FF2B5EF4-FFF2-40B4-BE49-F238E27FC236}">
                  <a16:creationId xmlns:a16="http://schemas.microsoft.com/office/drawing/2014/main" id="{5074975E-4160-4ABC-83BA-52F95D6FAE33}"/>
                </a:ext>
              </a:extLst>
            </p:cNvPr>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文本框 15"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84FFBF53-D805-421A-99CF-D9D620664772}"/>
                </a:ext>
              </a:extLst>
            </p:cNvPr>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02</a:t>
              </a:r>
            </a:p>
          </p:txBody>
        </p:sp>
      </p:grpSp>
      <p:grpSp>
        <p:nvGrpSpPr>
          <p:cNvPr id="17" name="组合 16">
            <a:extLst>
              <a:ext uri="{FF2B5EF4-FFF2-40B4-BE49-F238E27FC236}">
                <a16:creationId xmlns:a16="http://schemas.microsoft.com/office/drawing/2014/main" id="{BC60539A-8499-4BCF-946B-6DE06AF2DECE}"/>
              </a:ext>
            </a:extLst>
          </p:cNvPr>
          <p:cNvGrpSpPr/>
          <p:nvPr/>
        </p:nvGrpSpPr>
        <p:grpSpPr>
          <a:xfrm>
            <a:off x="5464370" y="3574039"/>
            <a:ext cx="1381373" cy="660400"/>
            <a:chOff x="5519936" y="1488468"/>
            <a:chExt cx="1381373" cy="660400"/>
          </a:xfrm>
          <a:effectLst>
            <a:outerShdw blurRad="50800" dist="38100" dir="2700000" algn="tl" rotWithShape="0">
              <a:prstClr val="black">
                <a:alpha val="40000"/>
              </a:prstClr>
            </a:outerShdw>
          </a:effectLst>
        </p:grpSpPr>
        <p:sp>
          <p:nvSpPr>
            <p:cNvPr id="18" name="平行四边形 17">
              <a:extLst>
                <a:ext uri="{FF2B5EF4-FFF2-40B4-BE49-F238E27FC236}">
                  <a16:creationId xmlns:a16="http://schemas.microsoft.com/office/drawing/2014/main" id="{FF5FE659-7881-4AF9-A9CF-E6AD04EC8B87}"/>
                </a:ext>
              </a:extLst>
            </p:cNvPr>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9" name="文本框 1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CAAECA3F-97A8-40B1-BEB6-CCE170797290}"/>
                </a:ext>
              </a:extLst>
            </p:cNvPr>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03</a:t>
              </a:r>
            </a:p>
          </p:txBody>
        </p:sp>
      </p:grpSp>
      <p:sp>
        <p:nvSpPr>
          <p:cNvPr id="31" name="文本框 6">
            <a:extLst>
              <a:ext uri="{FF2B5EF4-FFF2-40B4-BE49-F238E27FC236}">
                <a16:creationId xmlns:a16="http://schemas.microsoft.com/office/drawing/2014/main" id="{C899EBEE-CC0D-4B8B-9EEE-2A3DAA398598}"/>
              </a:ext>
            </a:extLst>
          </p:cNvPr>
          <p:cNvSpPr txBox="1">
            <a:spLocks noChangeArrowheads="1"/>
          </p:cNvSpPr>
          <p:nvPr/>
        </p:nvSpPr>
        <p:spPr bwMode="auto">
          <a:xfrm>
            <a:off x="7421962" y="825943"/>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377"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rPr>
              <a:t>模型</a:t>
            </a:r>
          </a:p>
        </p:txBody>
      </p:sp>
      <p:sp>
        <p:nvSpPr>
          <p:cNvPr id="35" name="文本框 6">
            <a:extLst>
              <a:ext uri="{FF2B5EF4-FFF2-40B4-BE49-F238E27FC236}">
                <a16:creationId xmlns:a16="http://schemas.microsoft.com/office/drawing/2014/main" id="{ED30204A-DDC1-4584-96D5-D437F336A0FE}"/>
              </a:ext>
            </a:extLst>
          </p:cNvPr>
          <p:cNvSpPr txBox="1">
            <a:spLocks noChangeArrowheads="1"/>
          </p:cNvSpPr>
          <p:nvPr/>
        </p:nvSpPr>
        <p:spPr bwMode="auto">
          <a:xfrm>
            <a:off x="7421962" y="2247497"/>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377" rtl="0" eaLnBrk="1" fontAlgn="base" latinLnBrk="0" hangingPunct="1">
              <a:lnSpc>
                <a:spcPct val="100000"/>
              </a:lnSpc>
              <a:spcBef>
                <a:spcPct val="0"/>
              </a:spcBef>
              <a:spcAft>
                <a:spcPct val="0"/>
              </a:spcAft>
              <a:buClrTx/>
              <a:buSzTx/>
              <a:buFontTx/>
              <a:buNone/>
              <a:tabLst/>
              <a:defRPr/>
            </a:pPr>
            <a:r>
              <a:rPr lang="zh-CN" altLang="en-US" sz="2800" b="1" dirty="0">
                <a:solidFill>
                  <a:srgbClr val="024282"/>
                </a:solidFill>
                <a:latin typeface="微软雅黑"/>
                <a:ea typeface="微软雅黑"/>
              </a:rPr>
              <a:t>数据</a:t>
            </a:r>
            <a:endPar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endParaRPr>
          </a:p>
        </p:txBody>
      </p:sp>
      <p:sp>
        <p:nvSpPr>
          <p:cNvPr id="38" name="文本框 6">
            <a:extLst>
              <a:ext uri="{FF2B5EF4-FFF2-40B4-BE49-F238E27FC236}">
                <a16:creationId xmlns:a16="http://schemas.microsoft.com/office/drawing/2014/main" id="{524F2D32-773B-4BA6-9058-69F7A78A1330}"/>
              </a:ext>
            </a:extLst>
          </p:cNvPr>
          <p:cNvSpPr txBox="1">
            <a:spLocks noChangeArrowheads="1"/>
          </p:cNvSpPr>
          <p:nvPr/>
        </p:nvSpPr>
        <p:spPr bwMode="auto">
          <a:xfrm>
            <a:off x="7421961" y="3642629"/>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377"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rPr>
              <a:t>结果</a:t>
            </a:r>
          </a:p>
        </p:txBody>
      </p:sp>
      <p:pic>
        <p:nvPicPr>
          <p:cNvPr id="23" name="图片 22">
            <a:extLst>
              <a:ext uri="{FF2B5EF4-FFF2-40B4-BE49-F238E27FC236}">
                <a16:creationId xmlns:a16="http://schemas.microsoft.com/office/drawing/2014/main" id="{5713DC1F-F878-423B-A86A-01A78769C1D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13545" y="6447112"/>
            <a:ext cx="2093426" cy="334487"/>
          </a:xfrm>
          <a:prstGeom prst="rect">
            <a:avLst/>
          </a:prstGeom>
        </p:spPr>
      </p:pic>
      <p:grpSp>
        <p:nvGrpSpPr>
          <p:cNvPr id="43" name="组合 42">
            <a:extLst>
              <a:ext uri="{FF2B5EF4-FFF2-40B4-BE49-F238E27FC236}">
                <a16:creationId xmlns:a16="http://schemas.microsoft.com/office/drawing/2014/main" id="{C3106A62-5189-4F65-BFF2-91D4DD704A6E}"/>
              </a:ext>
            </a:extLst>
          </p:cNvPr>
          <p:cNvGrpSpPr/>
          <p:nvPr/>
        </p:nvGrpSpPr>
        <p:grpSpPr>
          <a:xfrm>
            <a:off x="9114765" y="102733"/>
            <a:ext cx="2879308" cy="743473"/>
            <a:chOff x="825667" y="458497"/>
            <a:chExt cx="4856203" cy="1253932"/>
          </a:xfrm>
        </p:grpSpPr>
        <p:pic>
          <p:nvPicPr>
            <p:cNvPr id="44" name="图片 43">
              <a:extLst>
                <a:ext uri="{FF2B5EF4-FFF2-40B4-BE49-F238E27FC236}">
                  <a16:creationId xmlns:a16="http://schemas.microsoft.com/office/drawing/2014/main" id="{B0E8E5A5-E622-48B8-8E27-E612B1E9250D}"/>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825667" y="458497"/>
              <a:ext cx="1253932" cy="1253932"/>
            </a:xfrm>
            <a:prstGeom prst="rect">
              <a:avLst/>
            </a:prstGeom>
          </p:spPr>
        </p:pic>
        <p:pic>
          <p:nvPicPr>
            <p:cNvPr id="45" name="图片 44">
              <a:extLst>
                <a:ext uri="{FF2B5EF4-FFF2-40B4-BE49-F238E27FC236}">
                  <a16:creationId xmlns:a16="http://schemas.microsoft.com/office/drawing/2014/main" id="{4110209A-E4D8-4572-A966-525233F0A4EB}"/>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7" name="矩形 46">
              <a:extLst>
                <a:ext uri="{FF2B5EF4-FFF2-40B4-BE49-F238E27FC236}">
                  <a16:creationId xmlns:a16="http://schemas.microsoft.com/office/drawing/2014/main" id="{33CB3645-5119-4F09-8628-678420F17571}"/>
                </a:ext>
              </a:extLst>
            </p:cNvPr>
            <p:cNvSpPr/>
            <p:nvPr/>
          </p:nvSpPr>
          <p:spPr>
            <a:xfrm>
              <a:off x="2085463" y="1172848"/>
              <a:ext cx="3596407" cy="363365"/>
            </a:xfrm>
            <a:prstGeom prst="rect">
              <a:avLst/>
            </a:prstGeom>
          </p:spPr>
          <p:txBody>
            <a:bodyPr wrap="square">
              <a:spAutoFit/>
            </a:bodyPr>
            <a:lstStyle/>
            <a:p>
              <a:pPr lvl="0" algn="dist">
                <a:defRPr/>
              </a:pPr>
              <a:r>
                <a:rPr lang="en-US" altLang="zh-CN" sz="800" b="1" dirty="0">
                  <a:solidFill>
                    <a:prstClr val="black"/>
                  </a:solidFill>
                </a:rPr>
                <a:t>BEIHANG UNIVERSITY</a:t>
              </a:r>
            </a:p>
          </p:txBody>
        </p:sp>
      </p:grpSp>
      <p:grpSp>
        <p:nvGrpSpPr>
          <p:cNvPr id="5" name="组合 4">
            <a:extLst>
              <a:ext uri="{FF2B5EF4-FFF2-40B4-BE49-F238E27FC236}">
                <a16:creationId xmlns:a16="http://schemas.microsoft.com/office/drawing/2014/main" id="{47FBD417-3161-B5C4-2265-0E9DCDB0390D}"/>
              </a:ext>
            </a:extLst>
          </p:cNvPr>
          <p:cNvGrpSpPr/>
          <p:nvPr/>
        </p:nvGrpSpPr>
        <p:grpSpPr>
          <a:xfrm>
            <a:off x="5419392" y="4990196"/>
            <a:ext cx="1381373" cy="660400"/>
            <a:chOff x="5519936" y="1488468"/>
            <a:chExt cx="1381373" cy="660400"/>
          </a:xfrm>
          <a:effectLst>
            <a:outerShdw blurRad="50800" dist="38100" dir="2700000" algn="tl" rotWithShape="0">
              <a:prstClr val="black">
                <a:alpha val="40000"/>
              </a:prstClr>
            </a:outerShdw>
          </a:effectLst>
        </p:grpSpPr>
        <p:sp>
          <p:nvSpPr>
            <p:cNvPr id="20" name="平行四边形 19">
              <a:extLst>
                <a:ext uri="{FF2B5EF4-FFF2-40B4-BE49-F238E27FC236}">
                  <a16:creationId xmlns:a16="http://schemas.microsoft.com/office/drawing/2014/main" id="{580AC35B-0C0F-D7D9-4191-5E31E1A2426C}"/>
                </a:ext>
              </a:extLst>
            </p:cNvPr>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1" name="文本框 20"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374ACBF3-912A-8E39-F81A-DB5EE65762EB}"/>
                </a:ext>
              </a:extLst>
            </p:cNvPr>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04</a:t>
              </a:r>
            </a:p>
          </p:txBody>
        </p:sp>
      </p:grpSp>
      <p:sp>
        <p:nvSpPr>
          <p:cNvPr id="22" name="文本框 6">
            <a:extLst>
              <a:ext uri="{FF2B5EF4-FFF2-40B4-BE49-F238E27FC236}">
                <a16:creationId xmlns:a16="http://schemas.microsoft.com/office/drawing/2014/main" id="{DC89AD42-067B-C958-77C3-D05145EB074E}"/>
              </a:ext>
            </a:extLst>
          </p:cNvPr>
          <p:cNvSpPr txBox="1">
            <a:spLocks noChangeArrowheads="1"/>
          </p:cNvSpPr>
          <p:nvPr/>
        </p:nvSpPr>
        <p:spPr bwMode="auto">
          <a:xfrm>
            <a:off x="7376983" y="5058786"/>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377" rtl="0" eaLnBrk="1" fontAlgn="base" latinLnBrk="0" hangingPunct="1">
              <a:lnSpc>
                <a:spcPct val="100000"/>
              </a:lnSpc>
              <a:spcBef>
                <a:spcPct val="0"/>
              </a:spcBef>
              <a:spcAft>
                <a:spcPct val="0"/>
              </a:spcAft>
              <a:buClrTx/>
              <a:buSzTx/>
              <a:buFontTx/>
              <a:buNone/>
              <a:tabLst/>
              <a:defRPr/>
            </a:pPr>
            <a:r>
              <a:rPr lang="zh-CN" altLang="en-US" sz="2800" b="1" dirty="0">
                <a:solidFill>
                  <a:srgbClr val="024282"/>
                </a:solidFill>
                <a:latin typeface="微软雅黑"/>
                <a:ea typeface="微软雅黑"/>
              </a:rPr>
              <a:t>总结</a:t>
            </a:r>
            <a:endPar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endParaRPr>
          </a:p>
        </p:txBody>
      </p:sp>
    </p:spTree>
    <p:extLst>
      <p:ext uri="{BB962C8B-B14F-4D97-AF65-F5344CB8AC3E}">
        <p14:creationId xmlns:p14="http://schemas.microsoft.com/office/powerpoint/2010/main" val="2957472605"/>
      </p:ext>
    </p:extLst>
  </p:cSld>
  <p:clrMapOvr>
    <a:masterClrMapping/>
  </p:clrMapOvr>
  <mc:AlternateContent xmlns:mc="http://schemas.openxmlformats.org/markup-compatibility/2006" xmlns:p14="http://schemas.microsoft.com/office/powerpoint/2010/main">
    <mc:Choice Requires="p14">
      <p:transition spd="slow" p14:dur="2000" advTm="4652"/>
    </mc:Choice>
    <mc:Fallback xmlns="">
      <p:transition spd="slow" advTm="465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6C40D3CC-77A7-4EF7-B123-60B81ACA3DB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732257" y="102733"/>
            <a:ext cx="7019929" cy="7019929"/>
          </a:xfrm>
          <a:prstGeom prst="rect">
            <a:avLst/>
          </a:prstGeom>
        </p:spPr>
      </p:pic>
      <p:sp>
        <p:nvSpPr>
          <p:cNvPr id="2" name="文本占位符 3">
            <a:extLst>
              <a:ext uri="{FF2B5EF4-FFF2-40B4-BE49-F238E27FC236}">
                <a16:creationId xmlns:a16="http://schemas.microsoft.com/office/drawing/2014/main" id="{B003DBEA-DCA9-4367-9C7D-276E86308A89}"/>
              </a:ext>
            </a:extLst>
          </p:cNvPr>
          <p:cNvSpPr txBox="1">
            <a:spLocks/>
          </p:cNvSpPr>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01</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0596444F-0E55-45FB-ADDC-7CB49F17B057}"/>
              </a:ext>
            </a:extLst>
          </p:cNvPr>
          <p:cNvSpPr txBox="1">
            <a:spLocks/>
          </p:cNvSpPr>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模型</a:t>
            </a:r>
          </a:p>
        </p:txBody>
      </p:sp>
      <p:grpSp>
        <p:nvGrpSpPr>
          <p:cNvPr id="4" name="组合 3">
            <a:extLst>
              <a:ext uri="{FF2B5EF4-FFF2-40B4-BE49-F238E27FC236}">
                <a16:creationId xmlns:a16="http://schemas.microsoft.com/office/drawing/2014/main" id="{2803D4B4-1DA9-48D5-9DA1-22E2C28CE9E8}"/>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06200922-3CF6-4931-BC88-44D4B19E806C}"/>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2D15F4C6-AC88-41C4-9097-B10E7060E768}"/>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a:extLst>
              <a:ext uri="{FF2B5EF4-FFF2-40B4-BE49-F238E27FC236}">
                <a16:creationId xmlns:a16="http://schemas.microsoft.com/office/drawing/2014/main" id="{1B02D87A-F649-476F-8BC8-FB6C4075F1AC}"/>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7FE902F3-E032-4929-AF5F-9660584777C6}"/>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平行四边形 8">
              <a:extLst>
                <a:ext uri="{FF2B5EF4-FFF2-40B4-BE49-F238E27FC236}">
                  <a16:creationId xmlns:a16="http://schemas.microsoft.com/office/drawing/2014/main" id="{81F4CA57-0574-43E4-8476-CA9509AA4163}"/>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6" name="直接连接符 15">
            <a:extLst>
              <a:ext uri="{FF2B5EF4-FFF2-40B4-BE49-F238E27FC236}">
                <a16:creationId xmlns:a16="http://schemas.microsoft.com/office/drawing/2014/main" id="{32FBF787-E511-4917-B553-A562828617B2}"/>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238EB420-7087-463D-907F-0BDF70FC2E4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5FC3661D-9232-451A-BFEE-4549D7DF0858}"/>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6426CA03-B54C-4E11-BBD3-920EB24A6C2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1C55E38C-6740-4923-ACEF-D98A0947DF6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0EA1DC3D-6BB9-4E11-A0FD-ECC673B23442}"/>
                </a:ext>
              </a:extLst>
            </p:cNvPr>
            <p:cNvSpPr/>
            <p:nvPr/>
          </p:nvSpPr>
          <p:spPr>
            <a:xfrm>
              <a:off x="2085463" y="1172848"/>
              <a:ext cx="3596407" cy="363365"/>
            </a:xfrm>
            <a:prstGeom prst="rect">
              <a:avLst/>
            </a:prstGeom>
          </p:spPr>
          <p:txBody>
            <a:bodyPr wrap="square">
              <a:spAutoFit/>
            </a:bodyPr>
            <a:lstStyle/>
            <a:p>
              <a:pPr lvl="0" algn="dist">
                <a:defRPr/>
              </a:pPr>
              <a:r>
                <a:rPr lang="en-US" altLang="zh-CN" sz="800" b="1" dirty="0">
                  <a:solidFill>
                    <a:prstClr val="black"/>
                  </a:solidFill>
                </a:rPr>
                <a:t>BEIHANG UNIVERSITY</a:t>
              </a:r>
            </a:p>
          </p:txBody>
        </p:sp>
      </p:grpSp>
    </p:spTree>
    <p:extLst>
      <p:ext uri="{BB962C8B-B14F-4D97-AF65-F5344CB8AC3E}">
        <p14:creationId xmlns:p14="http://schemas.microsoft.com/office/powerpoint/2010/main" val="1135273168"/>
      </p:ext>
    </p:extLst>
  </p:cSld>
  <p:clrMapOvr>
    <a:masterClrMapping/>
  </p:clrMapOvr>
  <mc:AlternateContent xmlns:mc="http://schemas.openxmlformats.org/markup-compatibility/2006" xmlns:p14="http://schemas.microsoft.com/office/powerpoint/2010/main">
    <mc:Choice Requires="p14">
      <p:transition spd="slow" p14:dur="2000" advTm="1159"/>
    </mc:Choice>
    <mc:Fallback xmlns="">
      <p:transition spd="slow" advTm="115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BBBBD-4AFF-F970-1E96-5EB459165617}"/>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1F4FA331-95E7-6641-3B28-42ADDA7119B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04A63ECA-75AE-B7DC-A16A-83EB471ACA40}"/>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2A4FB571-D053-B689-154B-6AD662D3732A}"/>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9AD37308-2F0A-1053-EB8F-645E94210CEF}"/>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10B4CD18-DBBD-D15C-6793-E8DE61C8FFBF}"/>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C9DF5D6C-6BC5-3250-6388-EB2DC89D70C2}"/>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变量</a:t>
            </a:r>
            <a:endParaRPr lang="zh-CN" altLang="zh-CN" sz="2400" dirty="0"/>
          </a:p>
        </p:txBody>
      </p:sp>
      <p:pic>
        <p:nvPicPr>
          <p:cNvPr id="52" name="图片 51">
            <a:extLst>
              <a:ext uri="{FF2B5EF4-FFF2-40B4-BE49-F238E27FC236}">
                <a16:creationId xmlns:a16="http://schemas.microsoft.com/office/drawing/2014/main" id="{0C913D36-3FCB-F5A5-C765-A657AF46596E}"/>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6FA5A2CC-C07A-48E7-ABFE-011B283DA93F}"/>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E56509CC-272D-C553-7516-166C4595E3A9}"/>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8936B6BB-BBC5-D7F5-A4BD-30B3D83E1A07}"/>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C551E4A2-920C-8AB0-78BA-7FB604F083C0}"/>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370BE112-74EB-3CCA-F9FE-1CB1861C4795}"/>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42" name="矩形 41">
            <a:extLst>
              <a:ext uri="{FF2B5EF4-FFF2-40B4-BE49-F238E27FC236}">
                <a16:creationId xmlns:a16="http://schemas.microsoft.com/office/drawing/2014/main" id="{9B74EBFE-387E-8246-A382-2EEBE74E1EA7}"/>
              </a:ext>
            </a:extLst>
          </p:cNvPr>
          <p:cNvSpPr/>
          <p:nvPr/>
        </p:nvSpPr>
        <p:spPr>
          <a:xfrm>
            <a:off x="720735" y="1188286"/>
            <a:ext cx="6557850" cy="4196855"/>
          </a:xfrm>
          <a:prstGeom prst="rect">
            <a:avLst/>
          </a:prstGeom>
        </p:spPr>
        <p:txBody>
          <a:bodyPr wrap="square">
            <a:spAutoFit/>
          </a:bodyPr>
          <a:lstStyle/>
          <a:p>
            <a:pPr>
              <a:lnSpc>
                <a:spcPct val="130000"/>
              </a:lnSpc>
              <a:spcBef>
                <a:spcPts val="600"/>
              </a:spcBef>
            </a:pPr>
            <a:r>
              <a:rPr lang="zh-CN" altLang="en-US" b="1" dirty="0">
                <a:latin typeface="微软雅黑" panose="020B0503020204020204" pitchFamily="34" charset="-122"/>
                <a:ea typeface="微软雅黑" panose="020B0503020204020204" pitchFamily="34" charset="-122"/>
              </a:rPr>
              <a:t>核心解释变量：</a:t>
            </a:r>
            <a:endParaRPr lang="en-US" altLang="zh-CN" b="1" dirty="0">
              <a:latin typeface="微软雅黑" panose="020B0503020204020204" pitchFamily="34" charset="-122"/>
              <a:ea typeface="微软雅黑" panose="020B0503020204020204" pitchFamily="34" charset="-122"/>
            </a:endParaRPr>
          </a:p>
          <a:p>
            <a:pPr>
              <a:lnSpc>
                <a:spcPct val="130000"/>
              </a:lnSpc>
              <a:spcBef>
                <a:spcPts val="600"/>
              </a:spcBef>
            </a:pPr>
            <a:r>
              <a:rPr lang="en-US" altLang="zh-CN" b="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文本挖掘结果，包括相似度、相对语调以及各种变体</a:t>
            </a:r>
            <a:endParaRPr lang="en-US" altLang="zh-CN" dirty="0">
              <a:latin typeface="微软雅黑" panose="020B0503020204020204" pitchFamily="34" charset="-122"/>
              <a:ea typeface="微软雅黑" panose="020B0503020204020204" pitchFamily="34" charset="-122"/>
            </a:endParaRPr>
          </a:p>
          <a:p>
            <a:pPr>
              <a:lnSpc>
                <a:spcPct val="130000"/>
              </a:lnSpc>
              <a:spcBef>
                <a:spcPts val="600"/>
              </a:spcBef>
            </a:pPr>
            <a:endParaRPr lang="en-US" altLang="zh-CN" dirty="0">
              <a:latin typeface="微软雅黑" panose="020B0503020204020204" pitchFamily="34" charset="-122"/>
              <a:ea typeface="微软雅黑" panose="020B0503020204020204" pitchFamily="34" charset="-122"/>
            </a:endParaRPr>
          </a:p>
          <a:p>
            <a:pPr>
              <a:lnSpc>
                <a:spcPct val="130000"/>
              </a:lnSpc>
              <a:spcBef>
                <a:spcPts val="600"/>
              </a:spcBef>
            </a:pPr>
            <a:endParaRPr lang="en-US" altLang="zh-CN" dirty="0">
              <a:latin typeface="微软雅黑" panose="020B0503020204020204" pitchFamily="34" charset="-122"/>
              <a:ea typeface="微软雅黑" panose="020B0503020204020204" pitchFamily="34" charset="-122"/>
            </a:endParaRPr>
          </a:p>
          <a:p>
            <a:pPr>
              <a:lnSpc>
                <a:spcPct val="130000"/>
              </a:lnSpc>
              <a:spcBef>
                <a:spcPts val="600"/>
              </a:spcBef>
            </a:pPr>
            <a:r>
              <a:rPr lang="zh-CN" altLang="en-US" b="1" dirty="0">
                <a:latin typeface="微软雅黑" panose="020B0503020204020204" pitchFamily="34" charset="-122"/>
                <a:ea typeface="微软雅黑" panose="020B0503020204020204" pitchFamily="34" charset="-122"/>
              </a:rPr>
              <a:t>被解释变量</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30000"/>
              </a:lnSpc>
              <a:spcBef>
                <a:spcPts val="600"/>
              </a:spcBef>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单位</a:t>
            </a:r>
            <a:r>
              <a:rPr lang="en-US" altLang="zh-CN" dirty="0">
                <a:latin typeface="微软雅黑" panose="020B0503020204020204" pitchFamily="34" charset="-122"/>
                <a:ea typeface="微软雅黑" panose="020B0503020204020204" pitchFamily="34" charset="-122"/>
              </a:rPr>
              <a:t>GDP</a:t>
            </a:r>
            <a:r>
              <a:rPr lang="zh-CN" altLang="en-US" dirty="0">
                <a:latin typeface="微软雅黑" panose="020B0503020204020204" pitchFamily="34" charset="-122"/>
                <a:ea typeface="微软雅黑" panose="020B0503020204020204" pitchFamily="34" charset="-122"/>
              </a:rPr>
              <a:t>能源消耗、非化石能源占比、单位</a:t>
            </a:r>
            <a:r>
              <a:rPr lang="en-US" altLang="zh-CN" dirty="0">
                <a:latin typeface="微软雅黑" panose="020B0503020204020204" pitchFamily="34" charset="-122"/>
                <a:ea typeface="微软雅黑" panose="020B0503020204020204" pitchFamily="34" charset="-122"/>
              </a:rPr>
              <a:t>GDP</a:t>
            </a:r>
            <a:r>
              <a:rPr lang="zh-CN" altLang="en-US" dirty="0">
                <a:latin typeface="微软雅黑" panose="020B0503020204020204" pitchFamily="34" charset="-122"/>
                <a:ea typeface="微软雅黑" panose="020B0503020204020204" pitchFamily="34" charset="-122"/>
              </a:rPr>
              <a:t>二氧化碳排放量及对应增长率，依据是这三个指标是多数中央、地方文件中在“主要目标”中给出的具体指标</a:t>
            </a:r>
            <a:endParaRPr lang="en-US" altLang="zh-CN" dirty="0">
              <a:latin typeface="微软雅黑" panose="020B0503020204020204" pitchFamily="34" charset="-122"/>
              <a:ea typeface="微软雅黑" panose="020B0503020204020204" pitchFamily="34" charset="-122"/>
            </a:endParaRPr>
          </a:p>
          <a:p>
            <a:pPr>
              <a:lnSpc>
                <a:spcPct val="130000"/>
              </a:lnSpc>
              <a:spcBef>
                <a:spcPts val="600"/>
              </a:spcBef>
            </a:pPr>
            <a:endParaRPr lang="en-US" altLang="zh-CN" dirty="0"/>
          </a:p>
          <a:p>
            <a:pPr>
              <a:lnSpc>
                <a:spcPct val="130000"/>
              </a:lnSpc>
              <a:spcBef>
                <a:spcPts val="600"/>
              </a:spcBef>
            </a:pPr>
            <a:endParaRPr lang="en-US" altLang="zh-CN" dirty="0">
              <a:latin typeface="微软雅黑" panose="020B0503020204020204" pitchFamily="34" charset="-122"/>
              <a:ea typeface="微软雅黑" panose="020B0503020204020204" pitchFamily="34" charset="-122"/>
            </a:endParaRPr>
          </a:p>
        </p:txBody>
      </p:sp>
      <p:graphicFrame>
        <p:nvGraphicFramePr>
          <p:cNvPr id="9" name="表格 8">
            <a:extLst>
              <a:ext uri="{FF2B5EF4-FFF2-40B4-BE49-F238E27FC236}">
                <a16:creationId xmlns:a16="http://schemas.microsoft.com/office/drawing/2014/main" id="{395C4987-B235-9D6A-244B-2D05A03454F5}"/>
              </a:ext>
            </a:extLst>
          </p:cNvPr>
          <p:cNvGraphicFramePr>
            <a:graphicFrameLocks noGrp="1"/>
          </p:cNvGraphicFramePr>
          <p:nvPr>
            <p:extLst>
              <p:ext uri="{D42A27DB-BD31-4B8C-83A1-F6EECF244321}">
                <p14:modId xmlns:p14="http://schemas.microsoft.com/office/powerpoint/2010/main" val="1834386052"/>
              </p:ext>
            </p:extLst>
          </p:nvPr>
        </p:nvGraphicFramePr>
        <p:xfrm>
          <a:off x="7397006" y="851827"/>
          <a:ext cx="4459634" cy="5863232"/>
        </p:xfrm>
        <a:graphic>
          <a:graphicData uri="http://schemas.openxmlformats.org/drawingml/2006/table">
            <a:tbl>
              <a:tblPr/>
              <a:tblGrid>
                <a:gridCol w="1490651">
                  <a:extLst>
                    <a:ext uri="{9D8B030D-6E8A-4147-A177-3AD203B41FA5}">
                      <a16:colId xmlns:a16="http://schemas.microsoft.com/office/drawing/2014/main" val="1666405138"/>
                    </a:ext>
                  </a:extLst>
                </a:gridCol>
                <a:gridCol w="2968983">
                  <a:extLst>
                    <a:ext uri="{9D8B030D-6E8A-4147-A177-3AD203B41FA5}">
                      <a16:colId xmlns:a16="http://schemas.microsoft.com/office/drawing/2014/main" val="3096232572"/>
                    </a:ext>
                  </a:extLst>
                </a:gridCol>
              </a:tblGrid>
              <a:tr h="118021">
                <a:tc>
                  <a:txBody>
                    <a:bodyPr/>
                    <a:lstStyle/>
                    <a:p>
                      <a:pPr algn="ctr" fontAlgn="b">
                        <a:buNone/>
                      </a:pPr>
                      <a:r>
                        <a:rPr lang="zh-CN" altLang="en-US" sz="800" b="1" i="0" u="none" strike="noStrike" dirty="0">
                          <a:solidFill>
                            <a:srgbClr val="000000"/>
                          </a:solidFill>
                          <a:effectLst/>
                          <a:latin typeface="等线" panose="02010600030101010101" pitchFamily="2" charset="-122"/>
                          <a:ea typeface="等线" panose="02010600030101010101" pitchFamily="2" charset="-122"/>
                        </a:rPr>
                        <a:t>自变量</a:t>
                      </a:r>
                    </a:p>
                  </a:txBody>
                  <a:tcPr marL="4191" marR="4191" marT="4191" marB="0" anchor="b">
                    <a:lnL>
                      <a:noFill/>
                    </a:lnL>
                    <a:lnR>
                      <a:noFill/>
                    </a:lnR>
                    <a:lnT>
                      <a:noFill/>
                    </a:lnT>
                    <a:lnB>
                      <a:noFill/>
                    </a:lnB>
                    <a:noFill/>
                  </a:tcPr>
                </a:tc>
                <a:tc>
                  <a:txBody>
                    <a:bodyPr/>
                    <a:lstStyle/>
                    <a:p>
                      <a:pPr algn="ctr" fontAlgn="ctr">
                        <a:buNone/>
                      </a:pPr>
                      <a:r>
                        <a:rPr lang="zh-CN" altLang="en-US" sz="800" b="1" i="0" u="none" strike="noStrike" dirty="0">
                          <a:solidFill>
                            <a:srgbClr val="000000"/>
                          </a:solidFill>
                          <a:effectLst/>
                          <a:latin typeface="等线" panose="02010600030101010101" pitchFamily="2" charset="-122"/>
                          <a:ea typeface="等线" panose="02010600030101010101" pitchFamily="2" charset="-122"/>
                        </a:rPr>
                        <a:t>解释</a:t>
                      </a:r>
                    </a:p>
                  </a:txBody>
                  <a:tcPr marL="4191" marR="4191" marT="4191" marB="0" anchor="ctr">
                    <a:lnL>
                      <a:noFill/>
                    </a:lnL>
                    <a:lnR>
                      <a:noFill/>
                    </a:lnR>
                    <a:lnT>
                      <a:noFill/>
                    </a:lnT>
                    <a:lnB>
                      <a:noFill/>
                    </a:lnB>
                    <a:noFill/>
                  </a:tcPr>
                </a:tc>
                <a:extLst>
                  <a:ext uri="{0D108BD9-81ED-4DB2-BD59-A6C34878D82A}">
                    <a16:rowId xmlns:a16="http://schemas.microsoft.com/office/drawing/2014/main" val="2261647461"/>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post1</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中央是否在该年出台中央文件</a:t>
                      </a:r>
                    </a:p>
                  </a:txBody>
                  <a:tcPr marL="4191" marR="4191" marT="4191" marB="0" anchor="ctr">
                    <a:lnL>
                      <a:noFill/>
                    </a:lnL>
                    <a:lnR>
                      <a:noFill/>
                    </a:lnR>
                    <a:lnT>
                      <a:noFill/>
                    </a:lnT>
                    <a:lnB>
                      <a:noFill/>
                    </a:lnB>
                    <a:noFill/>
                  </a:tcPr>
                </a:tc>
                <a:extLst>
                  <a:ext uri="{0D108BD9-81ED-4DB2-BD59-A6C34878D82A}">
                    <a16:rowId xmlns:a16="http://schemas.microsoft.com/office/drawing/2014/main" val="2740175975"/>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post2</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地方在该年是否出台地方文件</a:t>
                      </a:r>
                    </a:p>
                  </a:txBody>
                  <a:tcPr marL="4191" marR="4191" marT="4191" marB="0" anchor="ctr">
                    <a:lnL>
                      <a:noFill/>
                    </a:lnL>
                    <a:lnR>
                      <a:noFill/>
                    </a:lnR>
                    <a:lnT>
                      <a:noFill/>
                    </a:lnT>
                    <a:lnB>
                      <a:noFill/>
                    </a:lnB>
                    <a:noFill/>
                  </a:tcPr>
                </a:tc>
                <a:extLst>
                  <a:ext uri="{0D108BD9-81ED-4DB2-BD59-A6C34878D82A}">
                    <a16:rowId xmlns:a16="http://schemas.microsoft.com/office/drawing/2014/main" val="2596981664"/>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treated</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中央文件发布后地方是否有跟进发布地方文件</a:t>
                      </a:r>
                    </a:p>
                  </a:txBody>
                  <a:tcPr marL="4191" marR="4191" marT="4191" marB="0" anchor="ctr">
                    <a:lnL>
                      <a:noFill/>
                    </a:lnL>
                    <a:lnR>
                      <a:noFill/>
                    </a:lnR>
                    <a:lnT>
                      <a:noFill/>
                    </a:lnT>
                    <a:lnB>
                      <a:noFill/>
                    </a:lnB>
                    <a:noFill/>
                  </a:tcPr>
                </a:tc>
                <a:extLst>
                  <a:ext uri="{0D108BD9-81ED-4DB2-BD59-A6C34878D82A}">
                    <a16:rowId xmlns:a16="http://schemas.microsoft.com/office/drawing/2014/main" val="3709958827"/>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avg_direct_sim</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相似度</a:t>
                      </a:r>
                    </a:p>
                  </a:txBody>
                  <a:tcPr marL="4191" marR="4191" marT="4191" marB="0" anchor="ctr">
                    <a:lnL>
                      <a:noFill/>
                    </a:lnL>
                    <a:lnR>
                      <a:noFill/>
                    </a:lnR>
                    <a:lnT>
                      <a:noFill/>
                    </a:lnT>
                    <a:lnB>
                      <a:noFill/>
                    </a:lnB>
                    <a:noFill/>
                  </a:tcPr>
                </a:tc>
                <a:extLst>
                  <a:ext uri="{0D108BD9-81ED-4DB2-BD59-A6C34878D82A}">
                    <a16:rowId xmlns:a16="http://schemas.microsoft.com/office/drawing/2014/main" val="2695570640"/>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avg_direct_degree</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相对语调</a:t>
                      </a:r>
                    </a:p>
                  </a:txBody>
                  <a:tcPr marL="4191" marR="4191" marT="4191" marB="0" anchor="ctr">
                    <a:lnL>
                      <a:noFill/>
                    </a:lnL>
                    <a:lnR>
                      <a:noFill/>
                    </a:lnR>
                    <a:lnT>
                      <a:noFill/>
                    </a:lnT>
                    <a:lnB>
                      <a:noFill/>
                    </a:lnB>
                    <a:noFill/>
                  </a:tcPr>
                </a:tc>
                <a:extLst>
                  <a:ext uri="{0D108BD9-81ED-4DB2-BD59-A6C34878D82A}">
                    <a16:rowId xmlns:a16="http://schemas.microsoft.com/office/drawing/2014/main" val="1664862036"/>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avg_hidden_degree</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隐式相对语调（最相近十个句子的平均）</a:t>
                      </a:r>
                    </a:p>
                  </a:txBody>
                  <a:tcPr marL="4191" marR="4191" marT="4191" marB="0" anchor="ctr">
                    <a:lnL>
                      <a:noFill/>
                    </a:lnL>
                    <a:lnR>
                      <a:noFill/>
                    </a:lnR>
                    <a:lnT>
                      <a:noFill/>
                    </a:lnT>
                    <a:lnB>
                      <a:noFill/>
                    </a:lnB>
                    <a:noFill/>
                  </a:tcPr>
                </a:tc>
                <a:extLst>
                  <a:ext uri="{0D108BD9-81ED-4DB2-BD59-A6C34878D82A}">
                    <a16:rowId xmlns:a16="http://schemas.microsoft.com/office/drawing/2014/main" val="1960662845"/>
                  </a:ext>
                </a:extLst>
              </a:tr>
              <a:tr h="118021">
                <a:tc>
                  <a:txBody>
                    <a:bodyPr/>
                    <a:lstStyle/>
                    <a:p>
                      <a:pPr algn="ctr" fontAlgn="ctr">
                        <a:buNone/>
                      </a:pPr>
                      <a:r>
                        <a:rPr lang="en-US" sz="800" b="0" i="0" u="none" strike="noStrike" dirty="0">
                          <a:solidFill>
                            <a:srgbClr val="000000"/>
                          </a:solidFill>
                          <a:effectLst/>
                          <a:latin typeface="Times New Roman" panose="02020603050405020304" pitchFamily="18" charset="0"/>
                          <a:ea typeface="等线" panose="02010600030101010101" pitchFamily="2" charset="-122"/>
                        </a:rPr>
                        <a:t>target</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“主要目标”段落的相对语调</a:t>
                      </a:r>
                    </a:p>
                  </a:txBody>
                  <a:tcPr marL="4191" marR="4191" marT="4191" marB="0" anchor="ctr">
                    <a:lnL>
                      <a:noFill/>
                    </a:lnL>
                    <a:lnR>
                      <a:noFill/>
                    </a:lnR>
                    <a:lnT>
                      <a:noFill/>
                    </a:lnT>
                    <a:lnB>
                      <a:noFill/>
                    </a:lnB>
                    <a:noFill/>
                  </a:tcPr>
                </a:tc>
                <a:extLst>
                  <a:ext uri="{0D108BD9-81ED-4DB2-BD59-A6C34878D82A}">
                    <a16:rowId xmlns:a16="http://schemas.microsoft.com/office/drawing/2014/main" val="336624129"/>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target_hid</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“主要目标”段落的隐式相对语调</a:t>
                      </a:r>
                    </a:p>
                  </a:txBody>
                  <a:tcPr marL="4191" marR="4191" marT="4191" marB="0" anchor="ctr">
                    <a:lnL>
                      <a:noFill/>
                    </a:lnL>
                    <a:lnR>
                      <a:noFill/>
                    </a:lnR>
                    <a:lnT>
                      <a:noFill/>
                    </a:lnT>
                    <a:lnB>
                      <a:noFill/>
                    </a:lnB>
                    <a:noFill/>
                  </a:tcPr>
                </a:tc>
                <a:extLst>
                  <a:ext uri="{0D108BD9-81ED-4DB2-BD59-A6C34878D82A}">
                    <a16:rowId xmlns:a16="http://schemas.microsoft.com/office/drawing/2014/main" val="1453817696"/>
                  </a:ext>
                </a:extLst>
              </a:tr>
              <a:tr h="122918">
                <a:tc>
                  <a:txBody>
                    <a:bodyPr/>
                    <a:lstStyle/>
                    <a:p>
                      <a:pPr algn="ctr" fontAlgn="ctr">
                        <a:buNone/>
                      </a:pPr>
                      <a:r>
                        <a:rPr lang="en-US" sz="800" b="0" i="0" u="none" strike="noStrike">
                          <a:solidFill>
                            <a:srgbClr val="000000"/>
                          </a:solidFill>
                          <a:effectLst/>
                          <a:latin typeface="宋体" panose="02010600030101010101" pitchFamily="2" charset="-122"/>
                          <a:ea typeface="宋体" panose="02010600030101010101" pitchFamily="2" charset="-122"/>
                        </a:rPr>
                        <a:t>deg70</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控制相似度阈值为</a:t>
                      </a:r>
                      <a:r>
                        <a:rPr lang="en-US" altLang="zh-CN" sz="800" b="0" i="0" u="none" strike="noStrike">
                          <a:solidFill>
                            <a:srgbClr val="000000"/>
                          </a:solidFill>
                          <a:effectLst/>
                          <a:latin typeface="等线" panose="02010600030101010101" pitchFamily="2" charset="-122"/>
                          <a:ea typeface="等线" panose="02010600030101010101" pitchFamily="2" charset="-122"/>
                        </a:rPr>
                        <a:t>70</a:t>
                      </a:r>
                      <a:r>
                        <a:rPr lang="zh-CN" altLang="en-US" sz="800" b="0" i="0" u="none" strike="noStrike">
                          <a:solidFill>
                            <a:srgbClr val="000000"/>
                          </a:solidFill>
                          <a:effectLst/>
                          <a:latin typeface="等线" panose="02010600030101010101" pitchFamily="2" charset="-122"/>
                          <a:ea typeface="等线" panose="02010600030101010101" pitchFamily="2" charset="-122"/>
                        </a:rPr>
                        <a:t>的相对语调</a:t>
                      </a:r>
                    </a:p>
                  </a:txBody>
                  <a:tcPr marL="4191" marR="4191" marT="4191" marB="0" anchor="ctr">
                    <a:lnL>
                      <a:noFill/>
                    </a:lnL>
                    <a:lnR>
                      <a:noFill/>
                    </a:lnR>
                    <a:lnT>
                      <a:noFill/>
                    </a:lnT>
                    <a:lnB>
                      <a:noFill/>
                    </a:lnB>
                    <a:noFill/>
                  </a:tcPr>
                </a:tc>
                <a:extLst>
                  <a:ext uri="{0D108BD9-81ED-4DB2-BD59-A6C34878D82A}">
                    <a16:rowId xmlns:a16="http://schemas.microsoft.com/office/drawing/2014/main" val="1258181443"/>
                  </a:ext>
                </a:extLst>
              </a:tr>
              <a:tr h="122918">
                <a:tc>
                  <a:txBody>
                    <a:bodyPr/>
                    <a:lstStyle/>
                    <a:p>
                      <a:pPr algn="ctr" fontAlgn="ctr">
                        <a:buNone/>
                      </a:pPr>
                      <a:r>
                        <a:rPr lang="en-US" sz="800" b="0" i="0" u="none" strike="noStrike" dirty="0">
                          <a:solidFill>
                            <a:srgbClr val="000000"/>
                          </a:solidFill>
                          <a:effectLst/>
                          <a:latin typeface="宋体" panose="02010600030101010101" pitchFamily="2" charset="-122"/>
                          <a:ea typeface="宋体" panose="02010600030101010101" pitchFamily="2" charset="-122"/>
                        </a:rPr>
                        <a:t>deg80</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控制相似度阈值为</a:t>
                      </a:r>
                      <a:r>
                        <a:rPr lang="en-US" altLang="zh-CN" sz="800" b="0" i="0" u="none" strike="noStrike">
                          <a:solidFill>
                            <a:srgbClr val="000000"/>
                          </a:solidFill>
                          <a:effectLst/>
                          <a:latin typeface="等线" panose="02010600030101010101" pitchFamily="2" charset="-122"/>
                          <a:ea typeface="等线" panose="02010600030101010101" pitchFamily="2" charset="-122"/>
                        </a:rPr>
                        <a:t>80</a:t>
                      </a:r>
                      <a:r>
                        <a:rPr lang="zh-CN" altLang="en-US" sz="800" b="0" i="0" u="none" strike="noStrike">
                          <a:solidFill>
                            <a:srgbClr val="000000"/>
                          </a:solidFill>
                          <a:effectLst/>
                          <a:latin typeface="等线" panose="02010600030101010101" pitchFamily="2" charset="-122"/>
                          <a:ea typeface="等线" panose="02010600030101010101" pitchFamily="2" charset="-122"/>
                        </a:rPr>
                        <a:t>的相对语调</a:t>
                      </a:r>
                    </a:p>
                  </a:txBody>
                  <a:tcPr marL="4191" marR="4191" marT="4191" marB="0" anchor="ctr">
                    <a:lnL>
                      <a:noFill/>
                    </a:lnL>
                    <a:lnR>
                      <a:noFill/>
                    </a:lnR>
                    <a:lnT>
                      <a:noFill/>
                    </a:lnT>
                    <a:lnB>
                      <a:noFill/>
                    </a:lnB>
                    <a:noFill/>
                  </a:tcPr>
                </a:tc>
                <a:extLst>
                  <a:ext uri="{0D108BD9-81ED-4DB2-BD59-A6C34878D82A}">
                    <a16:rowId xmlns:a16="http://schemas.microsoft.com/office/drawing/2014/main" val="2046649824"/>
                  </a:ext>
                </a:extLst>
              </a:tr>
              <a:tr h="122918">
                <a:tc>
                  <a:txBody>
                    <a:bodyPr/>
                    <a:lstStyle/>
                    <a:p>
                      <a:pPr algn="ctr" fontAlgn="ctr">
                        <a:buNone/>
                      </a:pPr>
                      <a:r>
                        <a:rPr lang="en-US" sz="800" b="0" i="0" u="none" strike="noStrike">
                          <a:solidFill>
                            <a:srgbClr val="000000"/>
                          </a:solidFill>
                          <a:effectLst/>
                          <a:latin typeface="宋体" panose="02010600030101010101" pitchFamily="2" charset="-122"/>
                          <a:ea typeface="宋体" panose="02010600030101010101" pitchFamily="2" charset="-122"/>
                        </a:rPr>
                        <a:t>deg90</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控制相似度阈值为</a:t>
                      </a:r>
                      <a:r>
                        <a:rPr lang="en-US" altLang="zh-CN" sz="800" b="0" i="0" u="none" strike="noStrike">
                          <a:solidFill>
                            <a:srgbClr val="000000"/>
                          </a:solidFill>
                          <a:effectLst/>
                          <a:latin typeface="等线" panose="02010600030101010101" pitchFamily="2" charset="-122"/>
                          <a:ea typeface="等线" panose="02010600030101010101" pitchFamily="2" charset="-122"/>
                        </a:rPr>
                        <a:t>90</a:t>
                      </a:r>
                      <a:r>
                        <a:rPr lang="zh-CN" altLang="en-US" sz="800" b="0" i="0" u="none" strike="noStrike">
                          <a:solidFill>
                            <a:srgbClr val="000000"/>
                          </a:solidFill>
                          <a:effectLst/>
                          <a:latin typeface="等线" panose="02010600030101010101" pitchFamily="2" charset="-122"/>
                          <a:ea typeface="等线" panose="02010600030101010101" pitchFamily="2" charset="-122"/>
                        </a:rPr>
                        <a:t>的相对语调</a:t>
                      </a:r>
                    </a:p>
                  </a:txBody>
                  <a:tcPr marL="4191" marR="4191" marT="4191" marB="0" anchor="ctr">
                    <a:lnL>
                      <a:noFill/>
                    </a:lnL>
                    <a:lnR>
                      <a:noFill/>
                    </a:lnR>
                    <a:lnT>
                      <a:noFill/>
                    </a:lnT>
                    <a:lnB>
                      <a:noFill/>
                    </a:lnB>
                    <a:noFill/>
                  </a:tcPr>
                </a:tc>
                <a:extLst>
                  <a:ext uri="{0D108BD9-81ED-4DB2-BD59-A6C34878D82A}">
                    <a16:rowId xmlns:a16="http://schemas.microsoft.com/office/drawing/2014/main" val="2948999028"/>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std_sim</a:t>
                      </a:r>
                    </a:p>
                  </a:txBody>
                  <a:tcPr marL="4191" marR="4191" marT="4191" marB="0" anchor="ctr">
                    <a:lnL>
                      <a:noFill/>
                    </a:lnL>
                    <a:lnR>
                      <a:noFill/>
                    </a:lnR>
                    <a:lnT>
                      <a:noFill/>
                    </a:lnT>
                    <a:lnB>
                      <a:noFill/>
                    </a:lnB>
                    <a:solidFill>
                      <a:srgbClr val="ED7D31"/>
                    </a:solidFill>
                  </a:tcPr>
                </a:tc>
                <a:tc>
                  <a:txBody>
                    <a:bodyPr/>
                    <a:lstStyle/>
                    <a:p>
                      <a:pPr algn="ctr" fontAlgn="ctr">
                        <a:buNone/>
                      </a:pPr>
                      <a:r>
                        <a:rPr lang="en-US" sz="800" b="0" i="0" u="none" strike="noStrike">
                          <a:solidFill>
                            <a:srgbClr val="000000"/>
                          </a:solidFill>
                          <a:effectLst/>
                          <a:latin typeface="等线" panose="02010600030101010101" pitchFamily="2" charset="-122"/>
                          <a:ea typeface="等线" panose="02010600030101010101" pitchFamily="2" charset="-122"/>
                        </a:rPr>
                        <a:t>avg_direct_sim</a:t>
                      </a:r>
                      <a:r>
                        <a:rPr lang="zh-CN" altLang="en-US" sz="800" b="0" i="0" u="none" strike="noStrike">
                          <a:solidFill>
                            <a:srgbClr val="000000"/>
                          </a:solidFill>
                          <a:effectLst/>
                          <a:latin typeface="等线" panose="02010600030101010101" pitchFamily="2" charset="-122"/>
                          <a:ea typeface="等线" panose="02010600030101010101" pitchFamily="2" charset="-122"/>
                        </a:rPr>
                        <a:t>标准化</a:t>
                      </a:r>
                    </a:p>
                  </a:txBody>
                  <a:tcPr marL="4191" marR="4191" marT="4191" marB="0" anchor="ctr">
                    <a:lnL>
                      <a:noFill/>
                    </a:lnL>
                    <a:lnR>
                      <a:noFill/>
                    </a:lnR>
                    <a:lnT>
                      <a:noFill/>
                    </a:lnT>
                    <a:lnB>
                      <a:noFill/>
                    </a:lnB>
                    <a:noFill/>
                  </a:tcPr>
                </a:tc>
                <a:extLst>
                  <a:ext uri="{0D108BD9-81ED-4DB2-BD59-A6C34878D82A}">
                    <a16:rowId xmlns:a16="http://schemas.microsoft.com/office/drawing/2014/main" val="2182400866"/>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std_deg</a:t>
                      </a:r>
                    </a:p>
                  </a:txBody>
                  <a:tcPr marL="4191" marR="4191" marT="4191" marB="0" anchor="ctr">
                    <a:lnL>
                      <a:noFill/>
                    </a:lnL>
                    <a:lnR>
                      <a:noFill/>
                    </a:lnR>
                    <a:lnT>
                      <a:noFill/>
                    </a:lnT>
                    <a:lnB>
                      <a:noFill/>
                    </a:lnB>
                    <a:solidFill>
                      <a:srgbClr val="ED7D31"/>
                    </a:solidFill>
                  </a:tcPr>
                </a:tc>
                <a:tc>
                  <a:txBody>
                    <a:bodyPr/>
                    <a:lstStyle/>
                    <a:p>
                      <a:pPr algn="ctr" fontAlgn="ctr">
                        <a:buNone/>
                      </a:pPr>
                      <a:r>
                        <a:rPr lang="en-US" sz="800" b="0" i="0" u="none" strike="noStrike">
                          <a:solidFill>
                            <a:srgbClr val="000000"/>
                          </a:solidFill>
                          <a:effectLst/>
                          <a:latin typeface="等线" panose="02010600030101010101" pitchFamily="2" charset="-122"/>
                          <a:ea typeface="等线" panose="02010600030101010101" pitchFamily="2" charset="-122"/>
                        </a:rPr>
                        <a:t>avg_direct_degree</a:t>
                      </a:r>
                      <a:r>
                        <a:rPr lang="zh-CN" altLang="en-US" sz="800" b="0" i="0" u="none" strike="noStrike">
                          <a:solidFill>
                            <a:srgbClr val="000000"/>
                          </a:solidFill>
                          <a:effectLst/>
                          <a:latin typeface="等线" panose="02010600030101010101" pitchFamily="2" charset="-122"/>
                          <a:ea typeface="等线" panose="02010600030101010101" pitchFamily="2" charset="-122"/>
                        </a:rPr>
                        <a:t>标准化</a:t>
                      </a:r>
                    </a:p>
                  </a:txBody>
                  <a:tcPr marL="4191" marR="4191" marT="4191" marB="0" anchor="ctr">
                    <a:lnL>
                      <a:noFill/>
                    </a:lnL>
                    <a:lnR>
                      <a:noFill/>
                    </a:lnR>
                    <a:lnT>
                      <a:noFill/>
                    </a:lnT>
                    <a:lnB>
                      <a:noFill/>
                    </a:lnB>
                    <a:noFill/>
                  </a:tcPr>
                </a:tc>
                <a:extLst>
                  <a:ext uri="{0D108BD9-81ED-4DB2-BD59-A6C34878D82A}">
                    <a16:rowId xmlns:a16="http://schemas.microsoft.com/office/drawing/2014/main" val="3228008055"/>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std_hid_deg</a:t>
                      </a:r>
                    </a:p>
                  </a:txBody>
                  <a:tcPr marL="4191" marR="4191" marT="4191" marB="0" anchor="ctr">
                    <a:lnL>
                      <a:noFill/>
                    </a:lnL>
                    <a:lnR>
                      <a:noFill/>
                    </a:lnR>
                    <a:lnT>
                      <a:noFill/>
                    </a:lnT>
                    <a:lnB>
                      <a:noFill/>
                    </a:lnB>
                    <a:solidFill>
                      <a:srgbClr val="ED7D31"/>
                    </a:solidFill>
                  </a:tcPr>
                </a:tc>
                <a:tc>
                  <a:txBody>
                    <a:bodyPr/>
                    <a:lstStyle/>
                    <a:p>
                      <a:pPr algn="ctr" fontAlgn="ctr">
                        <a:buNone/>
                      </a:pPr>
                      <a:r>
                        <a:rPr lang="en-US" sz="800" b="0" i="0" u="none" strike="noStrike">
                          <a:solidFill>
                            <a:srgbClr val="000000"/>
                          </a:solidFill>
                          <a:effectLst/>
                          <a:latin typeface="等线" panose="02010600030101010101" pitchFamily="2" charset="-122"/>
                          <a:ea typeface="等线" panose="02010600030101010101" pitchFamily="2" charset="-122"/>
                        </a:rPr>
                        <a:t>avg_hidden_degree</a:t>
                      </a:r>
                      <a:r>
                        <a:rPr lang="zh-CN" altLang="en-US" sz="800" b="0" i="0" u="none" strike="noStrike">
                          <a:solidFill>
                            <a:srgbClr val="000000"/>
                          </a:solidFill>
                          <a:effectLst/>
                          <a:latin typeface="等线" panose="02010600030101010101" pitchFamily="2" charset="-122"/>
                          <a:ea typeface="等线" panose="02010600030101010101" pitchFamily="2" charset="-122"/>
                        </a:rPr>
                        <a:t>标准化</a:t>
                      </a:r>
                    </a:p>
                  </a:txBody>
                  <a:tcPr marL="4191" marR="4191" marT="4191" marB="0" anchor="ctr">
                    <a:lnL>
                      <a:noFill/>
                    </a:lnL>
                    <a:lnR>
                      <a:noFill/>
                    </a:lnR>
                    <a:lnT>
                      <a:noFill/>
                    </a:lnT>
                    <a:lnB>
                      <a:noFill/>
                    </a:lnB>
                    <a:noFill/>
                  </a:tcPr>
                </a:tc>
                <a:extLst>
                  <a:ext uri="{0D108BD9-81ED-4DB2-BD59-A6C34878D82A}">
                    <a16:rowId xmlns:a16="http://schemas.microsoft.com/office/drawing/2014/main" val="3473492594"/>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std_target</a:t>
                      </a:r>
                    </a:p>
                  </a:txBody>
                  <a:tcPr marL="4191" marR="4191" marT="4191" marB="0" anchor="ctr">
                    <a:lnL>
                      <a:noFill/>
                    </a:lnL>
                    <a:lnR>
                      <a:noFill/>
                    </a:lnR>
                    <a:lnT>
                      <a:noFill/>
                    </a:lnT>
                    <a:lnB>
                      <a:noFill/>
                    </a:lnB>
                    <a:solidFill>
                      <a:srgbClr val="ED7D31"/>
                    </a:solidFill>
                  </a:tcPr>
                </a:tc>
                <a:tc>
                  <a:txBody>
                    <a:bodyPr/>
                    <a:lstStyle/>
                    <a:p>
                      <a:pPr algn="ctr" fontAlgn="ctr">
                        <a:buNone/>
                      </a:pPr>
                      <a:r>
                        <a:rPr lang="en-US" sz="800" b="0" i="0" u="none" strike="noStrike">
                          <a:solidFill>
                            <a:srgbClr val="000000"/>
                          </a:solidFill>
                          <a:effectLst/>
                          <a:latin typeface="等线" panose="02010600030101010101" pitchFamily="2" charset="-122"/>
                          <a:ea typeface="等线" panose="02010600030101010101" pitchFamily="2" charset="-122"/>
                        </a:rPr>
                        <a:t>target</a:t>
                      </a:r>
                      <a:r>
                        <a:rPr lang="zh-CN" altLang="en-US" sz="800" b="0" i="0" u="none" strike="noStrike">
                          <a:solidFill>
                            <a:srgbClr val="000000"/>
                          </a:solidFill>
                          <a:effectLst/>
                          <a:latin typeface="等线" panose="02010600030101010101" pitchFamily="2" charset="-122"/>
                          <a:ea typeface="等线" panose="02010600030101010101" pitchFamily="2" charset="-122"/>
                        </a:rPr>
                        <a:t>标准化</a:t>
                      </a:r>
                    </a:p>
                  </a:txBody>
                  <a:tcPr marL="4191" marR="4191" marT="4191" marB="0" anchor="ctr">
                    <a:lnL>
                      <a:noFill/>
                    </a:lnL>
                    <a:lnR>
                      <a:noFill/>
                    </a:lnR>
                    <a:lnT>
                      <a:noFill/>
                    </a:lnT>
                    <a:lnB>
                      <a:noFill/>
                    </a:lnB>
                    <a:noFill/>
                  </a:tcPr>
                </a:tc>
                <a:extLst>
                  <a:ext uri="{0D108BD9-81ED-4DB2-BD59-A6C34878D82A}">
                    <a16:rowId xmlns:a16="http://schemas.microsoft.com/office/drawing/2014/main" val="1939346407"/>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std_hid_target</a:t>
                      </a:r>
                    </a:p>
                  </a:txBody>
                  <a:tcPr marL="4191" marR="4191" marT="4191" marB="0" anchor="ctr">
                    <a:lnL>
                      <a:noFill/>
                    </a:lnL>
                    <a:lnR>
                      <a:noFill/>
                    </a:lnR>
                    <a:lnT>
                      <a:noFill/>
                    </a:lnT>
                    <a:lnB>
                      <a:noFill/>
                    </a:lnB>
                    <a:solidFill>
                      <a:srgbClr val="ED7D31"/>
                    </a:solidFill>
                  </a:tcPr>
                </a:tc>
                <a:tc>
                  <a:txBody>
                    <a:bodyPr/>
                    <a:lstStyle/>
                    <a:p>
                      <a:pPr algn="ctr" fontAlgn="ctr">
                        <a:buNone/>
                      </a:pPr>
                      <a:r>
                        <a:rPr lang="en-US" sz="800" b="0" i="0" u="none" strike="noStrike">
                          <a:solidFill>
                            <a:srgbClr val="000000"/>
                          </a:solidFill>
                          <a:effectLst/>
                          <a:latin typeface="等线" panose="02010600030101010101" pitchFamily="2" charset="-122"/>
                          <a:ea typeface="等线" panose="02010600030101010101" pitchFamily="2" charset="-122"/>
                        </a:rPr>
                        <a:t>target_hid</a:t>
                      </a:r>
                      <a:r>
                        <a:rPr lang="zh-CN" altLang="en-US" sz="800" b="0" i="0" u="none" strike="noStrike">
                          <a:solidFill>
                            <a:srgbClr val="000000"/>
                          </a:solidFill>
                          <a:effectLst/>
                          <a:latin typeface="等线" panose="02010600030101010101" pitchFamily="2" charset="-122"/>
                          <a:ea typeface="等线" panose="02010600030101010101" pitchFamily="2" charset="-122"/>
                        </a:rPr>
                        <a:t>标准化</a:t>
                      </a:r>
                    </a:p>
                  </a:txBody>
                  <a:tcPr marL="4191" marR="4191" marT="4191" marB="0" anchor="ctr">
                    <a:lnL>
                      <a:noFill/>
                    </a:lnL>
                    <a:lnR>
                      <a:noFill/>
                    </a:lnR>
                    <a:lnT>
                      <a:noFill/>
                    </a:lnT>
                    <a:lnB>
                      <a:noFill/>
                    </a:lnB>
                    <a:noFill/>
                  </a:tcPr>
                </a:tc>
                <a:extLst>
                  <a:ext uri="{0D108BD9-81ED-4DB2-BD59-A6C34878D82A}">
                    <a16:rowId xmlns:a16="http://schemas.microsoft.com/office/drawing/2014/main" val="2961887443"/>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std_70</a:t>
                      </a:r>
                    </a:p>
                  </a:txBody>
                  <a:tcPr marL="4191" marR="4191" marT="4191" marB="0" anchor="ctr">
                    <a:lnL>
                      <a:noFill/>
                    </a:lnL>
                    <a:lnR>
                      <a:noFill/>
                    </a:lnR>
                    <a:lnT>
                      <a:noFill/>
                    </a:lnT>
                    <a:lnB>
                      <a:noFill/>
                    </a:lnB>
                    <a:solidFill>
                      <a:srgbClr val="ED7D31"/>
                    </a:solidFill>
                  </a:tcPr>
                </a:tc>
                <a:tc>
                  <a:txBody>
                    <a:bodyPr/>
                    <a:lstStyle/>
                    <a:p>
                      <a:pPr algn="ctr" fontAlgn="ctr">
                        <a:buNone/>
                      </a:pPr>
                      <a:r>
                        <a:rPr lang="en-US" sz="800" b="0" i="0" u="none" strike="noStrike">
                          <a:solidFill>
                            <a:srgbClr val="000000"/>
                          </a:solidFill>
                          <a:effectLst/>
                          <a:latin typeface="等线" panose="02010600030101010101" pitchFamily="2" charset="-122"/>
                          <a:ea typeface="等线" panose="02010600030101010101" pitchFamily="2" charset="-122"/>
                        </a:rPr>
                        <a:t>deg70</a:t>
                      </a:r>
                      <a:r>
                        <a:rPr lang="zh-CN" altLang="en-US" sz="800" b="0" i="0" u="none" strike="noStrike">
                          <a:solidFill>
                            <a:srgbClr val="000000"/>
                          </a:solidFill>
                          <a:effectLst/>
                          <a:latin typeface="等线" panose="02010600030101010101" pitchFamily="2" charset="-122"/>
                          <a:ea typeface="等线" panose="02010600030101010101" pitchFamily="2" charset="-122"/>
                        </a:rPr>
                        <a:t>标准化</a:t>
                      </a:r>
                    </a:p>
                  </a:txBody>
                  <a:tcPr marL="4191" marR="4191" marT="4191" marB="0" anchor="ctr">
                    <a:lnL>
                      <a:noFill/>
                    </a:lnL>
                    <a:lnR>
                      <a:noFill/>
                    </a:lnR>
                    <a:lnT>
                      <a:noFill/>
                    </a:lnT>
                    <a:lnB>
                      <a:noFill/>
                    </a:lnB>
                    <a:noFill/>
                  </a:tcPr>
                </a:tc>
                <a:extLst>
                  <a:ext uri="{0D108BD9-81ED-4DB2-BD59-A6C34878D82A}">
                    <a16:rowId xmlns:a16="http://schemas.microsoft.com/office/drawing/2014/main" val="3437237"/>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std_80</a:t>
                      </a:r>
                    </a:p>
                  </a:txBody>
                  <a:tcPr marL="4191" marR="4191" marT="4191" marB="0" anchor="ctr">
                    <a:lnL>
                      <a:noFill/>
                    </a:lnL>
                    <a:lnR>
                      <a:noFill/>
                    </a:lnR>
                    <a:lnT>
                      <a:noFill/>
                    </a:lnT>
                    <a:lnB>
                      <a:noFill/>
                    </a:lnB>
                    <a:solidFill>
                      <a:srgbClr val="ED7D31"/>
                    </a:solidFill>
                  </a:tcPr>
                </a:tc>
                <a:tc>
                  <a:txBody>
                    <a:bodyPr/>
                    <a:lstStyle/>
                    <a:p>
                      <a:pPr algn="ctr" fontAlgn="ctr">
                        <a:buNone/>
                      </a:pPr>
                      <a:r>
                        <a:rPr lang="en-US" sz="800" b="0" i="0" u="none" strike="noStrike">
                          <a:solidFill>
                            <a:srgbClr val="000000"/>
                          </a:solidFill>
                          <a:effectLst/>
                          <a:latin typeface="等线" panose="02010600030101010101" pitchFamily="2" charset="-122"/>
                          <a:ea typeface="等线" panose="02010600030101010101" pitchFamily="2" charset="-122"/>
                        </a:rPr>
                        <a:t>deg80</a:t>
                      </a:r>
                      <a:r>
                        <a:rPr lang="zh-CN" altLang="en-US" sz="800" b="0" i="0" u="none" strike="noStrike">
                          <a:solidFill>
                            <a:srgbClr val="000000"/>
                          </a:solidFill>
                          <a:effectLst/>
                          <a:latin typeface="等线" panose="02010600030101010101" pitchFamily="2" charset="-122"/>
                          <a:ea typeface="等线" panose="02010600030101010101" pitchFamily="2" charset="-122"/>
                        </a:rPr>
                        <a:t>标准化</a:t>
                      </a:r>
                    </a:p>
                  </a:txBody>
                  <a:tcPr marL="4191" marR="4191" marT="4191" marB="0" anchor="ctr">
                    <a:lnL>
                      <a:noFill/>
                    </a:lnL>
                    <a:lnR>
                      <a:noFill/>
                    </a:lnR>
                    <a:lnT>
                      <a:noFill/>
                    </a:lnT>
                    <a:lnB>
                      <a:noFill/>
                    </a:lnB>
                    <a:noFill/>
                  </a:tcPr>
                </a:tc>
                <a:extLst>
                  <a:ext uri="{0D108BD9-81ED-4DB2-BD59-A6C34878D82A}">
                    <a16:rowId xmlns:a16="http://schemas.microsoft.com/office/drawing/2014/main" val="712650101"/>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std_90</a:t>
                      </a:r>
                    </a:p>
                  </a:txBody>
                  <a:tcPr marL="4191" marR="4191" marT="4191" marB="0" anchor="ctr">
                    <a:lnL>
                      <a:noFill/>
                    </a:lnL>
                    <a:lnR>
                      <a:noFill/>
                    </a:lnR>
                    <a:lnT>
                      <a:noFill/>
                    </a:lnT>
                    <a:lnB>
                      <a:noFill/>
                    </a:lnB>
                    <a:solidFill>
                      <a:srgbClr val="ED7D31"/>
                    </a:solidFill>
                  </a:tcPr>
                </a:tc>
                <a:tc>
                  <a:txBody>
                    <a:bodyPr/>
                    <a:lstStyle/>
                    <a:p>
                      <a:pPr algn="ctr" fontAlgn="ctr">
                        <a:buNone/>
                      </a:pPr>
                      <a:r>
                        <a:rPr lang="en-US" sz="800" b="0" i="0" u="none" strike="noStrike">
                          <a:solidFill>
                            <a:srgbClr val="000000"/>
                          </a:solidFill>
                          <a:effectLst/>
                          <a:latin typeface="等线" panose="02010600030101010101" pitchFamily="2" charset="-122"/>
                          <a:ea typeface="等线" panose="02010600030101010101" pitchFamily="2" charset="-122"/>
                        </a:rPr>
                        <a:t>deg90</a:t>
                      </a:r>
                      <a:r>
                        <a:rPr lang="zh-CN" altLang="en-US" sz="800" b="0" i="0" u="none" strike="noStrike">
                          <a:solidFill>
                            <a:srgbClr val="000000"/>
                          </a:solidFill>
                          <a:effectLst/>
                          <a:latin typeface="等线" panose="02010600030101010101" pitchFamily="2" charset="-122"/>
                          <a:ea typeface="等线" panose="02010600030101010101" pitchFamily="2" charset="-122"/>
                        </a:rPr>
                        <a:t>标准化</a:t>
                      </a:r>
                    </a:p>
                  </a:txBody>
                  <a:tcPr marL="4191" marR="4191" marT="4191" marB="0" anchor="ctr">
                    <a:lnL>
                      <a:noFill/>
                    </a:lnL>
                    <a:lnR>
                      <a:noFill/>
                    </a:lnR>
                    <a:lnT>
                      <a:noFill/>
                    </a:lnT>
                    <a:lnB>
                      <a:noFill/>
                    </a:lnB>
                    <a:noFill/>
                  </a:tcPr>
                </a:tc>
                <a:extLst>
                  <a:ext uri="{0D108BD9-81ED-4DB2-BD59-A6C34878D82A}">
                    <a16:rowId xmlns:a16="http://schemas.microsoft.com/office/drawing/2014/main" val="1090837433"/>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a145</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十四五期间目标非化石能源占比</a:t>
                      </a:r>
                    </a:p>
                  </a:txBody>
                  <a:tcPr marL="4191" marR="4191" marT="4191" marB="0" anchor="ctr">
                    <a:lnL>
                      <a:noFill/>
                    </a:lnL>
                    <a:lnR>
                      <a:noFill/>
                    </a:lnR>
                    <a:lnT>
                      <a:noFill/>
                    </a:lnT>
                    <a:lnB>
                      <a:noFill/>
                    </a:lnB>
                    <a:noFill/>
                  </a:tcPr>
                </a:tc>
                <a:extLst>
                  <a:ext uri="{0D108BD9-81ED-4DB2-BD59-A6C34878D82A}">
                    <a16:rowId xmlns:a16="http://schemas.microsoft.com/office/drawing/2014/main" val="1922403950"/>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b145</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十四五期间能耗强目标下降百分比</a:t>
                      </a:r>
                    </a:p>
                  </a:txBody>
                  <a:tcPr marL="4191" marR="4191" marT="4191" marB="0" anchor="ctr">
                    <a:lnL>
                      <a:noFill/>
                    </a:lnL>
                    <a:lnR>
                      <a:noFill/>
                    </a:lnR>
                    <a:lnT>
                      <a:noFill/>
                    </a:lnT>
                    <a:lnB>
                      <a:noFill/>
                    </a:lnB>
                    <a:noFill/>
                  </a:tcPr>
                </a:tc>
                <a:extLst>
                  <a:ext uri="{0D108BD9-81ED-4DB2-BD59-A6C34878D82A}">
                    <a16:rowId xmlns:a16="http://schemas.microsoft.com/office/drawing/2014/main" val="2459149338"/>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c145</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dirty="0">
                          <a:solidFill>
                            <a:srgbClr val="000000"/>
                          </a:solidFill>
                          <a:effectLst/>
                          <a:latin typeface="等线" panose="02010600030101010101" pitchFamily="2" charset="-122"/>
                          <a:ea typeface="等线" panose="02010600030101010101" pitchFamily="2" charset="-122"/>
                        </a:rPr>
                        <a:t>十四五期碳排强度目标下降百分比</a:t>
                      </a:r>
                    </a:p>
                  </a:txBody>
                  <a:tcPr marL="4191" marR="4191" marT="4191" marB="0" anchor="ctr">
                    <a:lnL>
                      <a:noFill/>
                    </a:lnL>
                    <a:lnR>
                      <a:noFill/>
                    </a:lnR>
                    <a:lnT>
                      <a:noFill/>
                    </a:lnT>
                    <a:lnB>
                      <a:noFill/>
                    </a:lnB>
                    <a:noFill/>
                  </a:tcPr>
                </a:tc>
                <a:extLst>
                  <a:ext uri="{0D108BD9-81ED-4DB2-BD59-A6C34878D82A}">
                    <a16:rowId xmlns:a16="http://schemas.microsoft.com/office/drawing/2014/main" val="1069154019"/>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a155</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十五五期间目标非化石能源占比</a:t>
                      </a:r>
                    </a:p>
                  </a:txBody>
                  <a:tcPr marL="4191" marR="4191" marT="4191" marB="0" anchor="ctr">
                    <a:lnL>
                      <a:noFill/>
                    </a:lnL>
                    <a:lnR>
                      <a:noFill/>
                    </a:lnR>
                    <a:lnT>
                      <a:noFill/>
                    </a:lnT>
                    <a:lnB>
                      <a:noFill/>
                    </a:lnB>
                    <a:noFill/>
                  </a:tcPr>
                </a:tc>
                <a:extLst>
                  <a:ext uri="{0D108BD9-81ED-4DB2-BD59-A6C34878D82A}">
                    <a16:rowId xmlns:a16="http://schemas.microsoft.com/office/drawing/2014/main" val="589897284"/>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c155</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十五五期碳排强度目标下降百分比</a:t>
                      </a:r>
                    </a:p>
                  </a:txBody>
                  <a:tcPr marL="4191" marR="4191" marT="4191" marB="0" anchor="ctr">
                    <a:lnL>
                      <a:noFill/>
                    </a:lnL>
                    <a:lnR>
                      <a:noFill/>
                    </a:lnR>
                    <a:lnT>
                      <a:noFill/>
                    </a:lnT>
                    <a:lnB>
                      <a:noFill/>
                    </a:lnB>
                    <a:noFill/>
                  </a:tcPr>
                </a:tc>
                <a:extLst>
                  <a:ext uri="{0D108BD9-81ED-4DB2-BD59-A6C34878D82A}">
                    <a16:rowId xmlns:a16="http://schemas.microsoft.com/office/drawing/2014/main" val="3894796527"/>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std_a145</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地方目标</a:t>
                      </a:r>
                      <a:r>
                        <a:rPr lang="en-US" altLang="zh-CN" sz="800" b="0" i="0" u="none" strike="noStrike">
                          <a:solidFill>
                            <a:srgbClr val="000000"/>
                          </a:solidFill>
                          <a:effectLst/>
                          <a:latin typeface="等线" panose="02010600030101010101" pitchFamily="2" charset="-122"/>
                          <a:ea typeface="等线" panose="02010600030101010101" pitchFamily="2" charset="-122"/>
                        </a:rPr>
                        <a:t>/</a:t>
                      </a:r>
                      <a:r>
                        <a:rPr lang="zh-CN" altLang="en-US" sz="800" b="0" i="0" u="none" strike="noStrike">
                          <a:solidFill>
                            <a:srgbClr val="000000"/>
                          </a:solidFill>
                          <a:effectLst/>
                          <a:latin typeface="等线" panose="02010600030101010101" pitchFamily="2" charset="-122"/>
                          <a:ea typeface="等线" panose="02010600030101010101" pitchFamily="2" charset="-122"/>
                        </a:rPr>
                        <a:t>中央目标</a:t>
                      </a:r>
                    </a:p>
                  </a:txBody>
                  <a:tcPr marL="4191" marR="4191" marT="4191" marB="0" anchor="ctr">
                    <a:lnL>
                      <a:noFill/>
                    </a:lnL>
                    <a:lnR>
                      <a:noFill/>
                    </a:lnR>
                    <a:lnT>
                      <a:noFill/>
                    </a:lnT>
                    <a:lnB>
                      <a:noFill/>
                    </a:lnB>
                    <a:noFill/>
                  </a:tcPr>
                </a:tc>
                <a:extLst>
                  <a:ext uri="{0D108BD9-81ED-4DB2-BD59-A6C34878D82A}">
                    <a16:rowId xmlns:a16="http://schemas.microsoft.com/office/drawing/2014/main" val="2460890306"/>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std_b145</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地方目标</a:t>
                      </a:r>
                      <a:r>
                        <a:rPr lang="en-US" altLang="zh-CN" sz="800" b="0" i="0" u="none" strike="noStrike">
                          <a:solidFill>
                            <a:srgbClr val="000000"/>
                          </a:solidFill>
                          <a:effectLst/>
                          <a:latin typeface="等线" panose="02010600030101010101" pitchFamily="2" charset="-122"/>
                          <a:ea typeface="等线" panose="02010600030101010101" pitchFamily="2" charset="-122"/>
                        </a:rPr>
                        <a:t>/</a:t>
                      </a:r>
                      <a:r>
                        <a:rPr lang="zh-CN" altLang="en-US" sz="800" b="0" i="0" u="none" strike="noStrike">
                          <a:solidFill>
                            <a:srgbClr val="000000"/>
                          </a:solidFill>
                          <a:effectLst/>
                          <a:latin typeface="等线" panose="02010600030101010101" pitchFamily="2" charset="-122"/>
                          <a:ea typeface="等线" panose="02010600030101010101" pitchFamily="2" charset="-122"/>
                        </a:rPr>
                        <a:t>中央目标</a:t>
                      </a:r>
                    </a:p>
                  </a:txBody>
                  <a:tcPr marL="4191" marR="4191" marT="4191" marB="0" anchor="ctr">
                    <a:lnL>
                      <a:noFill/>
                    </a:lnL>
                    <a:lnR>
                      <a:noFill/>
                    </a:lnR>
                    <a:lnT>
                      <a:noFill/>
                    </a:lnT>
                    <a:lnB>
                      <a:noFill/>
                    </a:lnB>
                    <a:noFill/>
                  </a:tcPr>
                </a:tc>
                <a:extLst>
                  <a:ext uri="{0D108BD9-81ED-4DB2-BD59-A6C34878D82A}">
                    <a16:rowId xmlns:a16="http://schemas.microsoft.com/office/drawing/2014/main" val="1847661390"/>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std_c145</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地方目标</a:t>
                      </a:r>
                      <a:r>
                        <a:rPr lang="en-US" altLang="zh-CN" sz="800" b="0" i="0" u="none" strike="noStrike">
                          <a:solidFill>
                            <a:srgbClr val="000000"/>
                          </a:solidFill>
                          <a:effectLst/>
                          <a:latin typeface="等线" panose="02010600030101010101" pitchFamily="2" charset="-122"/>
                          <a:ea typeface="等线" panose="02010600030101010101" pitchFamily="2" charset="-122"/>
                        </a:rPr>
                        <a:t>/</a:t>
                      </a:r>
                      <a:r>
                        <a:rPr lang="zh-CN" altLang="en-US" sz="800" b="0" i="0" u="none" strike="noStrike">
                          <a:solidFill>
                            <a:srgbClr val="000000"/>
                          </a:solidFill>
                          <a:effectLst/>
                          <a:latin typeface="等线" panose="02010600030101010101" pitchFamily="2" charset="-122"/>
                          <a:ea typeface="等线" panose="02010600030101010101" pitchFamily="2" charset="-122"/>
                        </a:rPr>
                        <a:t>中央目标</a:t>
                      </a:r>
                    </a:p>
                  </a:txBody>
                  <a:tcPr marL="4191" marR="4191" marT="4191" marB="0" anchor="ctr">
                    <a:lnL>
                      <a:noFill/>
                    </a:lnL>
                    <a:lnR>
                      <a:noFill/>
                    </a:lnR>
                    <a:lnT>
                      <a:noFill/>
                    </a:lnT>
                    <a:lnB>
                      <a:noFill/>
                    </a:lnB>
                    <a:noFill/>
                  </a:tcPr>
                </a:tc>
                <a:extLst>
                  <a:ext uri="{0D108BD9-81ED-4DB2-BD59-A6C34878D82A}">
                    <a16:rowId xmlns:a16="http://schemas.microsoft.com/office/drawing/2014/main" val="1909459118"/>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std_a155</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地方目标</a:t>
                      </a:r>
                      <a:r>
                        <a:rPr lang="en-US" altLang="zh-CN" sz="800" b="0" i="0" u="none" strike="noStrike">
                          <a:solidFill>
                            <a:srgbClr val="000000"/>
                          </a:solidFill>
                          <a:effectLst/>
                          <a:latin typeface="等线" panose="02010600030101010101" pitchFamily="2" charset="-122"/>
                          <a:ea typeface="等线" panose="02010600030101010101" pitchFamily="2" charset="-122"/>
                        </a:rPr>
                        <a:t>/</a:t>
                      </a:r>
                      <a:r>
                        <a:rPr lang="zh-CN" altLang="en-US" sz="800" b="0" i="0" u="none" strike="noStrike">
                          <a:solidFill>
                            <a:srgbClr val="000000"/>
                          </a:solidFill>
                          <a:effectLst/>
                          <a:latin typeface="等线" panose="02010600030101010101" pitchFamily="2" charset="-122"/>
                          <a:ea typeface="等线" panose="02010600030101010101" pitchFamily="2" charset="-122"/>
                        </a:rPr>
                        <a:t>中央目标</a:t>
                      </a:r>
                    </a:p>
                  </a:txBody>
                  <a:tcPr marL="4191" marR="4191" marT="4191" marB="0" anchor="ctr">
                    <a:lnL>
                      <a:noFill/>
                    </a:lnL>
                    <a:lnR>
                      <a:noFill/>
                    </a:lnR>
                    <a:lnT>
                      <a:noFill/>
                    </a:lnT>
                    <a:lnB>
                      <a:noFill/>
                    </a:lnB>
                    <a:noFill/>
                  </a:tcPr>
                </a:tc>
                <a:extLst>
                  <a:ext uri="{0D108BD9-81ED-4DB2-BD59-A6C34878D82A}">
                    <a16:rowId xmlns:a16="http://schemas.microsoft.com/office/drawing/2014/main" val="1850827324"/>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std_c155</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地方目标</a:t>
                      </a:r>
                      <a:r>
                        <a:rPr lang="en-US" altLang="zh-CN" sz="800" b="0" i="0" u="none" strike="noStrike">
                          <a:solidFill>
                            <a:srgbClr val="000000"/>
                          </a:solidFill>
                          <a:effectLst/>
                          <a:latin typeface="等线" panose="02010600030101010101" pitchFamily="2" charset="-122"/>
                          <a:ea typeface="等线" panose="02010600030101010101" pitchFamily="2" charset="-122"/>
                        </a:rPr>
                        <a:t>/</a:t>
                      </a:r>
                      <a:r>
                        <a:rPr lang="zh-CN" altLang="en-US" sz="800" b="0" i="0" u="none" strike="noStrike">
                          <a:solidFill>
                            <a:srgbClr val="000000"/>
                          </a:solidFill>
                          <a:effectLst/>
                          <a:latin typeface="等线" panose="02010600030101010101" pitchFamily="2" charset="-122"/>
                          <a:ea typeface="等线" panose="02010600030101010101" pitchFamily="2" charset="-122"/>
                        </a:rPr>
                        <a:t>中央目标</a:t>
                      </a:r>
                    </a:p>
                  </a:txBody>
                  <a:tcPr marL="4191" marR="4191" marT="4191" marB="0" anchor="ctr">
                    <a:lnL>
                      <a:noFill/>
                    </a:lnL>
                    <a:lnR>
                      <a:noFill/>
                    </a:lnR>
                    <a:lnT>
                      <a:noFill/>
                    </a:lnT>
                    <a:lnB>
                      <a:noFill/>
                    </a:lnB>
                    <a:noFill/>
                  </a:tcPr>
                </a:tc>
                <a:extLst>
                  <a:ext uri="{0D108BD9-81ED-4DB2-BD59-A6C34878D82A}">
                    <a16:rowId xmlns:a16="http://schemas.microsoft.com/office/drawing/2014/main" val="1534366409"/>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a</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十四五、十五五合并结果</a:t>
                      </a:r>
                    </a:p>
                  </a:txBody>
                  <a:tcPr marL="4191" marR="4191" marT="4191" marB="0" anchor="ctr">
                    <a:lnL>
                      <a:noFill/>
                    </a:lnL>
                    <a:lnR>
                      <a:noFill/>
                    </a:lnR>
                    <a:lnT>
                      <a:noFill/>
                    </a:lnT>
                    <a:lnB>
                      <a:noFill/>
                    </a:lnB>
                    <a:noFill/>
                  </a:tcPr>
                </a:tc>
                <a:extLst>
                  <a:ext uri="{0D108BD9-81ED-4DB2-BD59-A6C34878D82A}">
                    <a16:rowId xmlns:a16="http://schemas.microsoft.com/office/drawing/2014/main" val="647802233"/>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b</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十四五、十五五合并结果</a:t>
                      </a:r>
                    </a:p>
                  </a:txBody>
                  <a:tcPr marL="4191" marR="4191" marT="4191" marB="0" anchor="ctr">
                    <a:lnL>
                      <a:noFill/>
                    </a:lnL>
                    <a:lnR>
                      <a:noFill/>
                    </a:lnR>
                    <a:lnT>
                      <a:noFill/>
                    </a:lnT>
                    <a:lnB>
                      <a:noFill/>
                    </a:lnB>
                    <a:noFill/>
                  </a:tcPr>
                </a:tc>
                <a:extLst>
                  <a:ext uri="{0D108BD9-81ED-4DB2-BD59-A6C34878D82A}">
                    <a16:rowId xmlns:a16="http://schemas.microsoft.com/office/drawing/2014/main" val="4032608202"/>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c</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十四五、十五五合并结果</a:t>
                      </a:r>
                    </a:p>
                  </a:txBody>
                  <a:tcPr marL="4191" marR="4191" marT="4191" marB="0" anchor="ctr">
                    <a:lnL>
                      <a:noFill/>
                    </a:lnL>
                    <a:lnR>
                      <a:noFill/>
                    </a:lnR>
                    <a:lnT>
                      <a:noFill/>
                    </a:lnT>
                    <a:lnB>
                      <a:noFill/>
                    </a:lnB>
                    <a:noFill/>
                  </a:tcPr>
                </a:tc>
                <a:extLst>
                  <a:ext uri="{0D108BD9-81ED-4DB2-BD59-A6C34878D82A}">
                    <a16:rowId xmlns:a16="http://schemas.microsoft.com/office/drawing/2014/main" val="1194417912"/>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if_a</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地方目标是否强于中央（</a:t>
                      </a:r>
                      <a:r>
                        <a:rPr lang="en-US" altLang="zh-CN" sz="800" b="0" i="0" u="none" strike="noStrike">
                          <a:solidFill>
                            <a:srgbClr val="000000"/>
                          </a:solidFill>
                          <a:effectLst/>
                          <a:latin typeface="等线" panose="02010600030101010101" pitchFamily="2" charset="-122"/>
                          <a:ea typeface="等线" panose="02010600030101010101" pitchFamily="2" charset="-122"/>
                        </a:rPr>
                        <a:t>1/0/-1</a:t>
                      </a:r>
                      <a:r>
                        <a:rPr lang="zh-CN" altLang="en-US" sz="800" b="0" i="0" u="none" strike="noStrike">
                          <a:solidFill>
                            <a:srgbClr val="000000"/>
                          </a:solidFill>
                          <a:effectLst/>
                          <a:latin typeface="等线" panose="02010600030101010101" pitchFamily="2" charset="-122"/>
                          <a:ea typeface="等线" panose="02010600030101010101" pitchFamily="2" charset="-122"/>
                        </a:rPr>
                        <a:t>）</a:t>
                      </a:r>
                    </a:p>
                  </a:txBody>
                  <a:tcPr marL="4191" marR="4191" marT="4191" marB="0" anchor="ctr">
                    <a:lnL>
                      <a:noFill/>
                    </a:lnL>
                    <a:lnR>
                      <a:noFill/>
                    </a:lnR>
                    <a:lnT>
                      <a:noFill/>
                    </a:lnT>
                    <a:lnB>
                      <a:noFill/>
                    </a:lnB>
                    <a:noFill/>
                  </a:tcPr>
                </a:tc>
                <a:extLst>
                  <a:ext uri="{0D108BD9-81ED-4DB2-BD59-A6C34878D82A}">
                    <a16:rowId xmlns:a16="http://schemas.microsoft.com/office/drawing/2014/main" val="2519448283"/>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if_b</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地方目标是否强于中央（</a:t>
                      </a:r>
                      <a:r>
                        <a:rPr lang="en-US" altLang="zh-CN" sz="800" b="0" i="0" u="none" strike="noStrike">
                          <a:solidFill>
                            <a:srgbClr val="000000"/>
                          </a:solidFill>
                          <a:effectLst/>
                          <a:latin typeface="等线" panose="02010600030101010101" pitchFamily="2" charset="-122"/>
                          <a:ea typeface="等线" panose="02010600030101010101" pitchFamily="2" charset="-122"/>
                        </a:rPr>
                        <a:t>1/0/-2</a:t>
                      </a:r>
                      <a:r>
                        <a:rPr lang="zh-CN" altLang="en-US" sz="800" b="0" i="0" u="none" strike="noStrike">
                          <a:solidFill>
                            <a:srgbClr val="000000"/>
                          </a:solidFill>
                          <a:effectLst/>
                          <a:latin typeface="等线" panose="02010600030101010101" pitchFamily="2" charset="-122"/>
                          <a:ea typeface="等线" panose="02010600030101010101" pitchFamily="2" charset="-122"/>
                        </a:rPr>
                        <a:t>）</a:t>
                      </a:r>
                    </a:p>
                  </a:txBody>
                  <a:tcPr marL="4191" marR="4191" marT="4191" marB="0" anchor="ctr">
                    <a:lnL>
                      <a:noFill/>
                    </a:lnL>
                    <a:lnR>
                      <a:noFill/>
                    </a:lnR>
                    <a:lnT>
                      <a:noFill/>
                    </a:lnT>
                    <a:lnB>
                      <a:noFill/>
                    </a:lnB>
                    <a:noFill/>
                  </a:tcPr>
                </a:tc>
                <a:extLst>
                  <a:ext uri="{0D108BD9-81ED-4DB2-BD59-A6C34878D82A}">
                    <a16:rowId xmlns:a16="http://schemas.microsoft.com/office/drawing/2014/main" val="197160874"/>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if_c</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地方目标是否强于中央（</a:t>
                      </a:r>
                      <a:r>
                        <a:rPr lang="en-US" altLang="zh-CN" sz="800" b="0" i="0" u="none" strike="noStrike">
                          <a:solidFill>
                            <a:srgbClr val="000000"/>
                          </a:solidFill>
                          <a:effectLst/>
                          <a:latin typeface="等线" panose="02010600030101010101" pitchFamily="2" charset="-122"/>
                          <a:ea typeface="等线" panose="02010600030101010101" pitchFamily="2" charset="-122"/>
                        </a:rPr>
                        <a:t>1/0/-3</a:t>
                      </a:r>
                      <a:r>
                        <a:rPr lang="zh-CN" altLang="en-US" sz="800" b="0" i="0" u="none" strike="noStrike">
                          <a:solidFill>
                            <a:srgbClr val="000000"/>
                          </a:solidFill>
                          <a:effectLst/>
                          <a:latin typeface="等线" panose="02010600030101010101" pitchFamily="2" charset="-122"/>
                          <a:ea typeface="等线" panose="02010600030101010101" pitchFamily="2" charset="-122"/>
                        </a:rPr>
                        <a:t>）</a:t>
                      </a:r>
                    </a:p>
                  </a:txBody>
                  <a:tcPr marL="4191" marR="4191" marT="4191" marB="0" anchor="ctr">
                    <a:lnL>
                      <a:noFill/>
                    </a:lnL>
                    <a:lnR>
                      <a:noFill/>
                    </a:lnR>
                    <a:lnT>
                      <a:noFill/>
                    </a:lnT>
                    <a:lnB>
                      <a:noFill/>
                    </a:lnB>
                    <a:noFill/>
                  </a:tcPr>
                </a:tc>
                <a:extLst>
                  <a:ext uri="{0D108BD9-81ED-4DB2-BD59-A6C34878D82A}">
                    <a16:rowId xmlns:a16="http://schemas.microsoft.com/office/drawing/2014/main" val="1160282271"/>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if_a_155</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地方目标是否强于中央（</a:t>
                      </a:r>
                      <a:r>
                        <a:rPr lang="en-US" altLang="zh-CN" sz="800" b="0" i="0" u="none" strike="noStrike">
                          <a:solidFill>
                            <a:srgbClr val="000000"/>
                          </a:solidFill>
                          <a:effectLst/>
                          <a:latin typeface="等线" panose="02010600030101010101" pitchFamily="2" charset="-122"/>
                          <a:ea typeface="等线" panose="02010600030101010101" pitchFamily="2" charset="-122"/>
                        </a:rPr>
                        <a:t>1/0/-4</a:t>
                      </a:r>
                      <a:r>
                        <a:rPr lang="zh-CN" altLang="en-US" sz="800" b="0" i="0" u="none" strike="noStrike">
                          <a:solidFill>
                            <a:srgbClr val="000000"/>
                          </a:solidFill>
                          <a:effectLst/>
                          <a:latin typeface="等线" panose="02010600030101010101" pitchFamily="2" charset="-122"/>
                          <a:ea typeface="等线" panose="02010600030101010101" pitchFamily="2" charset="-122"/>
                        </a:rPr>
                        <a:t>）</a:t>
                      </a:r>
                    </a:p>
                  </a:txBody>
                  <a:tcPr marL="4191" marR="4191" marT="4191" marB="0" anchor="ctr">
                    <a:lnL>
                      <a:noFill/>
                    </a:lnL>
                    <a:lnR>
                      <a:noFill/>
                    </a:lnR>
                    <a:lnT>
                      <a:noFill/>
                    </a:lnT>
                    <a:lnB>
                      <a:noFill/>
                    </a:lnB>
                    <a:noFill/>
                  </a:tcPr>
                </a:tc>
                <a:extLst>
                  <a:ext uri="{0D108BD9-81ED-4DB2-BD59-A6C34878D82A}">
                    <a16:rowId xmlns:a16="http://schemas.microsoft.com/office/drawing/2014/main" val="2634966729"/>
                  </a:ext>
                </a:extLst>
              </a:tr>
              <a:tr h="118021">
                <a:tc>
                  <a:txBody>
                    <a:bodyPr/>
                    <a:lstStyle/>
                    <a:p>
                      <a:pPr algn="ctr" fontAlgn="ctr">
                        <a:buNone/>
                      </a:pPr>
                      <a:r>
                        <a:rPr lang="en-US" sz="800" b="0" i="0" u="none" strike="noStrike">
                          <a:solidFill>
                            <a:srgbClr val="000000"/>
                          </a:solidFill>
                          <a:effectLst/>
                          <a:latin typeface="Times New Roman" panose="02020603050405020304" pitchFamily="18" charset="0"/>
                          <a:ea typeface="等线" panose="02010600030101010101" pitchFamily="2" charset="-122"/>
                        </a:rPr>
                        <a:t>if_c_155</a:t>
                      </a:r>
                    </a:p>
                  </a:txBody>
                  <a:tcPr marL="4191" marR="4191" marT="4191" marB="0" anchor="ctr">
                    <a:lnL>
                      <a:noFill/>
                    </a:lnL>
                    <a:lnR>
                      <a:noFill/>
                    </a:lnR>
                    <a:lnT>
                      <a:noFill/>
                    </a:lnT>
                    <a:lnB>
                      <a:noFill/>
                    </a:lnB>
                    <a:solidFill>
                      <a:srgbClr val="ED7D31"/>
                    </a:solidFill>
                  </a:tcPr>
                </a:tc>
                <a:tc>
                  <a:txBody>
                    <a:bodyPr/>
                    <a:lstStyle/>
                    <a:p>
                      <a:pPr algn="ctr" fontAlgn="ctr">
                        <a:buNone/>
                      </a:pPr>
                      <a:r>
                        <a:rPr lang="zh-CN" altLang="en-US" sz="800" b="0" i="0" u="none" strike="noStrike">
                          <a:solidFill>
                            <a:srgbClr val="000000"/>
                          </a:solidFill>
                          <a:effectLst/>
                          <a:latin typeface="等线" panose="02010600030101010101" pitchFamily="2" charset="-122"/>
                          <a:ea typeface="等线" panose="02010600030101010101" pitchFamily="2" charset="-122"/>
                        </a:rPr>
                        <a:t>地方目标是否强于中央（</a:t>
                      </a:r>
                      <a:r>
                        <a:rPr lang="en-US" altLang="zh-CN" sz="800" b="0" i="0" u="none" strike="noStrike">
                          <a:solidFill>
                            <a:srgbClr val="000000"/>
                          </a:solidFill>
                          <a:effectLst/>
                          <a:latin typeface="等线" panose="02010600030101010101" pitchFamily="2" charset="-122"/>
                          <a:ea typeface="等线" panose="02010600030101010101" pitchFamily="2" charset="-122"/>
                        </a:rPr>
                        <a:t>1/0/-5</a:t>
                      </a:r>
                      <a:r>
                        <a:rPr lang="zh-CN" altLang="en-US" sz="800" b="0" i="0" u="none" strike="noStrike">
                          <a:solidFill>
                            <a:srgbClr val="000000"/>
                          </a:solidFill>
                          <a:effectLst/>
                          <a:latin typeface="等线" panose="02010600030101010101" pitchFamily="2" charset="-122"/>
                          <a:ea typeface="等线" panose="02010600030101010101" pitchFamily="2" charset="-122"/>
                        </a:rPr>
                        <a:t>）</a:t>
                      </a:r>
                    </a:p>
                  </a:txBody>
                  <a:tcPr marL="4191" marR="4191" marT="4191" marB="0" anchor="ctr">
                    <a:lnL>
                      <a:noFill/>
                    </a:lnL>
                    <a:lnR>
                      <a:noFill/>
                    </a:lnR>
                    <a:lnT>
                      <a:noFill/>
                    </a:lnT>
                    <a:lnB>
                      <a:noFill/>
                    </a:lnB>
                    <a:noFill/>
                  </a:tcPr>
                </a:tc>
                <a:extLst>
                  <a:ext uri="{0D108BD9-81ED-4DB2-BD59-A6C34878D82A}">
                    <a16:rowId xmlns:a16="http://schemas.microsoft.com/office/drawing/2014/main" val="1755502331"/>
                  </a:ext>
                </a:extLst>
              </a:tr>
              <a:tr h="118021">
                <a:tc>
                  <a:txBody>
                    <a:bodyPr/>
                    <a:lstStyle/>
                    <a:p>
                      <a:pPr algn="ctr" fontAlgn="b">
                        <a:buNone/>
                      </a:pPr>
                      <a:r>
                        <a:rPr lang="zh-CN" altLang="en-US" sz="800" b="1" i="0" u="none" strike="noStrike" dirty="0">
                          <a:solidFill>
                            <a:srgbClr val="000000"/>
                          </a:solidFill>
                          <a:effectLst/>
                          <a:latin typeface="等线" panose="02010600030101010101" pitchFamily="2" charset="-122"/>
                          <a:ea typeface="等线" panose="02010600030101010101" pitchFamily="2" charset="-122"/>
                        </a:rPr>
                        <a:t>因变量</a:t>
                      </a:r>
                    </a:p>
                  </a:txBody>
                  <a:tcPr marL="4191" marR="4191" marT="4191" marB="0" anchor="b">
                    <a:lnL>
                      <a:noFill/>
                    </a:lnL>
                    <a:lnR>
                      <a:noFill/>
                    </a:lnR>
                    <a:lnT>
                      <a:noFill/>
                    </a:lnT>
                    <a:lnB>
                      <a:noFill/>
                    </a:lnB>
                    <a:noFill/>
                  </a:tcPr>
                </a:tc>
                <a:tc>
                  <a:txBody>
                    <a:bodyPr/>
                    <a:lstStyle/>
                    <a:p>
                      <a:pPr algn="ctr" fontAlgn="ctr">
                        <a:buNone/>
                      </a:pPr>
                      <a:r>
                        <a:rPr lang="zh-CN" altLang="en-US" sz="800" b="1" i="0" u="none" strike="noStrike" dirty="0">
                          <a:solidFill>
                            <a:srgbClr val="000000"/>
                          </a:solidFill>
                          <a:effectLst/>
                          <a:latin typeface="等线" panose="02010600030101010101" pitchFamily="2" charset="-122"/>
                          <a:ea typeface="等线" panose="02010600030101010101" pitchFamily="2" charset="-122"/>
                        </a:rPr>
                        <a:t>解释</a:t>
                      </a:r>
                    </a:p>
                  </a:txBody>
                  <a:tcPr marL="4191" marR="4191" marT="4191" marB="0" anchor="ctr">
                    <a:lnL>
                      <a:noFill/>
                    </a:lnL>
                    <a:lnR>
                      <a:noFill/>
                    </a:lnR>
                    <a:lnT>
                      <a:noFill/>
                    </a:lnT>
                    <a:lnB>
                      <a:noFill/>
                    </a:lnB>
                    <a:noFill/>
                  </a:tcPr>
                </a:tc>
                <a:extLst>
                  <a:ext uri="{0D108BD9-81ED-4DB2-BD59-A6C34878D82A}">
                    <a16:rowId xmlns:a16="http://schemas.microsoft.com/office/drawing/2014/main" val="532139935"/>
                  </a:ext>
                </a:extLst>
              </a:tr>
              <a:tr h="122918">
                <a:tc>
                  <a:txBody>
                    <a:bodyPr/>
                    <a:lstStyle/>
                    <a:p>
                      <a:pPr algn="ctr" fontAlgn="ctr">
                        <a:buNone/>
                      </a:pPr>
                      <a:r>
                        <a:rPr lang="zh-CN" altLang="en-US" sz="800" b="0" i="0" u="none" strike="noStrike">
                          <a:solidFill>
                            <a:srgbClr val="000000"/>
                          </a:solidFill>
                          <a:effectLst/>
                          <a:latin typeface="宋体" panose="02010600030101010101" pitchFamily="2" charset="-122"/>
                          <a:ea typeface="宋体" panose="02010600030101010101" pitchFamily="2" charset="-122"/>
                        </a:rPr>
                        <a:t>单位</a:t>
                      </a:r>
                      <a:r>
                        <a:rPr lang="en-US" sz="800" b="0" i="0" u="none" strike="noStrike">
                          <a:solidFill>
                            <a:srgbClr val="000000"/>
                          </a:solidFill>
                          <a:effectLst/>
                          <a:latin typeface="Times New Roman" panose="02020603050405020304" pitchFamily="18" charset="0"/>
                          <a:ea typeface="等线" panose="02010600030101010101" pitchFamily="2" charset="-122"/>
                        </a:rPr>
                        <a:t>GDP</a:t>
                      </a:r>
                      <a:r>
                        <a:rPr lang="zh-CN" altLang="en-US" sz="800" b="0" i="0" u="none" strike="noStrike">
                          <a:solidFill>
                            <a:srgbClr val="000000"/>
                          </a:solidFill>
                          <a:effectLst/>
                          <a:latin typeface="宋体" panose="02010600030101010101" pitchFamily="2" charset="-122"/>
                          <a:ea typeface="宋体" panose="02010600030101010101" pitchFamily="2" charset="-122"/>
                        </a:rPr>
                        <a:t>能耗</a:t>
                      </a:r>
                      <a:endParaRPr lang="zh-CN" altLang="en-US" sz="800" b="0" i="0" u="none" strike="noStrike">
                        <a:solidFill>
                          <a:srgbClr val="000000"/>
                        </a:solidFill>
                        <a:effectLst/>
                        <a:latin typeface="Times New Roman" panose="02020603050405020304" pitchFamily="18" charset="0"/>
                        <a:ea typeface="等线" panose="02010600030101010101" pitchFamily="2" charset="-122"/>
                      </a:endParaRPr>
                    </a:p>
                  </a:txBody>
                  <a:tcPr marL="4191" marR="4191" marT="4191" marB="0" anchor="ctr">
                    <a:lnL>
                      <a:noFill/>
                    </a:lnL>
                    <a:lnR>
                      <a:noFill/>
                    </a:lnR>
                    <a:lnT>
                      <a:noFill/>
                    </a:lnT>
                    <a:lnB>
                      <a:noFill/>
                    </a:lnB>
                    <a:solidFill>
                      <a:srgbClr val="FFFF00"/>
                    </a:solidFill>
                  </a:tcPr>
                </a:tc>
                <a:tc>
                  <a:txBody>
                    <a:bodyPr/>
                    <a:lstStyle/>
                    <a:p>
                      <a:pPr algn="ctr" fontAlgn="ctr">
                        <a:buNone/>
                      </a:pPr>
                      <a:r>
                        <a:rPr lang="en-US" altLang="zh-CN" sz="800" b="0" i="0" u="none" strike="noStrike">
                          <a:solidFill>
                            <a:srgbClr val="000000"/>
                          </a:solidFill>
                          <a:effectLst/>
                          <a:latin typeface="等线" panose="02010600030101010101" pitchFamily="2" charset="-122"/>
                          <a:ea typeface="等线" panose="02010600030101010101" pitchFamily="2" charset="-122"/>
                        </a:rPr>
                        <a:t>-</a:t>
                      </a:r>
                    </a:p>
                  </a:txBody>
                  <a:tcPr marL="4191" marR="4191" marT="4191" marB="0" anchor="ctr">
                    <a:lnL>
                      <a:noFill/>
                    </a:lnL>
                    <a:lnR>
                      <a:noFill/>
                    </a:lnR>
                    <a:lnT>
                      <a:noFill/>
                    </a:lnT>
                    <a:lnB>
                      <a:noFill/>
                    </a:lnB>
                    <a:noFill/>
                  </a:tcPr>
                </a:tc>
                <a:extLst>
                  <a:ext uri="{0D108BD9-81ED-4DB2-BD59-A6C34878D82A}">
                    <a16:rowId xmlns:a16="http://schemas.microsoft.com/office/drawing/2014/main" val="3922292717"/>
                  </a:ext>
                </a:extLst>
              </a:tr>
              <a:tr h="122918">
                <a:tc>
                  <a:txBody>
                    <a:bodyPr/>
                    <a:lstStyle/>
                    <a:p>
                      <a:pPr algn="ctr" fontAlgn="ctr">
                        <a:buNone/>
                      </a:pPr>
                      <a:r>
                        <a:rPr lang="zh-CN" altLang="en-US" sz="800" b="0" i="0" u="none" strike="noStrike">
                          <a:solidFill>
                            <a:srgbClr val="000000"/>
                          </a:solidFill>
                          <a:effectLst/>
                          <a:latin typeface="宋体" panose="02010600030101010101" pitchFamily="2" charset="-122"/>
                          <a:ea typeface="宋体" panose="02010600030101010101" pitchFamily="2" charset="-122"/>
                        </a:rPr>
                        <a:t>单位</a:t>
                      </a:r>
                      <a:r>
                        <a:rPr lang="en-US" altLang="zh-CN" sz="800" b="0" i="0" u="none" strike="noStrike">
                          <a:solidFill>
                            <a:srgbClr val="000000"/>
                          </a:solidFill>
                          <a:effectLst/>
                          <a:latin typeface="Times New Roman" panose="02020603050405020304" pitchFamily="18" charset="0"/>
                          <a:ea typeface="等线" panose="02010600030101010101" pitchFamily="2" charset="-122"/>
                        </a:rPr>
                        <a:t>GDP</a:t>
                      </a:r>
                      <a:r>
                        <a:rPr lang="zh-CN" altLang="en-US" sz="800" b="0" i="0" u="none" strike="noStrike">
                          <a:solidFill>
                            <a:srgbClr val="000000"/>
                          </a:solidFill>
                          <a:effectLst/>
                          <a:latin typeface="宋体" panose="02010600030101010101" pitchFamily="2" charset="-122"/>
                          <a:ea typeface="宋体" panose="02010600030101010101" pitchFamily="2" charset="-122"/>
                        </a:rPr>
                        <a:t>能耗增长率</a:t>
                      </a:r>
                      <a:endParaRPr lang="zh-CN" altLang="en-US" sz="800" b="0" i="0" u="none" strike="noStrike">
                        <a:solidFill>
                          <a:srgbClr val="000000"/>
                        </a:solidFill>
                        <a:effectLst/>
                        <a:latin typeface="Times New Roman" panose="02020603050405020304" pitchFamily="18" charset="0"/>
                        <a:ea typeface="等线" panose="02010600030101010101" pitchFamily="2" charset="-122"/>
                      </a:endParaRPr>
                    </a:p>
                  </a:txBody>
                  <a:tcPr marL="4191" marR="4191" marT="4191" marB="0" anchor="ctr">
                    <a:lnL>
                      <a:noFill/>
                    </a:lnL>
                    <a:lnR>
                      <a:noFill/>
                    </a:lnR>
                    <a:lnT>
                      <a:noFill/>
                    </a:lnT>
                    <a:lnB>
                      <a:noFill/>
                    </a:lnB>
                    <a:solidFill>
                      <a:srgbClr val="FFFF00"/>
                    </a:solidFill>
                  </a:tcPr>
                </a:tc>
                <a:tc>
                  <a:txBody>
                    <a:bodyPr/>
                    <a:lstStyle/>
                    <a:p>
                      <a:pPr algn="ctr" fontAlgn="ctr">
                        <a:buNone/>
                      </a:pPr>
                      <a:r>
                        <a:rPr lang="en-US" altLang="zh-CN" sz="800" b="0" i="0" u="none" strike="noStrike">
                          <a:solidFill>
                            <a:srgbClr val="000000"/>
                          </a:solidFill>
                          <a:effectLst/>
                          <a:latin typeface="等线" panose="02010600030101010101" pitchFamily="2" charset="-122"/>
                          <a:ea typeface="等线" panose="02010600030101010101" pitchFamily="2" charset="-122"/>
                        </a:rPr>
                        <a:t>-</a:t>
                      </a:r>
                    </a:p>
                  </a:txBody>
                  <a:tcPr marL="4191" marR="4191" marT="4191" marB="0" anchor="ctr">
                    <a:lnL>
                      <a:noFill/>
                    </a:lnL>
                    <a:lnR>
                      <a:noFill/>
                    </a:lnR>
                    <a:lnT>
                      <a:noFill/>
                    </a:lnT>
                    <a:lnB>
                      <a:noFill/>
                    </a:lnB>
                    <a:noFill/>
                  </a:tcPr>
                </a:tc>
                <a:extLst>
                  <a:ext uri="{0D108BD9-81ED-4DB2-BD59-A6C34878D82A}">
                    <a16:rowId xmlns:a16="http://schemas.microsoft.com/office/drawing/2014/main" val="56880057"/>
                  </a:ext>
                </a:extLst>
              </a:tr>
              <a:tr h="118021">
                <a:tc>
                  <a:txBody>
                    <a:bodyPr/>
                    <a:lstStyle/>
                    <a:p>
                      <a:pPr algn="ctr" fontAlgn="ctr">
                        <a:buNone/>
                      </a:pPr>
                      <a:r>
                        <a:rPr lang="zh-CN" altLang="en-US" sz="700" b="0" i="0" u="none" strike="noStrike">
                          <a:solidFill>
                            <a:srgbClr val="000000"/>
                          </a:solidFill>
                          <a:effectLst/>
                          <a:latin typeface="等线" panose="02010600030101010101" pitchFamily="2" charset="-122"/>
                          <a:ea typeface="等线" panose="02010600030101010101" pitchFamily="2" charset="-122"/>
                        </a:rPr>
                        <a:t>非化石能源占比</a:t>
                      </a:r>
                      <a:endParaRPr lang="zh-CN" altLang="en-US" sz="700" b="0" i="0" u="none" strike="noStrike">
                        <a:solidFill>
                          <a:srgbClr val="000000"/>
                        </a:solidFill>
                        <a:effectLst/>
                        <a:latin typeface="Times New Roman" panose="02020603050405020304" pitchFamily="18" charset="0"/>
                        <a:ea typeface="等线" panose="02010600030101010101" pitchFamily="2" charset="-122"/>
                      </a:endParaRPr>
                    </a:p>
                  </a:txBody>
                  <a:tcPr marL="4191" marR="4191" marT="4191" marB="0" anchor="ctr">
                    <a:lnL>
                      <a:noFill/>
                    </a:lnL>
                    <a:lnR>
                      <a:noFill/>
                    </a:lnR>
                    <a:lnT>
                      <a:noFill/>
                    </a:lnT>
                    <a:lnB>
                      <a:noFill/>
                    </a:lnB>
                    <a:solidFill>
                      <a:srgbClr val="FFFF00"/>
                    </a:solidFill>
                  </a:tcPr>
                </a:tc>
                <a:tc>
                  <a:txBody>
                    <a:bodyPr/>
                    <a:lstStyle/>
                    <a:p>
                      <a:pPr algn="ctr" fontAlgn="ctr">
                        <a:buNone/>
                      </a:pPr>
                      <a:r>
                        <a:rPr lang="en-US" altLang="zh-CN" sz="800" b="0" i="0" u="none" strike="noStrike">
                          <a:solidFill>
                            <a:srgbClr val="000000"/>
                          </a:solidFill>
                          <a:effectLst/>
                          <a:latin typeface="等线" panose="02010600030101010101" pitchFamily="2" charset="-122"/>
                          <a:ea typeface="等线" panose="02010600030101010101" pitchFamily="2" charset="-122"/>
                        </a:rPr>
                        <a:t>-</a:t>
                      </a:r>
                    </a:p>
                  </a:txBody>
                  <a:tcPr marL="4191" marR="4191" marT="4191" marB="0" anchor="ctr">
                    <a:lnL>
                      <a:noFill/>
                    </a:lnL>
                    <a:lnR>
                      <a:noFill/>
                    </a:lnR>
                    <a:lnT>
                      <a:noFill/>
                    </a:lnT>
                    <a:lnB>
                      <a:noFill/>
                    </a:lnB>
                    <a:noFill/>
                  </a:tcPr>
                </a:tc>
                <a:extLst>
                  <a:ext uri="{0D108BD9-81ED-4DB2-BD59-A6C34878D82A}">
                    <a16:rowId xmlns:a16="http://schemas.microsoft.com/office/drawing/2014/main" val="530409245"/>
                  </a:ext>
                </a:extLst>
              </a:tr>
              <a:tr h="225351">
                <a:tc>
                  <a:txBody>
                    <a:bodyPr/>
                    <a:lstStyle/>
                    <a:p>
                      <a:pPr algn="ctr" fontAlgn="ctr">
                        <a:buNone/>
                      </a:pPr>
                      <a:r>
                        <a:rPr lang="zh-CN" altLang="en-US" sz="700" b="0" i="0" u="none" strike="noStrike">
                          <a:solidFill>
                            <a:srgbClr val="000000"/>
                          </a:solidFill>
                          <a:effectLst/>
                          <a:latin typeface="等线" panose="02010600030101010101" pitchFamily="2" charset="-122"/>
                          <a:ea typeface="等线" panose="02010600030101010101" pitchFamily="2" charset="-122"/>
                        </a:rPr>
                        <a:t>非化石能源占比增长率</a:t>
                      </a:r>
                      <a:endParaRPr lang="zh-CN" altLang="en-US" sz="700" b="0" i="0" u="none" strike="noStrike">
                        <a:solidFill>
                          <a:srgbClr val="000000"/>
                        </a:solidFill>
                        <a:effectLst/>
                        <a:latin typeface="Times New Roman" panose="02020603050405020304" pitchFamily="18" charset="0"/>
                        <a:ea typeface="等线" panose="02010600030101010101" pitchFamily="2" charset="-122"/>
                      </a:endParaRPr>
                    </a:p>
                  </a:txBody>
                  <a:tcPr marL="4191" marR="4191" marT="4191" marB="0" anchor="ctr">
                    <a:lnL>
                      <a:noFill/>
                    </a:lnL>
                    <a:lnR>
                      <a:noFill/>
                    </a:lnR>
                    <a:lnT>
                      <a:noFill/>
                    </a:lnT>
                    <a:lnB>
                      <a:noFill/>
                    </a:lnB>
                    <a:solidFill>
                      <a:srgbClr val="FFFF00"/>
                    </a:solidFill>
                  </a:tcPr>
                </a:tc>
                <a:tc>
                  <a:txBody>
                    <a:bodyPr/>
                    <a:lstStyle/>
                    <a:p>
                      <a:pPr algn="ctr" fontAlgn="ctr">
                        <a:buNone/>
                      </a:pPr>
                      <a:r>
                        <a:rPr lang="en-US" altLang="zh-CN" sz="800" b="0" i="0" u="none" strike="noStrike">
                          <a:solidFill>
                            <a:srgbClr val="000000"/>
                          </a:solidFill>
                          <a:effectLst/>
                          <a:latin typeface="等线" panose="02010600030101010101" pitchFamily="2" charset="-122"/>
                          <a:ea typeface="等线" panose="02010600030101010101" pitchFamily="2" charset="-122"/>
                        </a:rPr>
                        <a:t>-</a:t>
                      </a:r>
                    </a:p>
                  </a:txBody>
                  <a:tcPr marL="4191" marR="4191" marT="4191" marB="0" anchor="ctr">
                    <a:lnL>
                      <a:noFill/>
                    </a:lnL>
                    <a:lnR>
                      <a:noFill/>
                    </a:lnR>
                    <a:lnT>
                      <a:noFill/>
                    </a:lnT>
                    <a:lnB>
                      <a:noFill/>
                    </a:lnB>
                    <a:noFill/>
                  </a:tcPr>
                </a:tc>
                <a:extLst>
                  <a:ext uri="{0D108BD9-81ED-4DB2-BD59-A6C34878D82A}">
                    <a16:rowId xmlns:a16="http://schemas.microsoft.com/office/drawing/2014/main" val="1545104559"/>
                  </a:ext>
                </a:extLst>
              </a:tr>
              <a:tr h="118021">
                <a:tc>
                  <a:txBody>
                    <a:bodyPr/>
                    <a:lstStyle/>
                    <a:p>
                      <a:pPr algn="ctr" fontAlgn="ctr">
                        <a:buNone/>
                      </a:pPr>
                      <a:r>
                        <a:rPr lang="zh-CN" altLang="en-US" sz="700" b="0" i="0" u="none" strike="noStrike">
                          <a:solidFill>
                            <a:srgbClr val="000000"/>
                          </a:solidFill>
                          <a:effectLst/>
                          <a:latin typeface="宋体" panose="02010600030101010101" pitchFamily="2" charset="-122"/>
                          <a:ea typeface="宋体" panose="02010600030101010101" pitchFamily="2" charset="-122"/>
                        </a:rPr>
                        <a:t>单位</a:t>
                      </a:r>
                      <a:r>
                        <a:rPr lang="en-US" altLang="zh-CN" sz="700" b="0" i="0" u="none" strike="noStrike">
                          <a:solidFill>
                            <a:srgbClr val="000000"/>
                          </a:solidFill>
                          <a:effectLst/>
                          <a:latin typeface="Times New Roman" panose="02020603050405020304" pitchFamily="18" charset="0"/>
                          <a:ea typeface="等线" panose="02010600030101010101" pitchFamily="2" charset="-122"/>
                        </a:rPr>
                        <a:t>GDP</a:t>
                      </a:r>
                      <a:r>
                        <a:rPr lang="zh-CN" altLang="en-US" sz="700" b="0" i="0" u="none" strike="noStrike">
                          <a:solidFill>
                            <a:srgbClr val="000000"/>
                          </a:solidFill>
                          <a:effectLst/>
                          <a:latin typeface="宋体" panose="02010600030101010101" pitchFamily="2" charset="-122"/>
                          <a:ea typeface="宋体" panose="02010600030101010101" pitchFamily="2" charset="-122"/>
                        </a:rPr>
                        <a:t>碳排放量</a:t>
                      </a:r>
                      <a:endParaRPr lang="zh-CN" altLang="en-US" sz="700" b="0" i="0" u="none" strike="noStrike">
                        <a:solidFill>
                          <a:srgbClr val="000000"/>
                        </a:solidFill>
                        <a:effectLst/>
                        <a:latin typeface="Times New Roman" panose="02020603050405020304" pitchFamily="18" charset="0"/>
                        <a:ea typeface="等线" panose="02010600030101010101" pitchFamily="2" charset="-122"/>
                      </a:endParaRPr>
                    </a:p>
                  </a:txBody>
                  <a:tcPr marL="4191" marR="4191" marT="4191" marB="0" anchor="ctr">
                    <a:lnL>
                      <a:noFill/>
                    </a:lnL>
                    <a:lnR>
                      <a:noFill/>
                    </a:lnR>
                    <a:lnT>
                      <a:noFill/>
                    </a:lnT>
                    <a:lnB>
                      <a:noFill/>
                    </a:lnB>
                    <a:solidFill>
                      <a:srgbClr val="FFFF00"/>
                    </a:solidFill>
                  </a:tcPr>
                </a:tc>
                <a:tc>
                  <a:txBody>
                    <a:bodyPr/>
                    <a:lstStyle/>
                    <a:p>
                      <a:pPr algn="ctr" fontAlgn="ctr">
                        <a:buNone/>
                      </a:pPr>
                      <a:r>
                        <a:rPr lang="en-US" altLang="zh-CN" sz="800" b="0" i="0" u="none" strike="noStrike">
                          <a:solidFill>
                            <a:srgbClr val="000000"/>
                          </a:solidFill>
                          <a:effectLst/>
                          <a:latin typeface="等线" panose="02010600030101010101" pitchFamily="2" charset="-122"/>
                          <a:ea typeface="等线" panose="02010600030101010101" pitchFamily="2" charset="-122"/>
                        </a:rPr>
                        <a:t>-</a:t>
                      </a:r>
                    </a:p>
                  </a:txBody>
                  <a:tcPr marL="4191" marR="4191" marT="4191" marB="0" anchor="ctr">
                    <a:lnL>
                      <a:noFill/>
                    </a:lnL>
                    <a:lnR>
                      <a:noFill/>
                    </a:lnR>
                    <a:lnT>
                      <a:noFill/>
                    </a:lnT>
                    <a:lnB>
                      <a:noFill/>
                    </a:lnB>
                    <a:noFill/>
                  </a:tcPr>
                </a:tc>
                <a:extLst>
                  <a:ext uri="{0D108BD9-81ED-4DB2-BD59-A6C34878D82A}">
                    <a16:rowId xmlns:a16="http://schemas.microsoft.com/office/drawing/2014/main" val="3751501390"/>
                  </a:ext>
                </a:extLst>
              </a:tr>
              <a:tr h="215108">
                <a:tc>
                  <a:txBody>
                    <a:bodyPr/>
                    <a:lstStyle/>
                    <a:p>
                      <a:pPr algn="ctr" fontAlgn="ctr">
                        <a:buNone/>
                      </a:pPr>
                      <a:r>
                        <a:rPr lang="zh-CN" altLang="en-US" sz="700" b="0" i="0" u="none" strike="noStrike">
                          <a:solidFill>
                            <a:srgbClr val="000000"/>
                          </a:solidFill>
                          <a:effectLst/>
                          <a:latin typeface="宋体" panose="02010600030101010101" pitchFamily="2" charset="-122"/>
                          <a:ea typeface="宋体" panose="02010600030101010101" pitchFamily="2" charset="-122"/>
                        </a:rPr>
                        <a:t>单位</a:t>
                      </a:r>
                      <a:r>
                        <a:rPr lang="en-US" altLang="zh-CN" sz="700" b="0" i="0" u="none" strike="noStrike">
                          <a:solidFill>
                            <a:srgbClr val="000000"/>
                          </a:solidFill>
                          <a:effectLst/>
                          <a:latin typeface="Times New Roman" panose="02020603050405020304" pitchFamily="18" charset="0"/>
                          <a:ea typeface="等线" panose="02010600030101010101" pitchFamily="2" charset="-122"/>
                        </a:rPr>
                        <a:t>GDP</a:t>
                      </a:r>
                      <a:r>
                        <a:rPr lang="zh-CN" altLang="en-US" sz="700" b="0" i="0" u="none" strike="noStrike">
                          <a:solidFill>
                            <a:srgbClr val="000000"/>
                          </a:solidFill>
                          <a:effectLst/>
                          <a:latin typeface="宋体" panose="02010600030101010101" pitchFamily="2" charset="-122"/>
                          <a:ea typeface="宋体" panose="02010600030101010101" pitchFamily="2" charset="-122"/>
                        </a:rPr>
                        <a:t>碳排放量增长率</a:t>
                      </a:r>
                      <a:endParaRPr lang="zh-CN" altLang="en-US" sz="700" b="0" i="0" u="none" strike="noStrike">
                        <a:solidFill>
                          <a:srgbClr val="000000"/>
                        </a:solidFill>
                        <a:effectLst/>
                        <a:latin typeface="Times New Roman" panose="02020603050405020304" pitchFamily="18" charset="0"/>
                        <a:ea typeface="等线" panose="02010600030101010101" pitchFamily="2" charset="-122"/>
                      </a:endParaRPr>
                    </a:p>
                  </a:txBody>
                  <a:tcPr marL="4191" marR="4191" marT="4191" marB="0" anchor="ctr">
                    <a:lnL>
                      <a:noFill/>
                    </a:lnL>
                    <a:lnR>
                      <a:noFill/>
                    </a:lnR>
                    <a:lnT>
                      <a:noFill/>
                    </a:lnT>
                    <a:lnB>
                      <a:noFill/>
                    </a:lnB>
                    <a:solidFill>
                      <a:srgbClr val="FFFF00"/>
                    </a:solidFill>
                  </a:tcPr>
                </a:tc>
                <a:tc>
                  <a:txBody>
                    <a:bodyPr/>
                    <a:lstStyle/>
                    <a:p>
                      <a:pPr algn="ctr" fontAlgn="ctr">
                        <a:buNone/>
                      </a:pPr>
                      <a:r>
                        <a:rPr lang="en-US" altLang="zh-CN" sz="800" b="0" i="0" u="none" strike="noStrike" dirty="0">
                          <a:solidFill>
                            <a:srgbClr val="000000"/>
                          </a:solidFill>
                          <a:effectLst/>
                          <a:latin typeface="等线" panose="02010600030101010101" pitchFamily="2" charset="-122"/>
                          <a:ea typeface="等线" panose="02010600030101010101" pitchFamily="2" charset="-122"/>
                        </a:rPr>
                        <a:t>-</a:t>
                      </a:r>
                    </a:p>
                  </a:txBody>
                  <a:tcPr marL="4191" marR="4191" marT="4191" marB="0" anchor="ctr">
                    <a:lnL>
                      <a:noFill/>
                    </a:lnL>
                    <a:lnR>
                      <a:noFill/>
                    </a:lnR>
                    <a:lnT>
                      <a:noFill/>
                    </a:lnT>
                    <a:lnB>
                      <a:noFill/>
                    </a:lnB>
                    <a:noFill/>
                  </a:tcPr>
                </a:tc>
                <a:extLst>
                  <a:ext uri="{0D108BD9-81ED-4DB2-BD59-A6C34878D82A}">
                    <a16:rowId xmlns:a16="http://schemas.microsoft.com/office/drawing/2014/main" val="124868515"/>
                  </a:ext>
                </a:extLst>
              </a:tr>
            </a:tbl>
          </a:graphicData>
        </a:graphic>
      </p:graphicFrame>
      <p:sp>
        <p:nvSpPr>
          <p:cNvPr id="12" name="文本框 11">
            <a:extLst>
              <a:ext uri="{FF2B5EF4-FFF2-40B4-BE49-F238E27FC236}">
                <a16:creationId xmlns:a16="http://schemas.microsoft.com/office/drawing/2014/main" id="{DAF7DCF0-54C4-D572-8456-5BCEA48CC823}"/>
              </a:ext>
            </a:extLst>
          </p:cNvPr>
          <p:cNvSpPr txBox="1"/>
          <p:nvPr/>
        </p:nvSpPr>
        <p:spPr>
          <a:xfrm>
            <a:off x="720734" y="4605023"/>
            <a:ext cx="6094990" cy="1560235"/>
          </a:xfrm>
          <a:prstGeom prst="rect">
            <a:avLst/>
          </a:prstGeom>
          <a:noFill/>
        </p:spPr>
        <p:txBody>
          <a:bodyPr wrap="square">
            <a:spAutoFit/>
          </a:bodyPr>
          <a:lstStyle/>
          <a:p>
            <a:pPr>
              <a:lnSpc>
                <a:spcPct val="120000"/>
              </a:lnSpc>
              <a:spcBef>
                <a:spcPts val="600"/>
              </a:spcBef>
              <a:spcAft>
                <a:spcPts val="600"/>
              </a:spcAft>
              <a:buNone/>
            </a:pPr>
            <a:r>
              <a:rPr lang="zh-CN"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十四五”期间，产业结构和能源结构调整优化取得明显进展，重点行业能源利用效率大幅提升，煤炭消费增长得到严格控制，新型电力系统加快构建，绿色低碳技术研发和推广应用取得新进展，绿色生产生活方式得到普遍推行，有利于绿色低碳循环发展的政策体系进一步完善。到</a:t>
            </a:r>
            <a:r>
              <a:rPr lang="en-US"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2025</a:t>
            </a:r>
            <a:r>
              <a:rPr lang="zh-CN"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年，非化石能源消费比重达到</a:t>
            </a:r>
            <a:r>
              <a:rPr lang="en-US" altLang="zh-CN" sz="900" b="1" kern="100" dirty="0">
                <a:solidFill>
                  <a:schemeClr val="tx1">
                    <a:lumMod val="75000"/>
                    <a:lumOff val="25000"/>
                  </a:schemeClr>
                </a:solidFill>
                <a:effectLst/>
                <a:highlight>
                  <a:srgbClr val="FFFF00"/>
                </a:highlight>
                <a:latin typeface="微软雅黑" panose="020B0503020204020204" pitchFamily="34" charset="-122"/>
                <a:ea typeface="宋体" panose="02010600030101010101" pitchFamily="2" charset="-122"/>
                <a:cs typeface="Times New Roman" panose="02020603050405020304" pitchFamily="18" charset="0"/>
              </a:rPr>
              <a:t>20%</a:t>
            </a:r>
            <a:r>
              <a:rPr lang="zh-CN"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左右，单位国内生产总值能源消耗比</a:t>
            </a:r>
            <a:r>
              <a:rPr lang="en-US"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2020</a:t>
            </a:r>
            <a:r>
              <a:rPr lang="zh-CN"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年下降</a:t>
            </a:r>
            <a:r>
              <a:rPr lang="en-US" altLang="zh-CN" sz="900" b="1" kern="100" dirty="0">
                <a:solidFill>
                  <a:schemeClr val="tx1">
                    <a:lumMod val="75000"/>
                    <a:lumOff val="25000"/>
                  </a:schemeClr>
                </a:solidFill>
                <a:effectLst/>
                <a:highlight>
                  <a:srgbClr val="FFFF00"/>
                </a:highlight>
                <a:latin typeface="微软雅黑" panose="020B0503020204020204" pitchFamily="34" charset="-122"/>
                <a:ea typeface="宋体" panose="02010600030101010101" pitchFamily="2" charset="-122"/>
                <a:cs typeface="Times New Roman" panose="02020603050405020304" pitchFamily="18" charset="0"/>
              </a:rPr>
              <a:t>13.5%</a:t>
            </a:r>
            <a:r>
              <a:rPr lang="zh-CN"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，单位国内生产总值二氧化碳排放比</a:t>
            </a:r>
            <a:r>
              <a:rPr lang="en-US"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2020</a:t>
            </a:r>
            <a:r>
              <a:rPr lang="zh-CN"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年下降</a:t>
            </a:r>
            <a:r>
              <a:rPr lang="en-US" altLang="zh-CN" sz="900" b="1" kern="100" dirty="0">
                <a:solidFill>
                  <a:schemeClr val="tx1">
                    <a:lumMod val="75000"/>
                    <a:lumOff val="25000"/>
                  </a:schemeClr>
                </a:solidFill>
                <a:effectLst/>
                <a:highlight>
                  <a:srgbClr val="FFFF00"/>
                </a:highlight>
                <a:latin typeface="微软雅黑" panose="020B0503020204020204" pitchFamily="34" charset="-122"/>
                <a:ea typeface="宋体" panose="02010600030101010101" pitchFamily="2" charset="-122"/>
                <a:cs typeface="Times New Roman" panose="02020603050405020304" pitchFamily="18" charset="0"/>
              </a:rPr>
              <a:t>18%</a:t>
            </a:r>
            <a:r>
              <a:rPr lang="zh-CN"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，为实现碳达峰奠定坚实基础。</a:t>
            </a:r>
            <a:endParaRPr lang="zh-CN" altLang="zh-CN" sz="1400" b="1"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20000"/>
              </a:lnSpc>
              <a:spcBef>
                <a:spcPts val="600"/>
              </a:spcBef>
              <a:spcAft>
                <a:spcPts val="600"/>
              </a:spcAft>
              <a:buNone/>
            </a:pPr>
            <a:r>
              <a:rPr lang="zh-CN"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十五五”期间，产业结构调整取得重大进展，清洁低碳安全高效的能源体系初步建立，重点领域低碳发展模式基本形成，重点耗能行业能源利用效率达到国际先进水平，非化石能源消费比重进一步提高，煤炭消费逐步减少，绿色低碳技术取得关键突破，绿色生活方式成为公众自觉选择，绿色低碳循环发展政策体系基本健全。到</a:t>
            </a:r>
            <a:r>
              <a:rPr lang="en-US"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2030</a:t>
            </a:r>
            <a:r>
              <a:rPr lang="zh-CN"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年，非化石能源消费比重达到</a:t>
            </a:r>
            <a:r>
              <a:rPr lang="en-US" altLang="zh-CN" sz="900" b="1" kern="100" dirty="0">
                <a:solidFill>
                  <a:schemeClr val="tx1">
                    <a:lumMod val="75000"/>
                    <a:lumOff val="25000"/>
                  </a:schemeClr>
                </a:solidFill>
                <a:effectLst/>
                <a:highlight>
                  <a:srgbClr val="FFFF00"/>
                </a:highlight>
                <a:latin typeface="微软雅黑" panose="020B0503020204020204" pitchFamily="34" charset="-122"/>
                <a:ea typeface="宋体" panose="02010600030101010101" pitchFamily="2" charset="-122"/>
                <a:cs typeface="Times New Roman" panose="02020603050405020304" pitchFamily="18" charset="0"/>
              </a:rPr>
              <a:t>25%</a:t>
            </a:r>
            <a:r>
              <a:rPr lang="zh-CN"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左右，单位国内生产总值二氧化碳排放比</a:t>
            </a:r>
            <a:r>
              <a:rPr lang="en-US"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2005</a:t>
            </a:r>
            <a:r>
              <a:rPr lang="zh-CN"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年下降</a:t>
            </a:r>
            <a:r>
              <a:rPr lang="en-US" altLang="zh-CN" sz="900" b="1" kern="100" dirty="0">
                <a:solidFill>
                  <a:schemeClr val="tx1">
                    <a:lumMod val="75000"/>
                    <a:lumOff val="25000"/>
                  </a:schemeClr>
                </a:solidFill>
                <a:effectLst/>
                <a:highlight>
                  <a:srgbClr val="FFFF00"/>
                </a:highlight>
                <a:latin typeface="微软雅黑" panose="020B0503020204020204" pitchFamily="34" charset="-122"/>
                <a:ea typeface="宋体" panose="02010600030101010101" pitchFamily="2" charset="-122"/>
                <a:cs typeface="Times New Roman" panose="02020603050405020304" pitchFamily="18" charset="0"/>
              </a:rPr>
              <a:t>65%</a:t>
            </a:r>
            <a:r>
              <a:rPr lang="zh-CN"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以上，顺利实现</a:t>
            </a:r>
            <a:r>
              <a:rPr lang="en-US"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2030</a:t>
            </a:r>
            <a:r>
              <a:rPr lang="zh-CN" altLang="zh-CN" sz="900" b="1" kern="100" dirty="0">
                <a:solidFill>
                  <a:schemeClr val="tx1">
                    <a:lumMod val="75000"/>
                    <a:lumOff val="25000"/>
                  </a:schemeClr>
                </a:solidFill>
                <a:effectLst/>
                <a:latin typeface="微软雅黑" panose="020B0503020204020204" pitchFamily="34" charset="-122"/>
                <a:ea typeface="宋体" panose="02010600030101010101" pitchFamily="2" charset="-122"/>
                <a:cs typeface="Times New Roman" panose="02020603050405020304" pitchFamily="18" charset="0"/>
              </a:rPr>
              <a:t>年前碳达峰目标。</a:t>
            </a:r>
            <a:endParaRPr lang="zh-CN" altLang="zh-CN" sz="1400" b="1" kern="100" dirty="0">
              <a:solidFill>
                <a:schemeClr val="tx1">
                  <a:lumMod val="75000"/>
                  <a:lumOff val="2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109220572"/>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41776-8A93-9100-37AC-E3D401CF0275}"/>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B8CB7575-F5EB-C91A-D995-3DDAE23406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528E73BE-A1B8-E6F2-C12D-0C6051C693DD}"/>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E13041B9-D328-9830-851C-32C5555E6ACE}"/>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2991466C-A404-5213-2F93-D2CD6BD8F38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7B887119-BF8B-3839-663E-C836A3B0E696}"/>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46672EED-0135-2E99-9F75-E3F0B06F6856}"/>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模型</a:t>
            </a:r>
            <a:endParaRPr lang="zh-CN" altLang="zh-CN" sz="2400" dirty="0"/>
          </a:p>
        </p:txBody>
      </p:sp>
      <p:pic>
        <p:nvPicPr>
          <p:cNvPr id="52" name="图片 51">
            <a:extLst>
              <a:ext uri="{FF2B5EF4-FFF2-40B4-BE49-F238E27FC236}">
                <a16:creationId xmlns:a16="http://schemas.microsoft.com/office/drawing/2014/main" id="{E48070E8-52DA-D2FF-47B5-7407B22A3FA8}"/>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56022" y="6572219"/>
            <a:ext cx="2117266" cy="338296"/>
          </a:xfrm>
          <a:prstGeom prst="rect">
            <a:avLst/>
          </a:prstGeom>
        </p:spPr>
      </p:pic>
      <p:grpSp>
        <p:nvGrpSpPr>
          <p:cNvPr id="43" name="组合 42">
            <a:extLst>
              <a:ext uri="{FF2B5EF4-FFF2-40B4-BE49-F238E27FC236}">
                <a16:creationId xmlns:a16="http://schemas.microsoft.com/office/drawing/2014/main" id="{59A6C008-E849-4B6B-43DA-D51FEBADBAE6}"/>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F68DAEF2-1601-8349-E690-F3429648D350}"/>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356DA577-3412-1776-C6C6-4931B59ED27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1795E02D-6F91-7E6E-8E94-4E09B0559AFC}"/>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9645617E-BF36-0499-3CA9-03C0F6EE67C1}"/>
              </a:ext>
            </a:extLst>
          </p:cNvPr>
          <p:cNvSpPr/>
          <p:nvPr/>
        </p:nvSpPr>
        <p:spPr>
          <a:xfrm>
            <a:off x="4026688" y="3035098"/>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graphicFrame>
        <p:nvGraphicFramePr>
          <p:cNvPr id="15" name="对象 14">
            <a:extLst>
              <a:ext uri="{FF2B5EF4-FFF2-40B4-BE49-F238E27FC236}">
                <a16:creationId xmlns:a16="http://schemas.microsoft.com/office/drawing/2014/main" id="{2C4A835A-9CB1-9FCA-F0B3-38E588EF8B8E}"/>
              </a:ext>
            </a:extLst>
          </p:cNvPr>
          <p:cNvGraphicFramePr>
            <a:graphicFrameLocks noChangeAspect="1"/>
          </p:cNvGraphicFramePr>
          <p:nvPr>
            <p:extLst>
              <p:ext uri="{D42A27DB-BD31-4B8C-83A1-F6EECF244321}">
                <p14:modId xmlns:p14="http://schemas.microsoft.com/office/powerpoint/2010/main" val="167542893"/>
              </p:ext>
            </p:extLst>
          </p:nvPr>
        </p:nvGraphicFramePr>
        <p:xfrm>
          <a:off x="835327" y="2078871"/>
          <a:ext cx="3262317" cy="328513"/>
        </p:xfrm>
        <a:graphic>
          <a:graphicData uri="http://schemas.openxmlformats.org/presentationml/2006/ole">
            <mc:AlternateContent xmlns:mc="http://schemas.openxmlformats.org/markup-compatibility/2006">
              <mc:Choice xmlns:v="urn:schemas-microsoft-com:vml" Requires="v">
                <p:oleObj name="Equation" r:id="rId7" imgW="2273300" imgH="228600" progId="Equation.DSMT4">
                  <p:embed/>
                </p:oleObj>
              </mc:Choice>
              <mc:Fallback>
                <p:oleObj name="Equation" r:id="rId7" imgW="2273300" imgH="2286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5327" y="2078871"/>
                        <a:ext cx="3262317" cy="328513"/>
                      </a:xfrm>
                      <a:prstGeom prst="rect">
                        <a:avLst/>
                      </a:prstGeom>
                      <a:noFill/>
                    </p:spPr>
                  </p:pic>
                </p:oleObj>
              </mc:Fallback>
            </mc:AlternateContent>
          </a:graphicData>
        </a:graphic>
      </p:graphicFrame>
      <p:graphicFrame>
        <p:nvGraphicFramePr>
          <p:cNvPr id="16" name="对象 15">
            <a:extLst>
              <a:ext uri="{FF2B5EF4-FFF2-40B4-BE49-F238E27FC236}">
                <a16:creationId xmlns:a16="http://schemas.microsoft.com/office/drawing/2014/main" id="{ADA99BD4-9075-F5A0-81AA-229E9903055B}"/>
              </a:ext>
            </a:extLst>
          </p:cNvPr>
          <p:cNvGraphicFramePr>
            <a:graphicFrameLocks noChangeAspect="1"/>
          </p:cNvGraphicFramePr>
          <p:nvPr>
            <p:extLst>
              <p:ext uri="{D42A27DB-BD31-4B8C-83A1-F6EECF244321}">
                <p14:modId xmlns:p14="http://schemas.microsoft.com/office/powerpoint/2010/main" val="2580227363"/>
              </p:ext>
            </p:extLst>
          </p:nvPr>
        </p:nvGraphicFramePr>
        <p:xfrm>
          <a:off x="5136783" y="1955166"/>
          <a:ext cx="2957890" cy="508216"/>
        </p:xfrm>
        <a:graphic>
          <a:graphicData uri="http://schemas.openxmlformats.org/presentationml/2006/ole">
            <mc:AlternateContent xmlns:mc="http://schemas.openxmlformats.org/markup-compatibility/2006">
              <mc:Choice xmlns:v="urn:schemas-microsoft-com:vml" Requires="v">
                <p:oleObj name="Equation" r:id="rId9" imgW="2565400" imgH="431800" progId="Equation.DSMT4">
                  <p:embed/>
                </p:oleObj>
              </mc:Choice>
              <mc:Fallback>
                <p:oleObj name="Equation" r:id="rId9" imgW="2565400" imgH="4318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36783" y="1955166"/>
                        <a:ext cx="2957890" cy="508216"/>
                      </a:xfrm>
                      <a:prstGeom prst="rect">
                        <a:avLst/>
                      </a:prstGeom>
                      <a:noFill/>
                    </p:spPr>
                  </p:pic>
                </p:oleObj>
              </mc:Fallback>
            </mc:AlternateContent>
          </a:graphicData>
        </a:graphic>
      </p:graphicFrame>
      <p:sp>
        <p:nvSpPr>
          <p:cNvPr id="17" name="Rectangle 11">
            <a:extLst>
              <a:ext uri="{FF2B5EF4-FFF2-40B4-BE49-F238E27FC236}">
                <a16:creationId xmlns:a16="http://schemas.microsoft.com/office/drawing/2014/main" id="{A627AD95-D09C-0BCF-32FA-DAC8D2DF755A}"/>
              </a:ext>
            </a:extLst>
          </p:cNvPr>
          <p:cNvSpPr>
            <a:spLocks noChangeArrowheads="1"/>
          </p:cNvSpPr>
          <p:nvPr/>
        </p:nvSpPr>
        <p:spPr bwMode="auto">
          <a:xfrm>
            <a:off x="367841" y="1550412"/>
            <a:ext cx="11488799"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en-US"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1</a:t>
            </a:r>
            <a:r>
              <a:rPr kumimoji="0" lang="zh-CN" altLang="en-US"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en-US" sz="1400" b="1"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中央</a:t>
            </a:r>
            <a:r>
              <a:rPr kumimoji="0" lang="zh-CN" altLang="en-US"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碳达峰文件</a:t>
            </a:r>
            <a:r>
              <a:rPr kumimoji="0" lang="zh-CN" altLang="en-US" sz="1400" b="1"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发布</a:t>
            </a:r>
            <a:r>
              <a:rPr kumimoji="0" lang="zh-CN" altLang="en-US"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对被解释变量造成的影响，时间虚拟变量</a:t>
            </a:r>
            <a:r>
              <a:rPr kumimoji="0" lang="en-US"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post1</a:t>
            </a:r>
            <a:r>
              <a:rPr kumimoji="0" lang="zh-CN" altLang="en-US"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为</a:t>
            </a:r>
            <a:r>
              <a:rPr kumimoji="0" lang="zh-CN" altLang="en-US" sz="1400" b="1" i="0" u="none" strike="noStrike" cap="none" normalizeH="0" baseline="0" dirty="0">
                <a:ln>
                  <a:noFill/>
                </a:ln>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中央文件</a:t>
            </a:r>
            <a:r>
              <a:rPr kumimoji="0" lang="zh-CN" altLang="en-US"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发布前后，政策分组变量</a:t>
            </a:r>
            <a:r>
              <a:rPr kumimoji="0" lang="en-US"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treated</a:t>
            </a:r>
            <a:r>
              <a:rPr kumimoji="0" lang="zh-CN" altLang="en-US"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为该地方是否有跟进中央政策（</a:t>
            </a:r>
            <a:r>
              <a:rPr kumimoji="0" lang="en-US"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0-1</a:t>
            </a:r>
            <a:r>
              <a:rPr kumimoji="0" lang="zh-CN" altLang="en-US"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）：中央文件发布后，各地方有无跟进的冲击影响</a:t>
            </a:r>
            <a:endParaRPr kumimoji="0" lang="zh-CN" altLang="en-US" sz="800" b="0" i="0" u="none" strike="noStrike" cap="none" normalizeH="0" baseline="0" dirty="0">
              <a:ln>
                <a:noFill/>
              </a:ln>
              <a:solidFill>
                <a:schemeClr val="tx1"/>
              </a:solidFill>
              <a:effectLst/>
              <a:latin typeface="等线" panose="02010600030101010101" pitchFamily="2" charset="-122"/>
              <a:ea typeface="等线"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18" name="Rectangle 12">
            <a:extLst>
              <a:ext uri="{FF2B5EF4-FFF2-40B4-BE49-F238E27FC236}">
                <a16:creationId xmlns:a16="http://schemas.microsoft.com/office/drawing/2014/main" id="{231B2055-8036-6849-84B7-2AE64C9C9690}"/>
              </a:ext>
            </a:extLst>
          </p:cNvPr>
          <p:cNvSpPr>
            <a:spLocks noChangeArrowheads="1"/>
          </p:cNvSpPr>
          <p:nvPr/>
        </p:nvSpPr>
        <p:spPr bwMode="auto">
          <a:xfrm>
            <a:off x="792446" y="221026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文本框 19">
            <a:extLst>
              <a:ext uri="{FF2B5EF4-FFF2-40B4-BE49-F238E27FC236}">
                <a16:creationId xmlns:a16="http://schemas.microsoft.com/office/drawing/2014/main" id="{ED5AB7A7-EF1B-C6EC-6F60-7B73C88F7573}"/>
              </a:ext>
            </a:extLst>
          </p:cNvPr>
          <p:cNvSpPr txBox="1"/>
          <p:nvPr/>
        </p:nvSpPr>
        <p:spPr>
          <a:xfrm>
            <a:off x="296375" y="2564639"/>
            <a:ext cx="11632582" cy="1102225"/>
          </a:xfrm>
          <a:prstGeom prst="rect">
            <a:avLst/>
          </a:prstGeom>
          <a:noFill/>
        </p:spPr>
        <p:txBody>
          <a:bodyPr wrap="square">
            <a:spAutoFit/>
          </a:bodyPr>
          <a:lstStyle/>
          <a:p>
            <a:pPr>
              <a:lnSpc>
                <a:spcPct val="120000"/>
              </a:lnSpc>
              <a:spcBef>
                <a:spcPts val="600"/>
              </a:spcBef>
              <a:spcAft>
                <a:spcPts val="600"/>
              </a:spcAft>
              <a:buNone/>
            </a:pP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2</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lang="zh-CN" altLang="zh-CN" sz="1400" b="1" kern="100" dirty="0">
                <a:solidFill>
                  <a:srgbClr val="000000"/>
                </a:solidFill>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地方</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碳达峰文件</a:t>
            </a:r>
            <a:r>
              <a:rPr lang="zh-CN" altLang="zh-CN" sz="14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发布</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对被解释变量造成的影响，时间虚拟变量</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post2</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为</a:t>
            </a:r>
            <a:r>
              <a:rPr lang="zh-CN" altLang="zh-CN" sz="14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该地方文件</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发布前后，政策分组变量</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treated</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为该地方是否有跟进中央政策（</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0-1</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）：地方文件发布的冲击影响（单个碳达峰领域，中央文件在</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2021</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年</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10</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月发布，地方文件最早在</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2022</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年</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6</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月才跟进，基本集中在</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2022/6-2023/2</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这段时间中，基本不存在年份交错问题）（</a:t>
            </a:r>
            <a:r>
              <a:rPr lang="zh-CN" altLang="zh-CN" sz="1400" kern="100" dirty="0">
                <a:solidFill>
                  <a:srgbClr val="000000"/>
                </a:solidFill>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不太有说服力，因为被解释变量在</a:t>
            </a:r>
            <a:r>
              <a:rPr lang="en-US" altLang="zh-CN" sz="1400" kern="100" dirty="0">
                <a:solidFill>
                  <a:srgbClr val="000000"/>
                </a:solidFill>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2023</a:t>
            </a:r>
            <a:r>
              <a:rPr lang="zh-CN" altLang="zh-CN" sz="1400" kern="100" dirty="0">
                <a:solidFill>
                  <a:srgbClr val="000000"/>
                </a:solidFill>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年的数据目前是不全的，还未完全公布，因此显著性肯定差</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p>
        </p:txBody>
      </p:sp>
      <p:graphicFrame>
        <p:nvGraphicFramePr>
          <p:cNvPr id="21" name="对象 20">
            <a:extLst>
              <a:ext uri="{FF2B5EF4-FFF2-40B4-BE49-F238E27FC236}">
                <a16:creationId xmlns:a16="http://schemas.microsoft.com/office/drawing/2014/main" id="{5FBEA080-CE0C-C983-40A4-5CDEC79A551C}"/>
              </a:ext>
            </a:extLst>
          </p:cNvPr>
          <p:cNvGraphicFramePr>
            <a:graphicFrameLocks noChangeAspect="1"/>
          </p:cNvGraphicFramePr>
          <p:nvPr>
            <p:extLst>
              <p:ext uri="{D42A27DB-BD31-4B8C-83A1-F6EECF244321}">
                <p14:modId xmlns:p14="http://schemas.microsoft.com/office/powerpoint/2010/main" val="268436585"/>
              </p:ext>
            </p:extLst>
          </p:nvPr>
        </p:nvGraphicFramePr>
        <p:xfrm>
          <a:off x="853803" y="3746747"/>
          <a:ext cx="3492041" cy="343479"/>
        </p:xfrm>
        <a:graphic>
          <a:graphicData uri="http://schemas.openxmlformats.org/presentationml/2006/ole">
            <mc:AlternateContent xmlns:mc="http://schemas.openxmlformats.org/markup-compatibility/2006">
              <mc:Choice xmlns:v="urn:schemas-microsoft-com:vml" Requires="v">
                <p:oleObj name="Equation" r:id="rId11" imgW="2324100" imgH="228600" progId="Equation.DSMT4">
                  <p:embed/>
                </p:oleObj>
              </mc:Choice>
              <mc:Fallback>
                <p:oleObj name="Equation" r:id="rId11" imgW="2324100" imgH="22860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3803" y="3746747"/>
                        <a:ext cx="3492041" cy="343479"/>
                      </a:xfrm>
                      <a:prstGeom prst="rect">
                        <a:avLst/>
                      </a:prstGeom>
                      <a:noFill/>
                    </p:spPr>
                  </p:pic>
                </p:oleObj>
              </mc:Fallback>
            </mc:AlternateContent>
          </a:graphicData>
        </a:graphic>
      </p:graphicFrame>
      <p:graphicFrame>
        <p:nvGraphicFramePr>
          <p:cNvPr id="22" name="对象 21">
            <a:extLst>
              <a:ext uri="{FF2B5EF4-FFF2-40B4-BE49-F238E27FC236}">
                <a16:creationId xmlns:a16="http://schemas.microsoft.com/office/drawing/2014/main" id="{DCEEF12B-9DF3-1D92-3E98-B02E50F50179}"/>
              </a:ext>
            </a:extLst>
          </p:cNvPr>
          <p:cNvGraphicFramePr>
            <a:graphicFrameLocks noChangeAspect="1"/>
          </p:cNvGraphicFramePr>
          <p:nvPr>
            <p:extLst>
              <p:ext uri="{D42A27DB-BD31-4B8C-83A1-F6EECF244321}">
                <p14:modId xmlns:p14="http://schemas.microsoft.com/office/powerpoint/2010/main" val="430923214"/>
              </p:ext>
            </p:extLst>
          </p:nvPr>
        </p:nvGraphicFramePr>
        <p:xfrm>
          <a:off x="5136783" y="3611159"/>
          <a:ext cx="3492041" cy="591222"/>
        </p:xfrm>
        <a:graphic>
          <a:graphicData uri="http://schemas.openxmlformats.org/presentationml/2006/ole">
            <mc:AlternateContent xmlns:mc="http://schemas.openxmlformats.org/markup-compatibility/2006">
              <mc:Choice xmlns:v="urn:schemas-microsoft-com:vml" Requires="v">
                <p:oleObj name="Equation" r:id="rId13" imgW="2616200" imgH="431800" progId="Equation.DSMT4">
                  <p:embed/>
                </p:oleObj>
              </mc:Choice>
              <mc:Fallback>
                <p:oleObj name="Equation" r:id="rId13" imgW="2616200" imgH="431800"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36783" y="3611159"/>
                        <a:ext cx="3492041" cy="591222"/>
                      </a:xfrm>
                      <a:prstGeom prst="rect">
                        <a:avLst/>
                      </a:prstGeom>
                      <a:noFill/>
                    </p:spPr>
                  </p:pic>
                </p:oleObj>
              </mc:Fallback>
            </mc:AlternateContent>
          </a:graphicData>
        </a:graphic>
      </p:graphicFrame>
      <p:sp>
        <p:nvSpPr>
          <p:cNvPr id="23" name="Rectangle 15">
            <a:extLst>
              <a:ext uri="{FF2B5EF4-FFF2-40B4-BE49-F238E27FC236}">
                <a16:creationId xmlns:a16="http://schemas.microsoft.com/office/drawing/2014/main" id="{0FB4A5C0-10EF-981F-9EE5-3DE985BB34AF}"/>
              </a:ext>
            </a:extLst>
          </p:cNvPr>
          <p:cNvSpPr>
            <a:spLocks noChangeArrowheads="1"/>
          </p:cNvSpPr>
          <p:nvPr/>
        </p:nvSpPr>
        <p:spPr bwMode="auto">
          <a:xfrm>
            <a:off x="1022081" y="26239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5" name="Rectangle 16">
            <a:extLst>
              <a:ext uri="{FF2B5EF4-FFF2-40B4-BE49-F238E27FC236}">
                <a16:creationId xmlns:a16="http://schemas.microsoft.com/office/drawing/2014/main" id="{134B8F81-C5E0-34FE-7A33-CC362D994DEF}"/>
              </a:ext>
            </a:extLst>
          </p:cNvPr>
          <p:cNvSpPr>
            <a:spLocks noChangeArrowheads="1"/>
          </p:cNvSpPr>
          <p:nvPr/>
        </p:nvSpPr>
        <p:spPr bwMode="auto">
          <a:xfrm>
            <a:off x="1022081" y="330975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文本框 26">
            <a:extLst>
              <a:ext uri="{FF2B5EF4-FFF2-40B4-BE49-F238E27FC236}">
                <a16:creationId xmlns:a16="http://schemas.microsoft.com/office/drawing/2014/main" id="{B20098DC-BE35-A68C-3327-1167F581FF6F}"/>
              </a:ext>
            </a:extLst>
          </p:cNvPr>
          <p:cNvSpPr txBox="1"/>
          <p:nvPr/>
        </p:nvSpPr>
        <p:spPr>
          <a:xfrm>
            <a:off x="464526" y="4234866"/>
            <a:ext cx="11392114" cy="843693"/>
          </a:xfrm>
          <a:prstGeom prst="rect">
            <a:avLst/>
          </a:prstGeom>
          <a:noFill/>
        </p:spPr>
        <p:txBody>
          <a:bodyPr wrap="square">
            <a:spAutoFit/>
          </a:bodyPr>
          <a:lstStyle/>
          <a:p>
            <a:pPr>
              <a:lnSpc>
                <a:spcPct val="120000"/>
              </a:lnSpc>
              <a:spcBef>
                <a:spcPts val="600"/>
              </a:spcBef>
              <a:spcAft>
                <a:spcPts val="600"/>
              </a:spcAft>
              <a:buNone/>
            </a:pP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3</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lang="zh-CN" altLang="zh-CN" sz="1400" b="1" kern="100" dirty="0">
                <a:solidFill>
                  <a:srgbClr val="000000"/>
                </a:solidFill>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中央</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碳达峰文件发步后各地方</a:t>
            </a:r>
            <a:r>
              <a:rPr lang="zh-CN" altLang="zh-CN" sz="14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后续态度</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对各地方单位</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GDP</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能耗造成的影响，时间虚拟变量</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post1</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为</a:t>
            </a:r>
            <a:r>
              <a:rPr lang="zh-CN" altLang="zh-CN" sz="14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中央文件</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发布前后，政策分组变量从</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0-1</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的</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treated</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变为该地方的政策处理强度指标（如</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degree</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）：是不是各地方后续的态度会进一步影响碳治理呢？这里要试一组解释变量，包括相似度、相对语调、“主要目标”段落的语调、“主要目标”段落的指标强度、稳健性控制下的相对语调、隐式相对语调</a:t>
            </a:r>
          </a:p>
        </p:txBody>
      </p:sp>
      <p:graphicFrame>
        <p:nvGraphicFramePr>
          <p:cNvPr id="28" name="对象 27">
            <a:extLst>
              <a:ext uri="{FF2B5EF4-FFF2-40B4-BE49-F238E27FC236}">
                <a16:creationId xmlns:a16="http://schemas.microsoft.com/office/drawing/2014/main" id="{2CE8AB8A-A63B-8D0A-63AC-D96F42D4DE8E}"/>
              </a:ext>
            </a:extLst>
          </p:cNvPr>
          <p:cNvGraphicFramePr>
            <a:graphicFrameLocks noChangeAspect="1"/>
          </p:cNvGraphicFramePr>
          <p:nvPr>
            <p:extLst>
              <p:ext uri="{D42A27DB-BD31-4B8C-83A1-F6EECF244321}">
                <p14:modId xmlns:p14="http://schemas.microsoft.com/office/powerpoint/2010/main" val="1449226449"/>
              </p:ext>
            </p:extLst>
          </p:nvPr>
        </p:nvGraphicFramePr>
        <p:xfrm>
          <a:off x="853803" y="5344181"/>
          <a:ext cx="3669144" cy="353889"/>
        </p:xfrm>
        <a:graphic>
          <a:graphicData uri="http://schemas.openxmlformats.org/presentationml/2006/ole">
            <mc:AlternateContent xmlns:mc="http://schemas.openxmlformats.org/markup-compatibility/2006">
              <mc:Choice xmlns:v="urn:schemas-microsoft-com:vml" Requires="v">
                <p:oleObj name="Equation" r:id="rId15" imgW="2374900" imgH="228600" progId="Equation.DSMT4">
                  <p:embed/>
                </p:oleObj>
              </mc:Choice>
              <mc:Fallback>
                <p:oleObj name="Equation" r:id="rId15" imgW="2374900" imgH="228600" progId="Equation.DSMT4">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53803" y="5344181"/>
                        <a:ext cx="3669144" cy="353889"/>
                      </a:xfrm>
                      <a:prstGeom prst="rect">
                        <a:avLst/>
                      </a:prstGeom>
                      <a:noFill/>
                    </p:spPr>
                  </p:pic>
                </p:oleObj>
              </mc:Fallback>
            </mc:AlternateContent>
          </a:graphicData>
        </a:graphic>
      </p:graphicFrame>
      <p:graphicFrame>
        <p:nvGraphicFramePr>
          <p:cNvPr id="29" name="对象 28">
            <a:extLst>
              <a:ext uri="{FF2B5EF4-FFF2-40B4-BE49-F238E27FC236}">
                <a16:creationId xmlns:a16="http://schemas.microsoft.com/office/drawing/2014/main" id="{35EAD616-823B-D3B5-F98E-C4FE94016BAA}"/>
              </a:ext>
            </a:extLst>
          </p:cNvPr>
          <p:cNvGraphicFramePr>
            <a:graphicFrameLocks noChangeAspect="1"/>
          </p:cNvGraphicFramePr>
          <p:nvPr>
            <p:extLst>
              <p:ext uri="{D42A27DB-BD31-4B8C-83A1-F6EECF244321}">
                <p14:modId xmlns:p14="http://schemas.microsoft.com/office/powerpoint/2010/main" val="2101157497"/>
              </p:ext>
            </p:extLst>
          </p:nvPr>
        </p:nvGraphicFramePr>
        <p:xfrm>
          <a:off x="5136783" y="5217828"/>
          <a:ext cx="3346311" cy="553735"/>
        </p:xfrm>
        <a:graphic>
          <a:graphicData uri="http://schemas.openxmlformats.org/presentationml/2006/ole">
            <mc:AlternateContent xmlns:mc="http://schemas.openxmlformats.org/markup-compatibility/2006">
              <mc:Choice xmlns:v="urn:schemas-microsoft-com:vml" Requires="v">
                <p:oleObj name="Equation" r:id="rId17" imgW="2667000" imgH="431800" progId="Equation.DSMT4">
                  <p:embed/>
                </p:oleObj>
              </mc:Choice>
              <mc:Fallback>
                <p:oleObj name="Equation" r:id="rId17" imgW="2667000" imgH="431800" progId="Equation.DSMT4">
                  <p:embed/>
                  <p:pic>
                    <p:nvPicPr>
                      <p:cNvPr id="0"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136783" y="5217828"/>
                        <a:ext cx="3346311" cy="553735"/>
                      </a:xfrm>
                      <a:prstGeom prst="rect">
                        <a:avLst/>
                      </a:prstGeom>
                      <a:noFill/>
                    </p:spPr>
                  </p:pic>
                </p:oleObj>
              </mc:Fallback>
            </mc:AlternateContent>
          </a:graphicData>
        </a:graphic>
      </p:graphicFrame>
      <p:sp>
        <p:nvSpPr>
          <p:cNvPr id="30" name="Rectangle 19">
            <a:extLst>
              <a:ext uri="{FF2B5EF4-FFF2-40B4-BE49-F238E27FC236}">
                <a16:creationId xmlns:a16="http://schemas.microsoft.com/office/drawing/2014/main" id="{8EBA63E0-2D42-4343-67E0-D52345DF8E72}"/>
              </a:ext>
            </a:extLst>
          </p:cNvPr>
          <p:cNvSpPr>
            <a:spLocks noChangeArrowheads="1"/>
          </p:cNvSpPr>
          <p:nvPr/>
        </p:nvSpPr>
        <p:spPr bwMode="auto">
          <a:xfrm>
            <a:off x="965233" y="435112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1" name="Rectangle 20">
            <a:extLst>
              <a:ext uri="{FF2B5EF4-FFF2-40B4-BE49-F238E27FC236}">
                <a16:creationId xmlns:a16="http://schemas.microsoft.com/office/drawing/2014/main" id="{39110D1B-CE15-125E-30E2-2032A690DE1E}"/>
              </a:ext>
            </a:extLst>
          </p:cNvPr>
          <p:cNvSpPr>
            <a:spLocks noChangeArrowheads="1"/>
          </p:cNvSpPr>
          <p:nvPr/>
        </p:nvSpPr>
        <p:spPr bwMode="auto">
          <a:xfrm>
            <a:off x="965233" y="503692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730256728"/>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AAB03-0DEF-AAC5-618E-BAAFB17C9E84}"/>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8BD6D039-4CAD-24B1-206F-9B0A7A55C66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F527305E-86F4-5F5E-7E6A-5C63A3087D45}"/>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ED8F6C46-A5C0-7A42-42DB-51ED9473CCC9}"/>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F78D34FB-E2EA-9FFE-ED07-CAE08E18EFAA}"/>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92CCA1D9-96E6-03F6-A2FD-EBB54142B49C}"/>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AA1A5304-9B2C-7F3E-8998-EDE49DB3DC83}"/>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模型</a:t>
            </a:r>
            <a:endParaRPr lang="zh-CN" altLang="zh-CN" sz="2400" dirty="0"/>
          </a:p>
        </p:txBody>
      </p:sp>
      <p:pic>
        <p:nvPicPr>
          <p:cNvPr id="52" name="图片 51">
            <a:extLst>
              <a:ext uri="{FF2B5EF4-FFF2-40B4-BE49-F238E27FC236}">
                <a16:creationId xmlns:a16="http://schemas.microsoft.com/office/drawing/2014/main" id="{E1189782-EC3E-CF4B-B839-141CFD55C631}"/>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F8DC4104-FE47-E56B-0BC9-CB837C7FC998}"/>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D431286E-4B23-8057-44D2-6054659CB47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D89C57C6-0EAC-1CF9-3332-B438E7AA2D3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7CF046C7-1581-1E46-485E-81E0974E1E82}"/>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D556E1B7-7289-8BEB-25FB-819434DAF2E7}"/>
              </a:ext>
            </a:extLst>
          </p:cNvPr>
          <p:cNvSpPr/>
          <p:nvPr/>
        </p:nvSpPr>
        <p:spPr>
          <a:xfrm>
            <a:off x="3997252" y="2846480"/>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7" name="Rectangle 11">
            <a:extLst>
              <a:ext uri="{FF2B5EF4-FFF2-40B4-BE49-F238E27FC236}">
                <a16:creationId xmlns:a16="http://schemas.microsoft.com/office/drawing/2014/main" id="{AA2646D0-A412-1FBE-FC75-6E881781F4FA}"/>
              </a:ext>
            </a:extLst>
          </p:cNvPr>
          <p:cNvSpPr>
            <a:spLocks noChangeArrowheads="1"/>
          </p:cNvSpPr>
          <p:nvPr/>
        </p:nvSpPr>
        <p:spPr bwMode="auto">
          <a:xfrm>
            <a:off x="584999" y="1569207"/>
            <a:ext cx="99452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highlight>
                  <a:srgbClr val="FF0000"/>
                </a:highlight>
                <a:latin typeface="等线" panose="02010600030101010101" pitchFamily="2" charset="-122"/>
                <a:ea typeface="等线" panose="02010600030101010101" pitchFamily="2" charset="-122"/>
              </a:rPr>
              <a:t>说明</a:t>
            </a:r>
            <a:r>
              <a:rPr kumimoji="0" lang="zh-CN" altLang="en-US" sz="2000" b="1" i="0" u="none" strike="noStrike" cap="none" normalizeH="0" baseline="0" dirty="0">
                <a:ln>
                  <a:noFill/>
                </a:ln>
                <a:solidFill>
                  <a:schemeClr val="tx1"/>
                </a:solidFill>
                <a:effectLst/>
                <a:latin typeface="等线" panose="02010600030101010101" pitchFamily="2" charset="-122"/>
                <a:ea typeface="等线" panose="02010600030101010101" pitchFamily="2" charset="-122"/>
              </a:rPr>
              <a:t>：</a:t>
            </a:r>
            <a:endParaRPr kumimoji="0" lang="en-US" altLang="zh-CN" sz="2000" b="1" i="0" u="none" strike="noStrike" cap="none" normalizeH="0" baseline="0" dirty="0">
              <a:ln>
                <a:noFill/>
              </a:ln>
              <a:solidFill>
                <a:schemeClr val="tx1"/>
              </a:solidFill>
              <a:effectLst/>
              <a:latin typeface="等线" panose="02010600030101010101" pitchFamily="2" charset="-122"/>
              <a:ea typeface="等线"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000" b="1" i="0" u="none" strike="noStrike" cap="none" normalizeH="0" baseline="0" dirty="0">
              <a:ln>
                <a:noFill/>
              </a:ln>
              <a:solidFill>
                <a:schemeClr val="tx1"/>
              </a:solidFill>
              <a:effectLst/>
              <a:latin typeface="等线" panose="02010600030101010101" pitchFamily="2" charset="-122"/>
              <a:ea typeface="等线"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2000" dirty="0">
                <a:latin typeface="等线" panose="02010600030101010101" pitchFamily="2" charset="-122"/>
                <a:ea typeface="等线" panose="02010600030101010101" pitchFamily="2" charset="-122"/>
              </a:rPr>
              <a:t>1.</a:t>
            </a:r>
            <a:r>
              <a:rPr lang="zh-CN" altLang="en-US" sz="2000" dirty="0">
                <a:latin typeface="等线" panose="02010600030101010101" pitchFamily="2" charset="-122"/>
                <a:ea typeface="等线" panose="02010600030101010101" pitchFamily="2" charset="-122"/>
              </a:rPr>
              <a:t>预想中还有对（</a:t>
            </a:r>
            <a:r>
              <a:rPr lang="en-US" altLang="zh-CN" sz="2000" dirty="0">
                <a:latin typeface="等线" panose="02010600030101010101" pitchFamily="2" charset="-122"/>
                <a:ea typeface="等线" panose="02010600030101010101" pitchFamily="2" charset="-122"/>
              </a:rPr>
              <a:t>3</a:t>
            </a:r>
            <a:r>
              <a:rPr lang="zh-CN" altLang="en-US" sz="2000" dirty="0">
                <a:latin typeface="等线" panose="02010600030101010101" pitchFamily="2" charset="-122"/>
                <a:ea typeface="等线" panose="02010600030101010101" pitchFamily="2" charset="-122"/>
              </a:rPr>
              <a:t>）也做</a:t>
            </a:r>
            <a:r>
              <a:rPr lang="en-US" altLang="zh-CN" sz="2000" dirty="0">
                <a:latin typeface="等线" panose="02010600030101010101" pitchFamily="2" charset="-122"/>
                <a:ea typeface="等线" panose="02010600030101010101" pitchFamily="2" charset="-122"/>
              </a:rPr>
              <a:t>post2</a:t>
            </a:r>
            <a:r>
              <a:rPr lang="zh-CN" altLang="en-US" sz="2000" dirty="0">
                <a:latin typeface="等线" panose="02010600030101010101" pitchFamily="2" charset="-122"/>
                <a:ea typeface="等线" panose="02010600030101010101" pitchFamily="2" charset="-122"/>
              </a:rPr>
              <a:t>的分析，但考虑到（</a:t>
            </a:r>
            <a:r>
              <a:rPr lang="en-US" altLang="zh-CN" sz="2000" dirty="0">
                <a:latin typeface="等线" panose="02010600030101010101" pitchFamily="2" charset="-122"/>
                <a:ea typeface="等线" panose="02010600030101010101" pitchFamily="2" charset="-122"/>
              </a:rPr>
              <a:t>1</a:t>
            </a:r>
            <a:r>
              <a:rPr lang="zh-CN" altLang="en-US" sz="2000" dirty="0">
                <a:latin typeface="等线" panose="02010600030101010101" pitchFamily="2" charset="-122"/>
                <a:ea typeface="等线" panose="02010600030101010101" pitchFamily="2" charset="-122"/>
              </a:rPr>
              <a:t>）（</a:t>
            </a:r>
            <a:r>
              <a:rPr lang="en-US" altLang="zh-CN" sz="2000" dirty="0">
                <a:latin typeface="等线" panose="02010600030101010101" pitchFamily="2" charset="-122"/>
                <a:ea typeface="等线" panose="02010600030101010101" pitchFamily="2" charset="-122"/>
              </a:rPr>
              <a:t>2</a:t>
            </a:r>
            <a:r>
              <a:rPr lang="zh-CN" altLang="en-US" sz="2000" dirty="0">
                <a:latin typeface="等线" panose="02010600030101010101" pitchFamily="2" charset="-122"/>
                <a:ea typeface="等线" panose="02010600030101010101" pitchFamily="2" charset="-122"/>
              </a:rPr>
              <a:t>）的经验，认为效果大概率不佳，因此没有做</a:t>
            </a:r>
            <a:endParaRPr lang="en-US" altLang="zh-CN" sz="2000" dirty="0">
              <a:latin typeface="等线" panose="02010600030101010101" pitchFamily="2" charset="-122"/>
              <a:ea typeface="等线"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000" i="0" u="none" strike="noStrike" cap="none" normalizeH="0" baseline="0" dirty="0">
              <a:ln>
                <a:noFill/>
              </a:ln>
              <a:solidFill>
                <a:schemeClr val="tx1"/>
              </a:solidFill>
              <a:effectLst/>
              <a:latin typeface="等线" panose="02010600030101010101" pitchFamily="2" charset="-122"/>
              <a:ea typeface="等线"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2.</a:t>
            </a:r>
            <a:r>
              <a:rPr kumimoji="0" lang="zh-CN" altLang="en-US" sz="200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还有控制变量没有加，因为不太清楚需要加什么控制变量比较好</a:t>
            </a:r>
            <a:endParaRPr kumimoji="0" lang="en-US" altLang="zh-CN" sz="2000" i="0" u="none" strike="noStrike" cap="none" normalizeH="0" baseline="0" dirty="0">
              <a:ln>
                <a:noFill/>
              </a:ln>
              <a:solidFill>
                <a:schemeClr val="tx1"/>
              </a:solidFill>
              <a:effectLst/>
              <a:latin typeface="等线" panose="02010600030101010101" pitchFamily="2" charset="-122"/>
              <a:ea typeface="等线"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2000" dirty="0">
              <a:latin typeface="等线" panose="02010600030101010101" pitchFamily="2" charset="-122"/>
              <a:ea typeface="等线"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3.</a:t>
            </a:r>
            <a:r>
              <a:rPr kumimoji="0" lang="zh-CN" altLang="en-US" sz="200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目前只设计了单个主题的模型，多个主题的模型不太清楚应该怎么用</a:t>
            </a:r>
            <a:endParaRPr kumimoji="0" lang="en-US" altLang="zh-CN" sz="2000" i="0" u="none" strike="noStrike" cap="none" normalizeH="0" baseline="0" dirty="0">
              <a:ln>
                <a:noFill/>
              </a:ln>
              <a:solidFill>
                <a:schemeClr val="tx1"/>
              </a:solidFill>
              <a:effectLst/>
              <a:latin typeface="等线" panose="02010600030101010101" pitchFamily="2" charset="-122"/>
              <a:ea typeface="等线"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lang="zh-CN" altLang="en-US" sz="2000" dirty="0">
                <a:latin typeface="等线" panose="02010600030101010101" pitchFamily="2" charset="-122"/>
                <a:ea typeface="等线" panose="02010600030101010101" pitchFamily="2" charset="-122"/>
              </a:rPr>
              <a:t>（目前的情况是我们的被解释变量是所有主题公用的，不是一个典型的三重的“时间、地方、主题”的</a:t>
            </a:r>
            <a:r>
              <a:rPr lang="en-US" altLang="zh-CN" sz="2000" dirty="0" err="1">
                <a:latin typeface="等线" panose="02010600030101010101" pitchFamily="2" charset="-122"/>
                <a:ea typeface="等线" panose="02010600030101010101" pitchFamily="2" charset="-122"/>
              </a:rPr>
              <a:t>ikt</a:t>
            </a:r>
            <a:r>
              <a:rPr lang="zh-CN" altLang="en-US" sz="2000" dirty="0">
                <a:latin typeface="等线" panose="02010600030101010101" pitchFamily="2" charset="-122"/>
                <a:ea typeface="等线" panose="02010600030101010101" pitchFamily="2" charset="-122"/>
              </a:rPr>
              <a:t>的变量，解释变量是一个典型的</a:t>
            </a:r>
            <a:r>
              <a:rPr lang="en-US" altLang="zh-CN" sz="2000" dirty="0" err="1">
                <a:latin typeface="等线" panose="02010600030101010101" pitchFamily="2" charset="-122"/>
                <a:ea typeface="等线" panose="02010600030101010101" pitchFamily="2" charset="-122"/>
              </a:rPr>
              <a:t>ikt</a:t>
            </a:r>
            <a:r>
              <a:rPr lang="zh-CN" altLang="en-US" sz="2000" dirty="0">
                <a:latin typeface="等线" panose="02010600030101010101" pitchFamily="2" charset="-122"/>
                <a:ea typeface="等线" panose="02010600030101010101" pitchFamily="2" charset="-122"/>
              </a:rPr>
              <a:t>变量，目前想到的只有将各主题的解释变量做合并，想不太清楚要怎么做）</a:t>
            </a:r>
            <a:endParaRPr lang="en-US" altLang="zh-CN" sz="2000" dirty="0">
              <a:latin typeface="等线" panose="02010600030101010101" pitchFamily="2" charset="-122"/>
              <a:ea typeface="等线" panose="02010600030101010101" pitchFamily="2" charset="-122"/>
            </a:endParaRPr>
          </a:p>
        </p:txBody>
      </p:sp>
      <p:sp>
        <p:nvSpPr>
          <p:cNvPr id="18" name="Rectangle 12">
            <a:extLst>
              <a:ext uri="{FF2B5EF4-FFF2-40B4-BE49-F238E27FC236}">
                <a16:creationId xmlns:a16="http://schemas.microsoft.com/office/drawing/2014/main" id="{AA5C13C9-4EDD-7D7D-0CED-768F6B9D10BD}"/>
              </a:ext>
            </a:extLst>
          </p:cNvPr>
          <p:cNvSpPr>
            <a:spLocks noChangeArrowheads="1"/>
          </p:cNvSpPr>
          <p:nvPr/>
        </p:nvSpPr>
        <p:spPr bwMode="auto">
          <a:xfrm>
            <a:off x="763010" y="202164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15">
            <a:extLst>
              <a:ext uri="{FF2B5EF4-FFF2-40B4-BE49-F238E27FC236}">
                <a16:creationId xmlns:a16="http://schemas.microsoft.com/office/drawing/2014/main" id="{99284925-86D8-178A-D0DB-EA44CC742C1C}"/>
              </a:ext>
            </a:extLst>
          </p:cNvPr>
          <p:cNvSpPr>
            <a:spLocks noChangeArrowheads="1"/>
          </p:cNvSpPr>
          <p:nvPr/>
        </p:nvSpPr>
        <p:spPr bwMode="auto">
          <a:xfrm>
            <a:off x="1022081" y="26239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5" name="Rectangle 16">
            <a:extLst>
              <a:ext uri="{FF2B5EF4-FFF2-40B4-BE49-F238E27FC236}">
                <a16:creationId xmlns:a16="http://schemas.microsoft.com/office/drawing/2014/main" id="{E09CB6B1-6D53-CFCB-F115-900093C5BC85}"/>
              </a:ext>
            </a:extLst>
          </p:cNvPr>
          <p:cNvSpPr>
            <a:spLocks noChangeArrowheads="1"/>
          </p:cNvSpPr>
          <p:nvPr/>
        </p:nvSpPr>
        <p:spPr bwMode="auto">
          <a:xfrm>
            <a:off x="1022081" y="330975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0" name="Rectangle 19">
            <a:extLst>
              <a:ext uri="{FF2B5EF4-FFF2-40B4-BE49-F238E27FC236}">
                <a16:creationId xmlns:a16="http://schemas.microsoft.com/office/drawing/2014/main" id="{22647DC5-83A4-DEA0-41F2-EF023C07E0E6}"/>
              </a:ext>
            </a:extLst>
          </p:cNvPr>
          <p:cNvSpPr>
            <a:spLocks noChangeArrowheads="1"/>
          </p:cNvSpPr>
          <p:nvPr/>
        </p:nvSpPr>
        <p:spPr bwMode="auto">
          <a:xfrm>
            <a:off x="965233" y="435112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1" name="Rectangle 20">
            <a:extLst>
              <a:ext uri="{FF2B5EF4-FFF2-40B4-BE49-F238E27FC236}">
                <a16:creationId xmlns:a16="http://schemas.microsoft.com/office/drawing/2014/main" id="{959AC1BE-89DE-21F4-26C1-897ABF580D03}"/>
              </a:ext>
            </a:extLst>
          </p:cNvPr>
          <p:cNvSpPr>
            <a:spLocks noChangeArrowheads="1"/>
          </p:cNvSpPr>
          <p:nvPr/>
        </p:nvSpPr>
        <p:spPr bwMode="auto">
          <a:xfrm>
            <a:off x="965233" y="503692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2">
            <a:extLst>
              <a:ext uri="{FF2B5EF4-FFF2-40B4-BE49-F238E27FC236}">
                <a16:creationId xmlns:a16="http://schemas.microsoft.com/office/drawing/2014/main" id="{6A04CE3C-1779-8C85-306B-3F6339612489}"/>
              </a:ext>
            </a:extLst>
          </p:cNvPr>
          <p:cNvSpPr>
            <a:spLocks noChangeArrowheads="1"/>
          </p:cNvSpPr>
          <p:nvPr/>
        </p:nvSpPr>
        <p:spPr bwMode="auto">
          <a:xfrm>
            <a:off x="621873" y="5099362"/>
            <a:ext cx="110533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lumMod val="50000"/>
                    <a:lumOff val="50000"/>
                  </a:schemeClr>
                </a:solidFill>
                <a:effectLst/>
                <a:latin typeface="等线" panose="02010600030101010101" pitchFamily="2" charset="-122"/>
                <a:ea typeface="等线" panose="02010600030101010101" pitchFamily="2" charset="-122"/>
                <a:cs typeface="Times New Roman" panose="02020603050405020304" pitchFamily="18" charset="0"/>
              </a:rPr>
              <a:t>作为比照的一个例子是</a:t>
            </a:r>
            <a:r>
              <a:rPr kumimoji="0" lang="en-US" altLang="zh-CN" sz="1200" b="0" i="0" u="none" strike="noStrike" cap="none" normalizeH="0" baseline="0" dirty="0">
                <a:ln>
                  <a:noFill/>
                </a:ln>
                <a:solidFill>
                  <a:schemeClr val="tx1">
                    <a:lumMod val="50000"/>
                    <a:lumOff val="50000"/>
                  </a:schemeClr>
                </a:solidFill>
                <a:effectLst/>
                <a:latin typeface="等线" panose="02010600030101010101" pitchFamily="2" charset="-122"/>
                <a:ea typeface="等线" panose="02010600030101010101" pitchFamily="2" charset="-122"/>
                <a:cs typeface="Times New Roman" panose="02020603050405020304" pitchFamily="18" charset="0"/>
              </a:rPr>
              <a:t>JPE</a:t>
            </a:r>
            <a:r>
              <a:rPr kumimoji="0" lang="zh-CN" altLang="en-US" sz="1200" b="0" i="0" u="none" strike="noStrike" cap="none" normalizeH="0" baseline="0" dirty="0">
                <a:ln>
                  <a:noFill/>
                </a:ln>
                <a:solidFill>
                  <a:schemeClr val="tx1">
                    <a:lumMod val="50000"/>
                    <a:lumOff val="50000"/>
                  </a:schemeClr>
                </a:solidFill>
                <a:effectLst/>
                <a:latin typeface="等线" panose="02010600030101010101" pitchFamily="2" charset="-122"/>
                <a:ea typeface="等线" panose="02010600030101010101" pitchFamily="2" charset="-122"/>
                <a:cs typeface="Times New Roman" panose="02020603050405020304" pitchFamily="18" charset="0"/>
              </a:rPr>
              <a:t>（</a:t>
            </a:r>
            <a:r>
              <a:rPr kumimoji="0" lang="en-US" altLang="zh-CN" sz="1200" b="0" i="0" u="none" strike="noStrike" cap="none" normalizeH="0" baseline="0" dirty="0">
                <a:ln>
                  <a:noFill/>
                </a:ln>
                <a:solidFill>
                  <a:schemeClr val="tx1">
                    <a:lumMod val="50000"/>
                    <a:lumOff val="50000"/>
                  </a:schemeClr>
                </a:solidFill>
                <a:effectLst/>
                <a:latin typeface="等线" panose="02010600030101010101" pitchFamily="2" charset="-122"/>
                <a:ea typeface="等线" panose="02010600030101010101" pitchFamily="2" charset="-122"/>
                <a:cs typeface="Times New Roman" panose="02020603050405020304" pitchFamily="18" charset="0"/>
              </a:rPr>
              <a:t>Policy Experimentation in China_ the Political Economy of Policy Learning</a:t>
            </a:r>
            <a:r>
              <a:rPr kumimoji="0" lang="zh-CN" altLang="en-US" sz="1200" b="0" i="0" u="none" strike="noStrike" cap="none" normalizeH="0" baseline="0" dirty="0">
                <a:ln>
                  <a:noFill/>
                </a:ln>
                <a:solidFill>
                  <a:schemeClr val="tx1">
                    <a:lumMod val="50000"/>
                    <a:lumOff val="50000"/>
                  </a:schemeClr>
                </a:solidFill>
                <a:effectLst/>
                <a:latin typeface="等线" panose="02010600030101010101" pitchFamily="2" charset="-122"/>
                <a:ea typeface="等线" panose="02010600030101010101" pitchFamily="2" charset="-122"/>
                <a:cs typeface="Times New Roman" panose="02020603050405020304" pitchFamily="18" charset="0"/>
              </a:rPr>
              <a:t>（</a:t>
            </a:r>
            <a:r>
              <a:rPr kumimoji="0" lang="en-US" altLang="zh-CN" sz="1200" b="0" i="0" u="none" strike="noStrike" cap="none" normalizeH="0" baseline="0" dirty="0">
                <a:ln>
                  <a:noFill/>
                </a:ln>
                <a:solidFill>
                  <a:schemeClr val="tx1">
                    <a:lumMod val="50000"/>
                    <a:lumOff val="50000"/>
                  </a:schemeClr>
                </a:solidFill>
                <a:effectLst/>
                <a:latin typeface="等线" panose="02010600030101010101" pitchFamily="2" charset="-122"/>
                <a:ea typeface="等线" panose="02010600030101010101" pitchFamily="2" charset="-122"/>
                <a:cs typeface="Times New Roman" panose="02020603050405020304" pitchFamily="18" charset="0"/>
              </a:rPr>
              <a:t>Journal of Political Economy</a:t>
            </a:r>
            <a:r>
              <a:rPr kumimoji="0" lang="zh-CN" altLang="en-US" sz="1200" b="0" i="0" u="none" strike="noStrike" cap="none" normalizeH="0" baseline="0" dirty="0">
                <a:ln>
                  <a:noFill/>
                </a:ln>
                <a:solidFill>
                  <a:schemeClr val="tx1">
                    <a:lumMod val="50000"/>
                    <a:lumOff val="50000"/>
                  </a:schemeClr>
                </a:solidFill>
                <a:effectLst/>
                <a:latin typeface="等线" panose="02010600030101010101" pitchFamily="2" charset="-122"/>
                <a:ea typeface="等线" panose="02010600030101010101" pitchFamily="2" charset="-122"/>
                <a:cs typeface="Times New Roman" panose="02020603050405020304" pitchFamily="18" charset="0"/>
              </a:rPr>
              <a:t>））那篇中讨论，某个领域下某个省份在某年份发布的政策数量（政策处理强度），是否会造成对应领域的偏向性财政支持，那它的被解释变量其实是</a:t>
            </a:r>
            <a:r>
              <a:rPr kumimoji="0" lang="en-US" altLang="zh-CN" sz="1200" b="0" i="0" u="none" strike="noStrike" cap="none" normalizeH="0" baseline="0" dirty="0">
                <a:ln>
                  <a:noFill/>
                </a:ln>
                <a:solidFill>
                  <a:schemeClr val="tx1">
                    <a:lumMod val="50000"/>
                    <a:lumOff val="50000"/>
                  </a:schemeClr>
                </a:solidFill>
                <a:effectLst/>
                <a:latin typeface="等线" panose="02010600030101010101" pitchFamily="2" charset="-122"/>
                <a:ea typeface="等线" panose="02010600030101010101" pitchFamily="2" charset="-122"/>
                <a:cs typeface="Times New Roman" panose="02020603050405020304" pitchFamily="18" charset="0"/>
              </a:rPr>
              <a:t>t</a:t>
            </a:r>
            <a:r>
              <a:rPr kumimoji="0" lang="zh-CN" altLang="en-US" sz="1200" b="0" i="0" u="none" strike="noStrike" cap="none" normalizeH="0" baseline="0" dirty="0">
                <a:ln>
                  <a:noFill/>
                </a:ln>
                <a:solidFill>
                  <a:schemeClr val="tx1">
                    <a:lumMod val="50000"/>
                    <a:lumOff val="50000"/>
                  </a:schemeClr>
                </a:solidFill>
                <a:effectLst/>
                <a:latin typeface="等线" panose="02010600030101010101" pitchFamily="2" charset="-122"/>
                <a:ea typeface="等线" panose="02010600030101010101" pitchFamily="2" charset="-122"/>
                <a:cs typeface="Times New Roman" panose="02020603050405020304" pitchFamily="18" charset="0"/>
              </a:rPr>
              <a:t>年份省份</a:t>
            </a:r>
            <a:r>
              <a:rPr kumimoji="0" lang="en-US" altLang="zh-CN" sz="1200" b="0" i="0" u="none" strike="noStrike" cap="none" normalizeH="0" baseline="0" dirty="0" err="1">
                <a:ln>
                  <a:noFill/>
                </a:ln>
                <a:solidFill>
                  <a:schemeClr val="tx1">
                    <a:lumMod val="50000"/>
                    <a:lumOff val="50000"/>
                  </a:schemeClr>
                </a:solidFill>
                <a:effectLst/>
                <a:latin typeface="等线" panose="02010600030101010101" pitchFamily="2" charset="-122"/>
                <a:ea typeface="等线" panose="02010600030101010101" pitchFamily="2" charset="-122"/>
                <a:cs typeface="Times New Roman" panose="02020603050405020304" pitchFamily="18" charset="0"/>
              </a:rPr>
              <a:t>i</a:t>
            </a:r>
            <a:r>
              <a:rPr kumimoji="0" lang="zh-CN" altLang="en-US" sz="1200" b="0" i="0" u="none" strike="noStrike" cap="none" normalizeH="0" baseline="0" dirty="0">
                <a:ln>
                  <a:noFill/>
                </a:ln>
                <a:solidFill>
                  <a:schemeClr val="tx1">
                    <a:lumMod val="50000"/>
                    <a:lumOff val="50000"/>
                  </a:schemeClr>
                </a:solidFill>
                <a:effectLst/>
                <a:latin typeface="等线" panose="02010600030101010101" pitchFamily="2" charset="-122"/>
                <a:ea typeface="等线" panose="02010600030101010101" pitchFamily="2" charset="-122"/>
                <a:cs typeface="Times New Roman" panose="02020603050405020304" pitchFamily="18" charset="0"/>
              </a:rPr>
              <a:t>在</a:t>
            </a:r>
            <a:r>
              <a:rPr kumimoji="0" lang="en-US" altLang="zh-CN" sz="1200" b="0" i="0" u="none" strike="noStrike" cap="none" normalizeH="0" baseline="0" dirty="0">
                <a:ln>
                  <a:noFill/>
                </a:ln>
                <a:solidFill>
                  <a:schemeClr val="tx1">
                    <a:lumMod val="50000"/>
                    <a:lumOff val="50000"/>
                  </a:schemeClr>
                </a:solidFill>
                <a:effectLst/>
                <a:latin typeface="等线" panose="02010600030101010101" pitchFamily="2" charset="-122"/>
                <a:ea typeface="等线" panose="02010600030101010101" pitchFamily="2" charset="-122"/>
                <a:cs typeface="Times New Roman" panose="02020603050405020304" pitchFamily="18" charset="0"/>
              </a:rPr>
              <a:t>k</a:t>
            </a:r>
            <a:r>
              <a:rPr kumimoji="0" lang="zh-CN" altLang="en-US" sz="1200" b="0" i="0" u="none" strike="noStrike" cap="none" normalizeH="0" baseline="0" dirty="0">
                <a:ln>
                  <a:noFill/>
                </a:ln>
                <a:solidFill>
                  <a:schemeClr val="tx1">
                    <a:lumMod val="50000"/>
                    <a:lumOff val="50000"/>
                  </a:schemeClr>
                </a:solidFill>
                <a:effectLst/>
                <a:latin typeface="等线" panose="02010600030101010101" pitchFamily="2" charset="-122"/>
                <a:ea typeface="等线" panose="02010600030101010101" pitchFamily="2" charset="-122"/>
                <a:cs typeface="Times New Roman" panose="02020603050405020304" pitchFamily="18" charset="0"/>
              </a:rPr>
              <a:t>领域的财政支出占比；以此构成一个</a:t>
            </a:r>
            <a:r>
              <a:rPr kumimoji="0" lang="en-US" altLang="zh-CN" sz="1200" b="0" i="0" u="none" strike="noStrike" cap="none" normalizeH="0" baseline="0" dirty="0">
                <a:ln>
                  <a:noFill/>
                </a:ln>
                <a:solidFill>
                  <a:schemeClr val="tx1">
                    <a:lumMod val="50000"/>
                    <a:lumOff val="50000"/>
                  </a:schemeClr>
                </a:solidFill>
                <a:effectLst/>
                <a:latin typeface="等线" panose="02010600030101010101" pitchFamily="2" charset="-122"/>
                <a:ea typeface="等线" panose="02010600030101010101" pitchFamily="2" charset="-122"/>
                <a:cs typeface="Times New Roman" panose="02020603050405020304" pitchFamily="18" charset="0"/>
              </a:rPr>
              <a:t>DDD</a:t>
            </a:r>
            <a:r>
              <a:rPr kumimoji="0" lang="zh-CN" altLang="en-US" sz="1200" b="0" i="0" u="none" strike="noStrike" cap="none" normalizeH="0" baseline="0" dirty="0">
                <a:ln>
                  <a:noFill/>
                </a:ln>
                <a:solidFill>
                  <a:schemeClr val="tx1">
                    <a:lumMod val="50000"/>
                    <a:lumOff val="50000"/>
                  </a:schemeClr>
                </a:solidFill>
                <a:effectLst/>
                <a:latin typeface="等线" panose="02010600030101010101" pitchFamily="2" charset="-122"/>
                <a:ea typeface="等线" panose="02010600030101010101" pitchFamily="2" charset="-122"/>
                <a:cs typeface="Times New Roman" panose="02020603050405020304" pitchFamily="18" charset="0"/>
              </a:rPr>
              <a:t>的模型。</a:t>
            </a:r>
            <a:endParaRPr kumimoji="0" lang="zh-CN" altLang="en-US" sz="4000" b="0" i="0" u="none" strike="noStrike" cap="none" normalizeH="0" baseline="0" dirty="0">
              <a:ln>
                <a:noFill/>
              </a:ln>
              <a:solidFill>
                <a:schemeClr val="tx1">
                  <a:lumMod val="50000"/>
                  <a:lumOff val="50000"/>
                </a:schemeClr>
              </a:solidFill>
              <a:effectLst/>
              <a:latin typeface="等线" panose="02010600030101010101" pitchFamily="2" charset="-122"/>
              <a:ea typeface="等线" panose="02010600030101010101" pitchFamily="2" charset="-122"/>
            </a:endParaRPr>
          </a:p>
        </p:txBody>
      </p:sp>
      <p:pic>
        <p:nvPicPr>
          <p:cNvPr id="1025" name="图片 1">
            <a:extLst>
              <a:ext uri="{FF2B5EF4-FFF2-40B4-BE49-F238E27FC236}">
                <a16:creationId xmlns:a16="http://schemas.microsoft.com/office/drawing/2014/main" id="{A60B41C5-A0C6-699A-3712-16BE657FE33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8144" y="5741929"/>
            <a:ext cx="5429070" cy="482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384848"/>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6C40D3CC-77A7-4EF7-B123-60B81ACA3DB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717529" y="140750"/>
            <a:ext cx="7019929" cy="7019929"/>
          </a:xfrm>
          <a:prstGeom prst="rect">
            <a:avLst/>
          </a:prstGeom>
        </p:spPr>
      </p:pic>
      <p:sp>
        <p:nvSpPr>
          <p:cNvPr id="2" name="文本占位符 3">
            <a:extLst>
              <a:ext uri="{FF2B5EF4-FFF2-40B4-BE49-F238E27FC236}">
                <a16:creationId xmlns:a16="http://schemas.microsoft.com/office/drawing/2014/main" id="{B003DBEA-DCA9-4367-9C7D-276E86308A89}"/>
              </a:ext>
            </a:extLst>
          </p:cNvPr>
          <p:cNvSpPr txBox="1">
            <a:spLocks/>
          </p:cNvSpPr>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02</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0596444F-0E55-45FB-ADDC-7CB49F17B057}"/>
              </a:ext>
            </a:extLst>
          </p:cNvPr>
          <p:cNvSpPr txBox="1">
            <a:spLocks/>
          </p:cNvSpPr>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数据</a:t>
            </a:r>
          </a:p>
        </p:txBody>
      </p:sp>
      <p:grpSp>
        <p:nvGrpSpPr>
          <p:cNvPr id="4" name="组合 3">
            <a:extLst>
              <a:ext uri="{FF2B5EF4-FFF2-40B4-BE49-F238E27FC236}">
                <a16:creationId xmlns:a16="http://schemas.microsoft.com/office/drawing/2014/main" id="{2803D4B4-1DA9-48D5-9DA1-22E2C28CE9E8}"/>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06200922-3CF6-4931-BC88-44D4B19E806C}"/>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2D15F4C6-AC88-41C4-9097-B10E7060E768}"/>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a:extLst>
              <a:ext uri="{FF2B5EF4-FFF2-40B4-BE49-F238E27FC236}">
                <a16:creationId xmlns:a16="http://schemas.microsoft.com/office/drawing/2014/main" id="{1B02D87A-F649-476F-8BC8-FB6C4075F1AC}"/>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7FE902F3-E032-4929-AF5F-9660584777C6}"/>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平行四边形 8">
              <a:extLst>
                <a:ext uri="{FF2B5EF4-FFF2-40B4-BE49-F238E27FC236}">
                  <a16:creationId xmlns:a16="http://schemas.microsoft.com/office/drawing/2014/main" id="{81F4CA57-0574-43E4-8476-CA9509AA4163}"/>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6" name="直接连接符 15">
            <a:extLst>
              <a:ext uri="{FF2B5EF4-FFF2-40B4-BE49-F238E27FC236}">
                <a16:creationId xmlns:a16="http://schemas.microsoft.com/office/drawing/2014/main" id="{32FBF787-E511-4917-B553-A562828617B2}"/>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238EB420-7087-463D-907F-0BDF70FC2E4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5FC3661D-9232-451A-BFEE-4549D7DF0858}"/>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6426CA03-B54C-4E11-BBD3-920EB24A6C2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1C55E38C-6740-4923-ACEF-D98A0947DF6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0EA1DC3D-6BB9-4E11-A0FD-ECC673B23442}"/>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Tree>
    <p:extLst>
      <p:ext uri="{BB962C8B-B14F-4D97-AF65-F5344CB8AC3E}">
        <p14:creationId xmlns:p14="http://schemas.microsoft.com/office/powerpoint/2010/main" val="2049608393"/>
      </p:ext>
    </p:extLst>
  </p:cSld>
  <p:clrMapOvr>
    <a:masterClrMapping/>
  </p:clrMapOvr>
  <mc:AlternateContent xmlns:mc="http://schemas.openxmlformats.org/markup-compatibility/2006" xmlns:p14="http://schemas.microsoft.com/office/powerpoint/2010/main">
    <mc:Choice Requires="p14">
      <p:transition spd="slow" p14:dur="2000" advTm="786"/>
    </mc:Choice>
    <mc:Fallback xmlns="">
      <p:transition spd="slow" advTm="78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33146-D13F-A495-D197-91F3AA8F7CC9}"/>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E7B270A4-DB31-A9B2-8A27-18DAE3B64FF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26D4D1E7-43B8-E801-BA45-1D1E2CAB7471}"/>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B90B0B93-AC3E-3E77-8D48-CCF31CCBE0B9}"/>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274CCD9-CF68-0306-0A91-8C649483023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97CDA2B8-DABF-0CB2-DFCD-D2780D376102}"/>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C798A9AC-55CF-1978-FD89-2856F77AE44B}"/>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数据获取</a:t>
            </a:r>
            <a:endParaRPr lang="zh-CN" altLang="zh-CN" sz="2400" dirty="0"/>
          </a:p>
        </p:txBody>
      </p:sp>
      <p:grpSp>
        <p:nvGrpSpPr>
          <p:cNvPr id="43" name="组合 42">
            <a:extLst>
              <a:ext uri="{FF2B5EF4-FFF2-40B4-BE49-F238E27FC236}">
                <a16:creationId xmlns:a16="http://schemas.microsoft.com/office/drawing/2014/main" id="{944247A8-EC97-A11A-3124-B33C40C25F4B}"/>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90B0A4C2-3433-D35F-57E9-A46991CEECD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84CA33BD-30D8-0222-479B-AA6C65621EC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523783F8-7365-D7D3-F9E8-B53FB778E240}"/>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0D8C2B75-C310-229F-6413-C5B13FB7CE94}"/>
              </a:ext>
            </a:extLst>
          </p:cNvPr>
          <p:cNvSpPr/>
          <p:nvPr/>
        </p:nvSpPr>
        <p:spPr>
          <a:xfrm>
            <a:off x="4953550" y="2743266"/>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3" name="文本框 2">
            <a:extLst>
              <a:ext uri="{FF2B5EF4-FFF2-40B4-BE49-F238E27FC236}">
                <a16:creationId xmlns:a16="http://schemas.microsoft.com/office/drawing/2014/main" id="{7E9C9ED1-DAA1-A252-973F-8C8771AF5D15}"/>
              </a:ext>
            </a:extLst>
          </p:cNvPr>
          <p:cNvSpPr txBox="1"/>
          <p:nvPr/>
        </p:nvSpPr>
        <p:spPr>
          <a:xfrm>
            <a:off x="1391388" y="1511336"/>
            <a:ext cx="7262106" cy="1200329"/>
          </a:xfrm>
          <a:prstGeom prst="rect">
            <a:avLst/>
          </a:prstGeom>
          <a:noFill/>
        </p:spPr>
        <p:txBody>
          <a:bodyPr wrap="square">
            <a:spAutoFit/>
          </a:bodyPr>
          <a:lstStyle/>
          <a:p>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00-23</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年各省能源消耗总量</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人均能源消耗</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能源消耗</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÷GDP.xlsx</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19</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年前来源于中国能源统计年鉴；</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20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年后根据各省年鉴补充</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（这个和自己算的对比过，应该没错）</a:t>
            </a:r>
            <a:endParaRPr lang="zh-CN" altLang="en-US"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75B671E5-7B9F-A1FF-DE0C-2B51C7A9E631}"/>
              </a:ext>
            </a:extLst>
          </p:cNvPr>
          <p:cNvSpPr txBox="1"/>
          <p:nvPr/>
        </p:nvSpPr>
        <p:spPr>
          <a:xfrm>
            <a:off x="1391388" y="3115510"/>
            <a:ext cx="7262106" cy="923330"/>
          </a:xfrm>
          <a:prstGeom prst="rect">
            <a:avLst/>
          </a:prstGeom>
          <a:noFill/>
        </p:spPr>
        <p:txBody>
          <a:bodyPr wrap="square">
            <a:spAutoFit/>
          </a:bodyPr>
          <a:lstStyle/>
          <a:p>
            <a:r>
              <a:rPr lang="en-US" altLang="zh-CN" b="1">
                <a:latin typeface="微软雅黑" panose="020B0503020204020204" pitchFamily="34" charset="-122"/>
                <a:ea typeface="微软雅黑" panose="020B0503020204020204" pitchFamily="34" charset="-122"/>
                <a:cs typeface="Times New Roman" panose="02020603050405020304" pitchFamily="18" charset="0"/>
              </a:rPr>
              <a:t>2003-2022</a:t>
            </a:r>
            <a:r>
              <a:rPr lang="zh-CN" altLang="en-US" b="1">
                <a:latin typeface="微软雅黑" panose="020B0503020204020204" pitchFamily="34" charset="-122"/>
                <a:ea typeface="微软雅黑" panose="020B0503020204020204" pitchFamily="34" charset="-122"/>
                <a:cs typeface="Times New Roman" panose="02020603050405020304" pitchFamily="18" charset="0"/>
              </a:rPr>
              <a:t>年全国</a:t>
            </a:r>
            <a:r>
              <a:rPr lang="en-US" altLang="zh-CN" b="1">
                <a:latin typeface="微软雅黑" panose="020B0503020204020204" pitchFamily="34" charset="-122"/>
                <a:ea typeface="微软雅黑" panose="020B0503020204020204" pitchFamily="34" charset="-122"/>
                <a:cs typeface="Times New Roman" panose="02020603050405020304" pitchFamily="18" charset="0"/>
              </a:rPr>
              <a:t>30</a:t>
            </a:r>
            <a:r>
              <a:rPr lang="zh-CN" altLang="en-US" b="1">
                <a:latin typeface="微软雅黑" panose="020B0503020204020204" pitchFamily="34" charset="-122"/>
                <a:ea typeface="微软雅黑" panose="020B0503020204020204" pitchFamily="34" charset="-122"/>
                <a:cs typeface="Times New Roman" panose="02020603050405020304" pitchFamily="18" charset="0"/>
              </a:rPr>
              <a:t>省市分地区能源消费结构低碳化指数</a:t>
            </a:r>
            <a:r>
              <a:rPr lang="en-US" altLang="zh-CN" b="1">
                <a:latin typeface="微软雅黑" panose="020B0503020204020204" pitchFamily="34" charset="-122"/>
                <a:ea typeface="微软雅黑" panose="020B0503020204020204" pitchFamily="34" charset="-122"/>
                <a:cs typeface="Times New Roman" panose="02020603050405020304" pitchFamily="18" charset="0"/>
              </a:rPr>
              <a:t>.xlsx</a:t>
            </a:r>
            <a:r>
              <a:rPr lang="zh-CN" altLang="en-US" b="1">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b="1">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a:latin typeface="微软雅黑" panose="020B0503020204020204" pitchFamily="34" charset="-122"/>
                <a:ea typeface="微软雅黑" panose="020B0503020204020204" pitchFamily="34" charset="-122"/>
                <a:cs typeface="Times New Roman" panose="02020603050405020304" pitchFamily="18" charset="0"/>
              </a:rPr>
              <a:t>	</a:t>
            </a:r>
            <a:r>
              <a:rPr lang="zh-CN" altLang="en-US">
                <a:latin typeface="微软雅黑" panose="020B0503020204020204" pitchFamily="34" charset="-122"/>
                <a:ea typeface="微软雅黑" panose="020B0503020204020204" pitchFamily="34" charset="-122"/>
                <a:cs typeface="Times New Roman" panose="02020603050405020304" pitchFamily="18" charset="0"/>
              </a:rPr>
              <a:t>没说数据来源，卖家说“主要参考柳亚琴</a:t>
            </a:r>
            <a:r>
              <a:rPr lang="en-US" altLang="zh-CN">
                <a:latin typeface="微软雅黑" panose="020B0503020204020204" pitchFamily="34" charset="-122"/>
                <a:ea typeface="微软雅黑" panose="020B0503020204020204" pitchFamily="34" charset="-122"/>
                <a:cs typeface="Times New Roman" panose="02020603050405020304" pitchFamily="18" charset="0"/>
              </a:rPr>
              <a:t>,</a:t>
            </a:r>
            <a:r>
              <a:rPr lang="zh-CN" altLang="en-US">
                <a:latin typeface="微软雅黑" panose="020B0503020204020204" pitchFamily="34" charset="-122"/>
                <a:ea typeface="微软雅黑" panose="020B0503020204020204" pitchFamily="34" charset="-122"/>
                <a:cs typeface="Times New Roman" panose="02020603050405020304" pitchFamily="18" charset="0"/>
              </a:rPr>
              <a:t>孙薇</a:t>
            </a:r>
            <a:r>
              <a:rPr lang="en-US" altLang="zh-CN">
                <a:latin typeface="微软雅黑" panose="020B0503020204020204" pitchFamily="34" charset="-122"/>
                <a:ea typeface="微软雅黑" panose="020B0503020204020204" pitchFamily="34" charset="-122"/>
                <a:cs typeface="Times New Roman" panose="02020603050405020304" pitchFamily="18" charset="0"/>
              </a:rPr>
              <a:t>,</a:t>
            </a:r>
            <a:r>
              <a:rPr lang="zh-CN" altLang="en-US">
                <a:latin typeface="微软雅黑" panose="020B0503020204020204" pitchFamily="34" charset="-122"/>
                <a:ea typeface="微软雅黑" panose="020B0503020204020204" pitchFamily="34" charset="-122"/>
                <a:cs typeface="Times New Roman" panose="02020603050405020304" pitchFamily="18" charset="0"/>
              </a:rPr>
              <a:t>朱治双</a:t>
            </a:r>
            <a:r>
              <a:rPr lang="en-US" altLang="zh-CN">
                <a:latin typeface="微软雅黑" panose="020B0503020204020204" pitchFamily="34" charset="-122"/>
                <a:ea typeface="微软雅黑" panose="020B0503020204020204" pitchFamily="34" charset="-122"/>
                <a:cs typeface="Times New Roman" panose="02020603050405020304" pitchFamily="18" charset="0"/>
              </a:rPr>
              <a:t>.</a:t>
            </a:r>
            <a:r>
              <a:rPr lang="zh-CN" altLang="en-US">
                <a:latin typeface="微软雅黑" panose="020B0503020204020204" pitchFamily="34" charset="-122"/>
                <a:ea typeface="微软雅黑" panose="020B0503020204020204" pitchFamily="34" charset="-122"/>
                <a:cs typeface="Times New Roman" panose="02020603050405020304" pitchFamily="18" charset="0"/>
              </a:rPr>
              <a:t>碳市场对能源结构低碳转型的影响及作用路径”</a:t>
            </a:r>
            <a:endParaRPr lang="zh-CN" altLang="en-US"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4DAA13C7-8C05-8B1A-41A7-9E01255BF9CC}"/>
              </a:ext>
            </a:extLst>
          </p:cNvPr>
          <p:cNvSpPr txBox="1"/>
          <p:nvPr/>
        </p:nvSpPr>
        <p:spPr>
          <a:xfrm>
            <a:off x="1391388" y="4766396"/>
            <a:ext cx="7262106" cy="646331"/>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中国地级市</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CO2</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排放数据（</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2000-2023</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.xlsx</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EDGAR</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数据库</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48965716"/>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A9CB9-80A2-84B4-CB21-A0B23AEDF7A0}"/>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E43BA421-DB07-E891-CEBE-500E1EADC13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652F62F1-486E-46E7-602C-A736CAF604DA}"/>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E8BAA7A2-EC07-608E-C7B3-FC710B364FE4}"/>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805F7A6E-CBE7-2DBA-AF24-2504D322A5E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8EC3E84D-48C5-F92F-5BF9-AA983A6461D9}"/>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A28F63D4-5015-0213-CA6C-7D6920099D1E}"/>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数据说明</a:t>
            </a:r>
            <a:endParaRPr lang="zh-CN" altLang="zh-CN" sz="2400" dirty="0"/>
          </a:p>
        </p:txBody>
      </p:sp>
      <p:grpSp>
        <p:nvGrpSpPr>
          <p:cNvPr id="43" name="组合 42">
            <a:extLst>
              <a:ext uri="{FF2B5EF4-FFF2-40B4-BE49-F238E27FC236}">
                <a16:creationId xmlns:a16="http://schemas.microsoft.com/office/drawing/2014/main" id="{F7B4AE3A-76DB-7FBB-74FC-520ECDA7A3BF}"/>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A80E4E8E-E890-6A3E-4B00-ACF4CDF78A1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2F56A93-CA7B-13B2-5931-D3DC1432596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2CF57014-F7C3-504E-79F8-A3ECF368E236}"/>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85D5B90E-5CC2-3E3A-0827-3BFFCB076DEA}"/>
              </a:ext>
            </a:extLst>
          </p:cNvPr>
          <p:cNvSpPr/>
          <p:nvPr/>
        </p:nvSpPr>
        <p:spPr>
          <a:xfrm>
            <a:off x="4953550" y="2743266"/>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3" name="文本框 2">
            <a:extLst>
              <a:ext uri="{FF2B5EF4-FFF2-40B4-BE49-F238E27FC236}">
                <a16:creationId xmlns:a16="http://schemas.microsoft.com/office/drawing/2014/main" id="{54F9E0EC-FAD7-8269-A193-B479EE809168}"/>
              </a:ext>
            </a:extLst>
          </p:cNvPr>
          <p:cNvSpPr txBox="1"/>
          <p:nvPr/>
        </p:nvSpPr>
        <p:spPr>
          <a:xfrm>
            <a:off x="534998" y="1502505"/>
            <a:ext cx="10673971" cy="4524315"/>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窗口</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事后的数据非常紧张，我们取的碳达峰总体文件是发布最早的一批（</a:t>
            </a:r>
            <a:r>
              <a:rPr lang="en-US" altLang="zh-CN" dirty="0">
                <a:latin typeface="微软雅黑" panose="020B0503020204020204" pitchFamily="34" charset="-122"/>
                <a:ea typeface="微软雅黑" panose="020B0503020204020204" pitchFamily="34" charset="-122"/>
              </a:rPr>
              <a:t>2021</a:t>
            </a:r>
            <a:r>
              <a:rPr lang="zh-CN" altLang="en-US" dirty="0">
                <a:latin typeface="微软雅黑" panose="020B0503020204020204" pitchFamily="34" charset="-122"/>
                <a:ea typeface="微软雅黑" panose="020B0503020204020204" pitchFamily="34" charset="-122"/>
              </a:rPr>
              <a:t>），尽管这样，我们也只有</a:t>
            </a:r>
            <a:r>
              <a:rPr lang="zh-CN" altLang="en-US" b="1" dirty="0">
                <a:latin typeface="微软雅黑" panose="020B0503020204020204" pitchFamily="34" charset="-122"/>
                <a:ea typeface="微软雅黑" panose="020B0503020204020204" pitchFamily="34" charset="-122"/>
              </a:rPr>
              <a:t>事后两期</a:t>
            </a:r>
            <a:r>
              <a:rPr lang="zh-CN" altLang="en-US" dirty="0">
                <a:latin typeface="微软雅黑" panose="020B0503020204020204" pitchFamily="34" charset="-122"/>
                <a:ea typeface="微软雅黑" panose="020B0503020204020204" pitchFamily="34" charset="-122"/>
              </a:rPr>
              <a:t>的数据，且</a:t>
            </a:r>
            <a:r>
              <a:rPr lang="en-US" altLang="zh-CN" dirty="0">
                <a:latin typeface="微软雅黑" panose="020B0503020204020204" pitchFamily="34" charset="-122"/>
                <a:ea typeface="微软雅黑" panose="020B0503020204020204" pitchFamily="34" charset="-122"/>
              </a:rPr>
              <a:t>2023</a:t>
            </a:r>
            <a:r>
              <a:rPr lang="zh-CN" altLang="en-US" dirty="0">
                <a:latin typeface="微软雅黑" panose="020B0503020204020204" pitchFamily="34" charset="-122"/>
                <a:ea typeface="微软雅黑" panose="020B0503020204020204" pitchFamily="34" charset="-122"/>
              </a:rPr>
              <a:t>年的数据缺的很多；</a:t>
            </a:r>
            <a:r>
              <a:rPr lang="zh-CN" altLang="en-US" b="1" dirty="0">
                <a:latin typeface="微软雅黑" panose="020B0503020204020204" pitchFamily="34" charset="-122"/>
                <a:ea typeface="微软雅黑" panose="020B0503020204020204" pitchFamily="34" charset="-122"/>
              </a:rPr>
              <a:t>事前取了</a:t>
            </a: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期</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2017-2020</a:t>
            </a:r>
            <a:r>
              <a:rPr lang="zh-CN" altLang="en-US" dirty="0">
                <a:latin typeface="微软雅黑" panose="020B0503020204020204" pitchFamily="34" charset="-122"/>
                <a:ea typeface="微软雅黑" panose="020B0503020204020204" pitchFamily="34" charset="-122"/>
              </a:rPr>
              <a:t>，没有什么依据，感觉取太多对于事件研究法来说不太平衡；后续如果要用多主题的话，可能事后数据会更紧张</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数据量</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目前共</a:t>
            </a:r>
            <a:r>
              <a:rPr lang="en-US" altLang="zh-CN" dirty="0">
                <a:latin typeface="微软雅黑" panose="020B0503020204020204" pitchFamily="34" charset="-122"/>
                <a:ea typeface="微软雅黑" panose="020B0503020204020204" pitchFamily="34" charset="-122"/>
              </a:rPr>
              <a:t>30</a:t>
            </a:r>
            <a:r>
              <a:rPr lang="zh-CN" altLang="en-US" dirty="0">
                <a:latin typeface="微软雅黑" panose="020B0503020204020204" pitchFamily="34" charset="-122"/>
                <a:ea typeface="微软雅黑" panose="020B0503020204020204" pitchFamily="34" charset="-122"/>
              </a:rPr>
              <a:t>个省级地区，</a:t>
            </a:r>
            <a:r>
              <a:rPr lang="en-US" altLang="zh-CN" dirty="0">
                <a:latin typeface="微软雅黑" panose="020B0503020204020204" pitchFamily="34" charset="-122"/>
                <a:ea typeface="微软雅黑" panose="020B0503020204020204" pitchFamily="34" charset="-122"/>
              </a:rPr>
              <a:t>191</a:t>
            </a:r>
            <a:r>
              <a:rPr lang="zh-CN" altLang="en-US" dirty="0">
                <a:latin typeface="微软雅黑" panose="020B0503020204020204" pitchFamily="34" charset="-122"/>
                <a:ea typeface="微软雅黑" panose="020B0503020204020204" pitchFamily="34" charset="-122"/>
              </a:rPr>
              <a:t>条数据（有些</a:t>
            </a:r>
            <a:r>
              <a:rPr lang="en-US" altLang="zh-CN" dirty="0">
                <a:latin typeface="微软雅黑" panose="020B0503020204020204" pitchFamily="34" charset="-122"/>
                <a:ea typeface="微软雅黑" panose="020B0503020204020204" pitchFamily="34" charset="-122"/>
              </a:rPr>
              <a:t>2023</a:t>
            </a:r>
            <a:r>
              <a:rPr lang="zh-CN" altLang="en-US" dirty="0">
                <a:latin typeface="微软雅黑" panose="020B0503020204020204" pitchFamily="34" charset="-122"/>
                <a:ea typeface="微软雅黑" panose="020B0503020204020204" pitchFamily="34" charset="-122"/>
              </a:rPr>
              <a:t>年缺了，理论上最多也就</a:t>
            </a:r>
            <a:r>
              <a:rPr lang="en-US" altLang="zh-CN" dirty="0">
                <a:latin typeface="微软雅黑" panose="020B0503020204020204" pitchFamily="34" charset="-122"/>
                <a:ea typeface="微软雅黑" panose="020B0503020204020204" pitchFamily="34" charset="-122"/>
              </a:rPr>
              <a:t>210</a:t>
            </a:r>
            <a:r>
              <a:rPr lang="zh-CN" altLang="en-US" dirty="0">
                <a:latin typeface="微软雅黑" panose="020B0503020204020204" pitchFamily="34" charset="-122"/>
                <a:ea typeface="微软雅黑" panose="020B0503020204020204" pitchFamily="34" charset="-122"/>
              </a:rPr>
              <a:t>条，如果事后数据能补充的话，可以扩到</a:t>
            </a:r>
            <a:r>
              <a:rPr lang="en-US" altLang="zh-CN" dirty="0">
                <a:latin typeface="微软雅黑" panose="020B0503020204020204" pitchFamily="34" charset="-122"/>
                <a:ea typeface="微软雅黑" panose="020B0503020204020204" pitchFamily="34" charset="-122"/>
              </a:rPr>
              <a:t>270</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300</a:t>
            </a:r>
            <a:r>
              <a:rPr lang="zh-CN" altLang="en-US" dirty="0">
                <a:latin typeface="微软雅黑" panose="020B0503020204020204" pitchFamily="34" charset="-122"/>
                <a:ea typeface="微软雅黑" panose="020B0503020204020204" pitchFamily="34" charset="-122"/>
              </a:rPr>
              <a:t>条左右），如果能独立用上每个主题的数据可以接近</a:t>
            </a:r>
            <a:r>
              <a:rPr lang="en-US" altLang="zh-CN" dirty="0">
                <a:latin typeface="微软雅黑" panose="020B0503020204020204" pitchFamily="34" charset="-122"/>
                <a:ea typeface="微软雅黑" panose="020B0503020204020204" pitchFamily="34" charset="-122"/>
              </a:rPr>
              <a:t>2500</a:t>
            </a:r>
            <a:r>
              <a:rPr lang="zh-CN" altLang="en-US" dirty="0">
                <a:latin typeface="微软雅黑" panose="020B0503020204020204" pitchFamily="34" charset="-122"/>
                <a:ea typeface="微软雅黑" panose="020B0503020204020204" pitchFamily="34" charset="-122"/>
              </a:rPr>
              <a:t>条（</a:t>
            </a:r>
            <a:r>
              <a:rPr lang="en-US" altLang="zh-CN" dirty="0">
                <a:latin typeface="微软雅黑" panose="020B0503020204020204" pitchFamily="34" charset="-122"/>
                <a:ea typeface="微软雅黑" panose="020B0503020204020204" pitchFamily="34" charset="-122"/>
              </a:rPr>
              <a:t>3900</a:t>
            </a:r>
            <a:r>
              <a:rPr lang="zh-CN" altLang="en-US" dirty="0">
                <a:latin typeface="微软雅黑" panose="020B0503020204020204" pitchFamily="34" charset="-122"/>
                <a:ea typeface="微软雅黑" panose="020B0503020204020204" pitchFamily="34" charset="-122"/>
              </a:rPr>
              <a:t>）；因为我们是以省份为个体，且主题就对应一篇文件，因此数据确实非常有限；</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目前结果来看，这个数据量下，某些模型有显著性；但部分模型方向大致对了，但显著性不足，不知道数据增多后能否有所改善</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9353302"/>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6C40D3CC-77A7-4EF7-B123-60B81ACA3DB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717529" y="140750"/>
            <a:ext cx="7019929" cy="7019929"/>
          </a:xfrm>
          <a:prstGeom prst="rect">
            <a:avLst/>
          </a:prstGeom>
        </p:spPr>
      </p:pic>
      <p:sp>
        <p:nvSpPr>
          <p:cNvPr id="2" name="文本占位符 3">
            <a:extLst>
              <a:ext uri="{FF2B5EF4-FFF2-40B4-BE49-F238E27FC236}">
                <a16:creationId xmlns:a16="http://schemas.microsoft.com/office/drawing/2014/main" id="{B003DBEA-DCA9-4367-9C7D-276E86308A89}"/>
              </a:ext>
            </a:extLst>
          </p:cNvPr>
          <p:cNvSpPr txBox="1">
            <a:spLocks/>
          </p:cNvSpPr>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03</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0596444F-0E55-45FB-ADDC-7CB49F17B057}"/>
              </a:ext>
            </a:extLst>
          </p:cNvPr>
          <p:cNvSpPr txBox="1">
            <a:spLocks/>
          </p:cNvSpPr>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6600" dirty="0"/>
              <a:t>结论</a:t>
            </a:r>
            <a:endPar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grpSp>
        <p:nvGrpSpPr>
          <p:cNvPr id="4" name="组合 3">
            <a:extLst>
              <a:ext uri="{FF2B5EF4-FFF2-40B4-BE49-F238E27FC236}">
                <a16:creationId xmlns:a16="http://schemas.microsoft.com/office/drawing/2014/main" id="{2803D4B4-1DA9-48D5-9DA1-22E2C28CE9E8}"/>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06200922-3CF6-4931-BC88-44D4B19E806C}"/>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2D15F4C6-AC88-41C4-9097-B10E7060E768}"/>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a:extLst>
              <a:ext uri="{FF2B5EF4-FFF2-40B4-BE49-F238E27FC236}">
                <a16:creationId xmlns:a16="http://schemas.microsoft.com/office/drawing/2014/main" id="{1B02D87A-F649-476F-8BC8-FB6C4075F1AC}"/>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7FE902F3-E032-4929-AF5F-9660584777C6}"/>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平行四边形 8">
              <a:extLst>
                <a:ext uri="{FF2B5EF4-FFF2-40B4-BE49-F238E27FC236}">
                  <a16:creationId xmlns:a16="http://schemas.microsoft.com/office/drawing/2014/main" id="{81F4CA57-0574-43E4-8476-CA9509AA4163}"/>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6" name="直接连接符 15">
            <a:extLst>
              <a:ext uri="{FF2B5EF4-FFF2-40B4-BE49-F238E27FC236}">
                <a16:creationId xmlns:a16="http://schemas.microsoft.com/office/drawing/2014/main" id="{32FBF787-E511-4917-B553-A562828617B2}"/>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238EB420-7087-463D-907F-0BDF70FC2E4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5FC3661D-9232-451A-BFEE-4549D7DF0858}"/>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6426CA03-B54C-4E11-BBD3-920EB24A6C2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1C55E38C-6740-4923-ACEF-D98A0947DF6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0EA1DC3D-6BB9-4E11-A0FD-ECC673B23442}"/>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Tree>
    <p:extLst>
      <p:ext uri="{BB962C8B-B14F-4D97-AF65-F5344CB8AC3E}">
        <p14:creationId xmlns:p14="http://schemas.microsoft.com/office/powerpoint/2010/main" val="349433937"/>
      </p:ext>
    </p:extLst>
  </p:cSld>
  <p:clrMapOvr>
    <a:masterClrMapping/>
  </p:clrMapOvr>
  <mc:AlternateContent xmlns:mc="http://schemas.openxmlformats.org/markup-compatibility/2006" xmlns:p14="http://schemas.microsoft.com/office/powerpoint/2010/main">
    <mc:Choice Requires="p14">
      <p:transition spd="slow" p14:dur="2000" advTm="737"/>
    </mc:Choice>
    <mc:Fallback xmlns="">
      <p:transition spd="slow" advTm="73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C8535-6BEB-82A7-17A2-DFEEBAE96199}"/>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0F77B176-4014-A8D4-0B50-098FF08A292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A41F9763-310F-8017-AC2C-308BBE9F34F3}"/>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08CFF4F8-B842-5CA7-0A64-22BCE412B796}"/>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D506FCA0-00EC-216F-A974-A7A0CA687DB5}"/>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D53F8693-E85B-3A6B-4E31-3FD72D82C6FD}"/>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A4236573-3EEB-4DBD-0E74-E5A6E56A5B4A}"/>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结论</a:t>
            </a:r>
            <a:endParaRPr lang="zh-CN" altLang="zh-CN" sz="2400" dirty="0"/>
          </a:p>
        </p:txBody>
      </p:sp>
      <p:grpSp>
        <p:nvGrpSpPr>
          <p:cNvPr id="43" name="组合 42">
            <a:extLst>
              <a:ext uri="{FF2B5EF4-FFF2-40B4-BE49-F238E27FC236}">
                <a16:creationId xmlns:a16="http://schemas.microsoft.com/office/drawing/2014/main" id="{EAD8E8A4-75B7-FF9F-1A98-5D3879E0BDFB}"/>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9ECB91FF-2BD5-42CD-AEEF-2BCDA0E71B3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BDA24D2B-4FFE-E821-93CD-FF24EC1A340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12CD6CF9-5250-8911-4C98-EE84384D7F94}"/>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23B7542E-881B-5DBC-B216-8BDE4BF30B3D}"/>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1E3FBBAA-C5EE-C10D-7AFE-D42C617A0B28}"/>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 name="对象 18">
            <a:extLst>
              <a:ext uri="{FF2B5EF4-FFF2-40B4-BE49-F238E27FC236}">
                <a16:creationId xmlns:a16="http://schemas.microsoft.com/office/drawing/2014/main" id="{CADD8061-24B2-2269-08BE-D7FCCBF69C42}"/>
              </a:ext>
            </a:extLst>
          </p:cNvPr>
          <p:cNvGraphicFramePr>
            <a:graphicFrameLocks noChangeAspect="1"/>
          </p:cNvGraphicFramePr>
          <p:nvPr>
            <p:extLst>
              <p:ext uri="{D42A27DB-BD31-4B8C-83A1-F6EECF244321}">
                <p14:modId xmlns:p14="http://schemas.microsoft.com/office/powerpoint/2010/main" val="2094633220"/>
              </p:ext>
            </p:extLst>
          </p:nvPr>
        </p:nvGraphicFramePr>
        <p:xfrm>
          <a:off x="805891" y="1890253"/>
          <a:ext cx="3262317" cy="328513"/>
        </p:xfrm>
        <a:graphic>
          <a:graphicData uri="http://schemas.openxmlformats.org/presentationml/2006/ole">
            <mc:AlternateContent xmlns:mc="http://schemas.openxmlformats.org/markup-compatibility/2006">
              <mc:Choice xmlns:v="urn:schemas-microsoft-com:vml" Requires="v">
                <p:oleObj name="Equation" r:id="rId6" imgW="2273300" imgH="228600" progId="Equation.DSMT4">
                  <p:embed/>
                </p:oleObj>
              </mc:Choice>
              <mc:Fallback>
                <p:oleObj name="Equation" r:id="rId6" imgW="2273300" imgH="228600" progId="Equation.DSMT4">
                  <p:embed/>
                  <p:pic>
                    <p:nvPicPr>
                      <p:cNvPr id="15" name="对象 14">
                        <a:extLst>
                          <a:ext uri="{FF2B5EF4-FFF2-40B4-BE49-F238E27FC236}">
                            <a16:creationId xmlns:a16="http://schemas.microsoft.com/office/drawing/2014/main" id="{2C4A835A-9CB1-9FCA-F0B3-38E588EF8B8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5891" y="1890253"/>
                        <a:ext cx="3262317" cy="328513"/>
                      </a:xfrm>
                      <a:prstGeom prst="rect">
                        <a:avLst/>
                      </a:prstGeom>
                      <a:noFill/>
                    </p:spPr>
                  </p:pic>
                </p:oleObj>
              </mc:Fallback>
            </mc:AlternateContent>
          </a:graphicData>
        </a:graphic>
      </p:graphicFrame>
      <p:graphicFrame>
        <p:nvGraphicFramePr>
          <p:cNvPr id="20" name="对象 19">
            <a:extLst>
              <a:ext uri="{FF2B5EF4-FFF2-40B4-BE49-F238E27FC236}">
                <a16:creationId xmlns:a16="http://schemas.microsoft.com/office/drawing/2014/main" id="{4F893539-90D4-8F7E-F01F-234F14EA34BC}"/>
              </a:ext>
            </a:extLst>
          </p:cNvPr>
          <p:cNvGraphicFramePr>
            <a:graphicFrameLocks noChangeAspect="1"/>
          </p:cNvGraphicFramePr>
          <p:nvPr>
            <p:extLst>
              <p:ext uri="{D42A27DB-BD31-4B8C-83A1-F6EECF244321}">
                <p14:modId xmlns:p14="http://schemas.microsoft.com/office/powerpoint/2010/main" val="202954871"/>
              </p:ext>
            </p:extLst>
          </p:nvPr>
        </p:nvGraphicFramePr>
        <p:xfrm>
          <a:off x="5107347" y="1766548"/>
          <a:ext cx="2957890" cy="508216"/>
        </p:xfrm>
        <a:graphic>
          <a:graphicData uri="http://schemas.openxmlformats.org/presentationml/2006/ole">
            <mc:AlternateContent xmlns:mc="http://schemas.openxmlformats.org/markup-compatibility/2006">
              <mc:Choice xmlns:v="urn:schemas-microsoft-com:vml" Requires="v">
                <p:oleObj name="Equation" r:id="rId8" imgW="2565400" imgH="431800" progId="Equation.DSMT4">
                  <p:embed/>
                </p:oleObj>
              </mc:Choice>
              <mc:Fallback>
                <p:oleObj name="Equation" r:id="rId8" imgW="2565400" imgH="431800" progId="Equation.DSMT4">
                  <p:embed/>
                  <p:pic>
                    <p:nvPicPr>
                      <p:cNvPr id="16" name="对象 15">
                        <a:extLst>
                          <a:ext uri="{FF2B5EF4-FFF2-40B4-BE49-F238E27FC236}">
                            <a16:creationId xmlns:a16="http://schemas.microsoft.com/office/drawing/2014/main" id="{ADA99BD4-9075-F5A0-81AA-229E9903055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07347" y="1766548"/>
                        <a:ext cx="2957890" cy="508216"/>
                      </a:xfrm>
                      <a:prstGeom prst="rect">
                        <a:avLst/>
                      </a:prstGeom>
                      <a:noFill/>
                    </p:spPr>
                  </p:pic>
                </p:oleObj>
              </mc:Fallback>
            </mc:AlternateContent>
          </a:graphicData>
        </a:graphic>
      </p:graphicFrame>
      <p:sp>
        <p:nvSpPr>
          <p:cNvPr id="21" name="Rectangle 11">
            <a:extLst>
              <a:ext uri="{FF2B5EF4-FFF2-40B4-BE49-F238E27FC236}">
                <a16:creationId xmlns:a16="http://schemas.microsoft.com/office/drawing/2014/main" id="{F37D2CA7-D559-6DE8-0DC9-2C82E724F5E1}"/>
              </a:ext>
            </a:extLst>
          </p:cNvPr>
          <p:cNvSpPr>
            <a:spLocks noChangeArrowheads="1"/>
          </p:cNvSpPr>
          <p:nvPr/>
        </p:nvSpPr>
        <p:spPr bwMode="auto">
          <a:xfrm>
            <a:off x="338405" y="1361794"/>
            <a:ext cx="11488799"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en-US"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1</a:t>
            </a:r>
            <a:r>
              <a:rPr kumimoji="0" lang="zh-CN" altLang="en-US"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en-US" sz="1400" b="1"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中央</a:t>
            </a:r>
            <a:r>
              <a:rPr kumimoji="0" lang="zh-CN" altLang="en-US"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碳达峰文件</a:t>
            </a:r>
            <a:r>
              <a:rPr kumimoji="0" lang="zh-CN" altLang="en-US" sz="1400" b="1"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发布</a:t>
            </a:r>
            <a:r>
              <a:rPr kumimoji="0" lang="zh-CN" altLang="en-US"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对被解释变量造成的影响，时间虚拟变量</a:t>
            </a:r>
            <a:r>
              <a:rPr kumimoji="0" lang="en-US"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post1</a:t>
            </a:r>
            <a:r>
              <a:rPr kumimoji="0" lang="zh-CN" altLang="en-US"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为</a:t>
            </a:r>
            <a:r>
              <a:rPr kumimoji="0" lang="zh-CN" altLang="en-US" sz="1400" b="1" i="0" u="none" strike="noStrike" cap="none" normalizeH="0" baseline="0" dirty="0">
                <a:ln>
                  <a:noFill/>
                </a:ln>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中央文件</a:t>
            </a:r>
            <a:r>
              <a:rPr kumimoji="0" lang="zh-CN" altLang="en-US"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发布前后，政策分组变量</a:t>
            </a:r>
            <a:r>
              <a:rPr kumimoji="0" lang="en-US"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treated</a:t>
            </a:r>
            <a:r>
              <a:rPr kumimoji="0" lang="zh-CN" altLang="en-US"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为该地方是否有跟进中央政策（</a:t>
            </a:r>
            <a:r>
              <a:rPr kumimoji="0" lang="en-US"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0-1</a:t>
            </a:r>
            <a:r>
              <a:rPr kumimoji="0" lang="zh-CN" altLang="en-US"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）：中央文件发布后，各地方有无跟进的冲击影响</a:t>
            </a:r>
            <a:endParaRPr kumimoji="0" lang="zh-CN" altLang="en-US" sz="800" b="0" i="0" u="none" strike="noStrike" cap="none" normalizeH="0" baseline="0" dirty="0">
              <a:ln>
                <a:noFill/>
              </a:ln>
              <a:solidFill>
                <a:schemeClr val="tx1"/>
              </a:solidFill>
              <a:effectLst/>
              <a:latin typeface="等线" panose="02010600030101010101" pitchFamily="2" charset="-122"/>
              <a:ea typeface="等线"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23" name="文本框 22">
            <a:extLst>
              <a:ext uri="{FF2B5EF4-FFF2-40B4-BE49-F238E27FC236}">
                <a16:creationId xmlns:a16="http://schemas.microsoft.com/office/drawing/2014/main" id="{F9E86B03-F6B6-C5A3-E304-A59606CF3614}"/>
              </a:ext>
            </a:extLst>
          </p:cNvPr>
          <p:cNvSpPr txBox="1"/>
          <p:nvPr/>
        </p:nvSpPr>
        <p:spPr>
          <a:xfrm>
            <a:off x="602088" y="2514670"/>
            <a:ext cx="10461545" cy="393569"/>
          </a:xfrm>
          <a:prstGeom prst="rect">
            <a:avLst/>
          </a:prstGeom>
          <a:noFill/>
        </p:spPr>
        <p:txBody>
          <a:bodyPr wrap="square">
            <a:spAutoFit/>
          </a:bodyPr>
          <a:lstStyle/>
          <a:p>
            <a:pPr>
              <a:lnSpc>
                <a:spcPct val="120000"/>
              </a:lnSpc>
              <a:spcBef>
                <a:spcPts val="600"/>
              </a:spcBef>
              <a:spcAft>
                <a:spcPts val="600"/>
              </a:spcAft>
              <a:buNone/>
            </a:pPr>
            <a:r>
              <a:rPr lang="zh-CN" altLang="zh-CN"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结论：能耗强度、碳排放强度方面存在较为显著的冲击，非化石能源占比无</a:t>
            </a:r>
            <a:r>
              <a:rPr lang="zh-CN" altLang="en-US"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显著</a:t>
            </a:r>
            <a:r>
              <a:rPr lang="zh-CN" altLang="zh-CN"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冲击</a:t>
            </a:r>
            <a:r>
              <a:rPr lang="zh-CN" altLang="en-US"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（方向没问题）</a:t>
            </a:r>
            <a:endParaRPr lang="zh-CN" altLang="zh-CN" sz="1800" kern="1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5" name="图片 24">
            <a:extLst>
              <a:ext uri="{FF2B5EF4-FFF2-40B4-BE49-F238E27FC236}">
                <a16:creationId xmlns:a16="http://schemas.microsoft.com/office/drawing/2014/main" id="{7BC0E71C-67CF-3926-FE5B-8EA4BDD76E73}"/>
              </a:ext>
            </a:extLst>
          </p:cNvPr>
          <p:cNvPicPr>
            <a:picLocks noChangeAspect="1"/>
          </p:cNvPicPr>
          <p:nvPr/>
        </p:nvPicPr>
        <p:blipFill>
          <a:blip r:embed="rId10"/>
          <a:stretch>
            <a:fillRect/>
          </a:stretch>
        </p:blipFill>
        <p:spPr>
          <a:xfrm>
            <a:off x="6289981" y="3429000"/>
            <a:ext cx="5274310" cy="2571115"/>
          </a:xfrm>
          <a:prstGeom prst="rect">
            <a:avLst/>
          </a:prstGeom>
        </p:spPr>
      </p:pic>
      <p:pic>
        <p:nvPicPr>
          <p:cNvPr id="26" name="图片 25">
            <a:extLst>
              <a:ext uri="{FF2B5EF4-FFF2-40B4-BE49-F238E27FC236}">
                <a16:creationId xmlns:a16="http://schemas.microsoft.com/office/drawing/2014/main" id="{E2018B47-2D3C-0632-B6F3-49CFF8F78C94}"/>
              </a:ext>
            </a:extLst>
          </p:cNvPr>
          <p:cNvPicPr>
            <a:picLocks noChangeAspect="1"/>
          </p:cNvPicPr>
          <p:nvPr/>
        </p:nvPicPr>
        <p:blipFill>
          <a:blip r:embed="rId11"/>
          <a:stretch>
            <a:fillRect/>
          </a:stretch>
        </p:blipFill>
        <p:spPr>
          <a:xfrm>
            <a:off x="692845" y="3429000"/>
            <a:ext cx="5274310" cy="2117725"/>
          </a:xfrm>
          <a:prstGeom prst="rect">
            <a:avLst/>
          </a:prstGeom>
        </p:spPr>
      </p:pic>
    </p:spTree>
    <p:extLst>
      <p:ext uri="{BB962C8B-B14F-4D97-AF65-F5344CB8AC3E}">
        <p14:creationId xmlns:p14="http://schemas.microsoft.com/office/powerpoint/2010/main" val="2246236081"/>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E95B9-B4AD-F971-224D-1F27551C9A3A}"/>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BE1F40B3-BD66-1895-298A-82A5B977014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595B7D58-5826-378F-5F06-BBEFCEAB47DB}"/>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F7354C62-C46C-CCCE-711A-D4C2CBB63B81}"/>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950339-A1CD-49D5-D4FD-DC689E2F73D5}"/>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7DEBA523-4142-DA32-CBC4-50FE92232870}"/>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297DF413-A72A-F134-DF8B-2B95D75A0C27}"/>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结论</a:t>
            </a:r>
            <a:endParaRPr lang="zh-CN" altLang="zh-CN" sz="2400" dirty="0"/>
          </a:p>
        </p:txBody>
      </p:sp>
      <p:grpSp>
        <p:nvGrpSpPr>
          <p:cNvPr id="43" name="组合 42">
            <a:extLst>
              <a:ext uri="{FF2B5EF4-FFF2-40B4-BE49-F238E27FC236}">
                <a16:creationId xmlns:a16="http://schemas.microsoft.com/office/drawing/2014/main" id="{702523B5-86E7-3044-A7F8-2BFD3B883DF5}"/>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7E73F1E8-DA10-61BB-2F4B-18DED76E351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364F440-F314-D359-BBD0-2376A46FC1F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80FB1988-12D6-C2F1-1482-8C05CEA31F53}"/>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ED90A796-6B10-0075-E541-DFB175E82C94}"/>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1662D034-A60D-8955-1496-1C8131AB77F8}"/>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矩形 1">
            <a:extLst>
              <a:ext uri="{FF2B5EF4-FFF2-40B4-BE49-F238E27FC236}">
                <a16:creationId xmlns:a16="http://schemas.microsoft.com/office/drawing/2014/main" id="{92093DE7-8BBD-83BD-C19A-5ADFB3A7C927}"/>
              </a:ext>
            </a:extLst>
          </p:cNvPr>
          <p:cNvSpPr/>
          <p:nvPr/>
        </p:nvSpPr>
        <p:spPr>
          <a:xfrm>
            <a:off x="4016854" y="148845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3" name="文本框 2">
            <a:extLst>
              <a:ext uri="{FF2B5EF4-FFF2-40B4-BE49-F238E27FC236}">
                <a16:creationId xmlns:a16="http://schemas.microsoft.com/office/drawing/2014/main" id="{FC1A53C1-B113-8DF9-3D63-87D185889A82}"/>
              </a:ext>
            </a:extLst>
          </p:cNvPr>
          <p:cNvSpPr txBox="1"/>
          <p:nvPr/>
        </p:nvSpPr>
        <p:spPr>
          <a:xfrm>
            <a:off x="286541" y="1017993"/>
            <a:ext cx="11632582" cy="1102225"/>
          </a:xfrm>
          <a:prstGeom prst="rect">
            <a:avLst/>
          </a:prstGeom>
          <a:noFill/>
        </p:spPr>
        <p:txBody>
          <a:bodyPr wrap="square">
            <a:spAutoFit/>
          </a:bodyPr>
          <a:lstStyle/>
          <a:p>
            <a:pPr>
              <a:lnSpc>
                <a:spcPct val="120000"/>
              </a:lnSpc>
              <a:spcBef>
                <a:spcPts val="600"/>
              </a:spcBef>
              <a:spcAft>
                <a:spcPts val="600"/>
              </a:spcAft>
              <a:buNone/>
            </a:pP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2</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lang="zh-CN" altLang="zh-CN" sz="1400" b="1" kern="100" dirty="0">
                <a:solidFill>
                  <a:srgbClr val="000000"/>
                </a:solidFill>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地方</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碳达峰文件</a:t>
            </a:r>
            <a:r>
              <a:rPr lang="zh-CN" altLang="zh-CN" sz="14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发布</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对被解释变量造成的影响，时间虚拟变量</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post2</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为</a:t>
            </a:r>
            <a:r>
              <a:rPr lang="zh-CN" altLang="zh-CN" sz="14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该地方文件</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发布前后，政策分组变量</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treated</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为该地方是否有跟进中央政策（</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0-1</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）：地方文件发布的冲击影响（单个碳达峰领域，中央文件在</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2021</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年</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10</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月发布，地方文件最早在</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2022</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年</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6</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月才跟进，基本集中在</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2022/6-2023/2</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这段时间中，基本不存在年份交错问题）（</a:t>
            </a:r>
            <a:r>
              <a:rPr lang="zh-CN" altLang="zh-CN" sz="1400" kern="100" dirty="0">
                <a:solidFill>
                  <a:srgbClr val="000000"/>
                </a:solidFill>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不太有说服力，因为被解释变量在</a:t>
            </a:r>
            <a:r>
              <a:rPr lang="en-US" altLang="zh-CN" sz="1400" kern="100" dirty="0">
                <a:solidFill>
                  <a:srgbClr val="000000"/>
                </a:solidFill>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2023</a:t>
            </a:r>
            <a:r>
              <a:rPr lang="zh-CN" altLang="zh-CN" sz="1400" kern="100" dirty="0">
                <a:solidFill>
                  <a:srgbClr val="000000"/>
                </a:solidFill>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年的数据目前是不全的，还未完全公布，因此显著性肯定差</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p>
        </p:txBody>
      </p:sp>
      <p:graphicFrame>
        <p:nvGraphicFramePr>
          <p:cNvPr id="8" name="对象 7">
            <a:extLst>
              <a:ext uri="{FF2B5EF4-FFF2-40B4-BE49-F238E27FC236}">
                <a16:creationId xmlns:a16="http://schemas.microsoft.com/office/drawing/2014/main" id="{506D1BC8-B059-EFEB-8E2D-965B2929B579}"/>
              </a:ext>
            </a:extLst>
          </p:cNvPr>
          <p:cNvGraphicFramePr>
            <a:graphicFrameLocks noChangeAspect="1"/>
          </p:cNvGraphicFramePr>
          <p:nvPr>
            <p:extLst>
              <p:ext uri="{D42A27DB-BD31-4B8C-83A1-F6EECF244321}">
                <p14:modId xmlns:p14="http://schemas.microsoft.com/office/powerpoint/2010/main" val="1677973643"/>
              </p:ext>
            </p:extLst>
          </p:nvPr>
        </p:nvGraphicFramePr>
        <p:xfrm>
          <a:off x="843969" y="2200101"/>
          <a:ext cx="3492041" cy="343479"/>
        </p:xfrm>
        <a:graphic>
          <a:graphicData uri="http://schemas.openxmlformats.org/presentationml/2006/ole">
            <mc:AlternateContent xmlns:mc="http://schemas.openxmlformats.org/markup-compatibility/2006">
              <mc:Choice xmlns:v="urn:schemas-microsoft-com:vml" Requires="v">
                <p:oleObj name="Equation" r:id="rId6" imgW="2324100" imgH="228600" progId="Equation.DSMT4">
                  <p:embed/>
                </p:oleObj>
              </mc:Choice>
              <mc:Fallback>
                <p:oleObj name="Equation" r:id="rId6" imgW="2324100" imgH="228600" progId="Equation.DSMT4">
                  <p:embed/>
                  <p:pic>
                    <p:nvPicPr>
                      <p:cNvPr id="21" name="对象 20">
                        <a:extLst>
                          <a:ext uri="{FF2B5EF4-FFF2-40B4-BE49-F238E27FC236}">
                            <a16:creationId xmlns:a16="http://schemas.microsoft.com/office/drawing/2014/main" id="{5FBEA080-CE0C-C983-40A4-5CDEC79A551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3969" y="2200101"/>
                        <a:ext cx="3492041" cy="343479"/>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A23B23E9-64A1-FA5E-B64D-A25910525A7D}"/>
              </a:ext>
            </a:extLst>
          </p:cNvPr>
          <p:cNvGraphicFramePr>
            <a:graphicFrameLocks noChangeAspect="1"/>
          </p:cNvGraphicFramePr>
          <p:nvPr>
            <p:extLst>
              <p:ext uri="{D42A27DB-BD31-4B8C-83A1-F6EECF244321}">
                <p14:modId xmlns:p14="http://schemas.microsoft.com/office/powerpoint/2010/main" val="550465284"/>
              </p:ext>
            </p:extLst>
          </p:nvPr>
        </p:nvGraphicFramePr>
        <p:xfrm>
          <a:off x="5126949" y="2064513"/>
          <a:ext cx="3492041" cy="591222"/>
        </p:xfrm>
        <a:graphic>
          <a:graphicData uri="http://schemas.openxmlformats.org/presentationml/2006/ole">
            <mc:AlternateContent xmlns:mc="http://schemas.openxmlformats.org/markup-compatibility/2006">
              <mc:Choice xmlns:v="urn:schemas-microsoft-com:vml" Requires="v">
                <p:oleObj name="Equation" r:id="rId8" imgW="2616200" imgH="431800" progId="Equation.DSMT4">
                  <p:embed/>
                </p:oleObj>
              </mc:Choice>
              <mc:Fallback>
                <p:oleObj name="Equation" r:id="rId8" imgW="2616200" imgH="431800" progId="Equation.DSMT4">
                  <p:embed/>
                  <p:pic>
                    <p:nvPicPr>
                      <p:cNvPr id="22" name="对象 21">
                        <a:extLst>
                          <a:ext uri="{FF2B5EF4-FFF2-40B4-BE49-F238E27FC236}">
                            <a16:creationId xmlns:a16="http://schemas.microsoft.com/office/drawing/2014/main" id="{DCEEF12B-9DF3-1D92-3E98-B02E50F5017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26949" y="2064513"/>
                        <a:ext cx="3492041" cy="591222"/>
                      </a:xfrm>
                      <a:prstGeom prst="rect">
                        <a:avLst/>
                      </a:prstGeom>
                      <a:noFill/>
                    </p:spPr>
                  </p:pic>
                </p:oleObj>
              </mc:Fallback>
            </mc:AlternateContent>
          </a:graphicData>
        </a:graphic>
      </p:graphicFrame>
      <p:pic>
        <p:nvPicPr>
          <p:cNvPr id="11" name="图片 10">
            <a:extLst>
              <a:ext uri="{FF2B5EF4-FFF2-40B4-BE49-F238E27FC236}">
                <a16:creationId xmlns:a16="http://schemas.microsoft.com/office/drawing/2014/main" id="{244FB7A7-EC7F-D6A7-D36D-A2F3FA9ED071}"/>
              </a:ext>
            </a:extLst>
          </p:cNvPr>
          <p:cNvPicPr>
            <a:picLocks noChangeAspect="1"/>
          </p:cNvPicPr>
          <p:nvPr/>
        </p:nvPicPr>
        <p:blipFill>
          <a:blip r:embed="rId10"/>
          <a:stretch>
            <a:fillRect/>
          </a:stretch>
        </p:blipFill>
        <p:spPr>
          <a:xfrm>
            <a:off x="357380" y="3899486"/>
            <a:ext cx="5274310" cy="2148840"/>
          </a:xfrm>
          <a:prstGeom prst="rect">
            <a:avLst/>
          </a:prstGeom>
        </p:spPr>
      </p:pic>
      <p:pic>
        <p:nvPicPr>
          <p:cNvPr id="12" name="图片 11">
            <a:extLst>
              <a:ext uri="{FF2B5EF4-FFF2-40B4-BE49-F238E27FC236}">
                <a16:creationId xmlns:a16="http://schemas.microsoft.com/office/drawing/2014/main" id="{E110A0B8-FEC0-FC79-85B7-27FB47CDB3C9}"/>
              </a:ext>
            </a:extLst>
          </p:cNvPr>
          <p:cNvPicPr>
            <a:picLocks noChangeAspect="1"/>
          </p:cNvPicPr>
          <p:nvPr/>
        </p:nvPicPr>
        <p:blipFill>
          <a:blip r:embed="rId11"/>
          <a:stretch>
            <a:fillRect/>
          </a:stretch>
        </p:blipFill>
        <p:spPr>
          <a:xfrm>
            <a:off x="5899264" y="3429000"/>
            <a:ext cx="5274310" cy="3185795"/>
          </a:xfrm>
          <a:prstGeom prst="rect">
            <a:avLst/>
          </a:prstGeom>
        </p:spPr>
      </p:pic>
      <p:sp>
        <p:nvSpPr>
          <p:cNvPr id="14" name="文本框 13">
            <a:extLst>
              <a:ext uri="{FF2B5EF4-FFF2-40B4-BE49-F238E27FC236}">
                <a16:creationId xmlns:a16="http://schemas.microsoft.com/office/drawing/2014/main" id="{2B0C5ACD-A32C-305F-5E3F-0B7A63A5746D}"/>
              </a:ext>
            </a:extLst>
          </p:cNvPr>
          <p:cNvSpPr txBox="1"/>
          <p:nvPr/>
        </p:nvSpPr>
        <p:spPr>
          <a:xfrm>
            <a:off x="398265" y="2703032"/>
            <a:ext cx="11001997" cy="725968"/>
          </a:xfrm>
          <a:prstGeom prst="rect">
            <a:avLst/>
          </a:prstGeom>
          <a:noFill/>
        </p:spPr>
        <p:txBody>
          <a:bodyPr wrap="square">
            <a:spAutoFit/>
          </a:bodyPr>
          <a:lstStyle/>
          <a:p>
            <a:pPr>
              <a:lnSpc>
                <a:spcPct val="120000"/>
              </a:lnSpc>
              <a:spcBef>
                <a:spcPts val="600"/>
              </a:spcBef>
              <a:spcAft>
                <a:spcPts val="600"/>
              </a:spcAft>
              <a:buNone/>
            </a:pPr>
            <a:r>
              <a:rPr lang="zh-CN" altLang="zh-CN"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结论：地方文件发布带来的冲击远不如中央文件发布带来的冲击显著，碳排放在事后一期有很强的显著性，但事前趋势不符合</a:t>
            </a:r>
            <a:endParaRPr lang="zh-CN" altLang="zh-CN" sz="1800" kern="1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433482071"/>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46DCF-ACD0-D033-8808-DA88B6D00F2C}"/>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2ADF23BD-A50E-3BCD-2960-D94FE9FE5CF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435819" y="864495"/>
            <a:ext cx="6049548" cy="6049548"/>
          </a:xfrm>
          <a:prstGeom prst="rect">
            <a:avLst/>
          </a:prstGeom>
        </p:spPr>
      </p:pic>
      <p:grpSp>
        <p:nvGrpSpPr>
          <p:cNvPr id="4" name="组合 3">
            <a:extLst>
              <a:ext uri="{FF2B5EF4-FFF2-40B4-BE49-F238E27FC236}">
                <a16:creationId xmlns:a16="http://schemas.microsoft.com/office/drawing/2014/main" id="{51079B8B-01C3-E86E-D78C-26313DA89D69}"/>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031A8D3E-9C60-4BA3-33B7-EA4ED82F789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B90C2836-9CEF-5232-858D-CAF07B0A107F}"/>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2B08B0F8-3B32-0BC7-2CA8-7AD9380622B8}"/>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3B0F6E78-F5E4-4136-81D5-4FCFE3F67C88}"/>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结论</a:t>
            </a:r>
            <a:endParaRPr lang="zh-CN" altLang="zh-CN" sz="2400" dirty="0"/>
          </a:p>
        </p:txBody>
      </p:sp>
      <p:grpSp>
        <p:nvGrpSpPr>
          <p:cNvPr id="43" name="组合 42">
            <a:extLst>
              <a:ext uri="{FF2B5EF4-FFF2-40B4-BE49-F238E27FC236}">
                <a16:creationId xmlns:a16="http://schemas.microsoft.com/office/drawing/2014/main" id="{2ECF6258-EBB1-5433-5B4C-60439F9C7BEA}"/>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784B39CA-95A5-FC23-B361-7C01BE29730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E7F294FC-9D81-C579-277E-AEC441975C7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88BDB8BF-0BBF-24D1-139F-442FB07677C5}"/>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16" name="Rectangle 9">
            <a:extLst>
              <a:ext uri="{FF2B5EF4-FFF2-40B4-BE49-F238E27FC236}">
                <a16:creationId xmlns:a16="http://schemas.microsoft.com/office/drawing/2014/main" id="{69DECD3B-E228-588D-15D1-482C5141121C}"/>
              </a:ext>
            </a:extLst>
          </p:cNvPr>
          <p:cNvSpPr>
            <a:spLocks noChangeArrowheads="1"/>
          </p:cNvSpPr>
          <p:nvPr/>
        </p:nvSpPr>
        <p:spPr bwMode="auto">
          <a:xfrm>
            <a:off x="436004" y="206509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文本框 1">
            <a:extLst>
              <a:ext uri="{FF2B5EF4-FFF2-40B4-BE49-F238E27FC236}">
                <a16:creationId xmlns:a16="http://schemas.microsoft.com/office/drawing/2014/main" id="{BAB1854B-EF95-3276-17B8-064F5EFC3818}"/>
              </a:ext>
            </a:extLst>
          </p:cNvPr>
          <p:cNvSpPr txBox="1"/>
          <p:nvPr/>
        </p:nvSpPr>
        <p:spPr>
          <a:xfrm>
            <a:off x="335360" y="783996"/>
            <a:ext cx="11392114" cy="843693"/>
          </a:xfrm>
          <a:prstGeom prst="rect">
            <a:avLst/>
          </a:prstGeom>
          <a:noFill/>
        </p:spPr>
        <p:txBody>
          <a:bodyPr wrap="square">
            <a:spAutoFit/>
          </a:bodyPr>
          <a:lstStyle/>
          <a:p>
            <a:pPr>
              <a:lnSpc>
                <a:spcPct val="120000"/>
              </a:lnSpc>
              <a:spcBef>
                <a:spcPts val="600"/>
              </a:spcBef>
              <a:spcAft>
                <a:spcPts val="600"/>
              </a:spcAft>
              <a:buNone/>
            </a:pP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3</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lang="zh-CN" altLang="zh-CN" sz="1400" b="1" kern="100" dirty="0">
                <a:solidFill>
                  <a:srgbClr val="000000"/>
                </a:solidFill>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中央</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碳达峰文件发步后各地方</a:t>
            </a:r>
            <a:r>
              <a:rPr lang="zh-CN" altLang="zh-CN" sz="14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后续态度</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对各地方单位</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GDP</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能耗造成的影响，时间虚拟变量</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post1</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为</a:t>
            </a:r>
            <a:r>
              <a:rPr lang="zh-CN" altLang="zh-CN" sz="14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中央文件</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发布前后，政策分组变量从</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0-1</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的</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treated</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变为该地方的政策处理强度指标（如</a:t>
            </a:r>
            <a:r>
              <a:rPr lang="en-US"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degree</a:t>
            </a:r>
            <a:r>
              <a:rPr lang="zh-CN" altLang="zh-CN" sz="1400"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）：是不是各地方后续的态度会进一步影响碳治理呢？这里要试一组解释变量，包括相似度、相对语调、“主要目标”段落的语调、“主要目标”段落的指标强度、稳健性控制下的相对语调、隐式相对语调</a:t>
            </a:r>
          </a:p>
        </p:txBody>
      </p:sp>
      <p:graphicFrame>
        <p:nvGraphicFramePr>
          <p:cNvPr id="3" name="对象 2">
            <a:extLst>
              <a:ext uri="{FF2B5EF4-FFF2-40B4-BE49-F238E27FC236}">
                <a16:creationId xmlns:a16="http://schemas.microsoft.com/office/drawing/2014/main" id="{14CB3A8C-D04C-0F10-6D9F-0DF3F626CBF3}"/>
              </a:ext>
            </a:extLst>
          </p:cNvPr>
          <p:cNvGraphicFramePr>
            <a:graphicFrameLocks noChangeAspect="1"/>
          </p:cNvGraphicFramePr>
          <p:nvPr>
            <p:extLst>
              <p:ext uri="{D42A27DB-BD31-4B8C-83A1-F6EECF244321}">
                <p14:modId xmlns:p14="http://schemas.microsoft.com/office/powerpoint/2010/main" val="3125006378"/>
              </p:ext>
            </p:extLst>
          </p:nvPr>
        </p:nvGraphicFramePr>
        <p:xfrm>
          <a:off x="724637" y="1893311"/>
          <a:ext cx="3816730" cy="368124"/>
        </p:xfrm>
        <a:graphic>
          <a:graphicData uri="http://schemas.openxmlformats.org/presentationml/2006/ole">
            <mc:AlternateContent xmlns:mc="http://schemas.openxmlformats.org/markup-compatibility/2006">
              <mc:Choice xmlns:v="urn:schemas-microsoft-com:vml" Requires="v">
                <p:oleObj name="Equation" r:id="rId6" imgW="2374900" imgH="228600" progId="Equation.DSMT4">
                  <p:embed/>
                </p:oleObj>
              </mc:Choice>
              <mc:Fallback>
                <p:oleObj name="Equation" r:id="rId6" imgW="2374900" imgH="228600" progId="Equation.DSMT4">
                  <p:embed/>
                  <p:pic>
                    <p:nvPicPr>
                      <p:cNvPr id="28" name="对象 27">
                        <a:extLst>
                          <a:ext uri="{FF2B5EF4-FFF2-40B4-BE49-F238E27FC236}">
                            <a16:creationId xmlns:a16="http://schemas.microsoft.com/office/drawing/2014/main" id="{2CE8AB8A-A63B-8D0A-63AC-D96F42D4DE8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4637" y="1893311"/>
                        <a:ext cx="3816730" cy="368124"/>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7556F5D8-525B-3EBB-7E2E-74A232E658F8}"/>
              </a:ext>
            </a:extLst>
          </p:cNvPr>
          <p:cNvGraphicFramePr>
            <a:graphicFrameLocks noChangeAspect="1"/>
          </p:cNvGraphicFramePr>
          <p:nvPr>
            <p:extLst>
              <p:ext uri="{D42A27DB-BD31-4B8C-83A1-F6EECF244321}">
                <p14:modId xmlns:p14="http://schemas.microsoft.com/office/powerpoint/2010/main" val="506285313"/>
              </p:ext>
            </p:extLst>
          </p:nvPr>
        </p:nvGraphicFramePr>
        <p:xfrm>
          <a:off x="5007617" y="1766958"/>
          <a:ext cx="3669144" cy="607156"/>
        </p:xfrm>
        <a:graphic>
          <a:graphicData uri="http://schemas.openxmlformats.org/presentationml/2006/ole">
            <mc:AlternateContent xmlns:mc="http://schemas.openxmlformats.org/markup-compatibility/2006">
              <mc:Choice xmlns:v="urn:schemas-microsoft-com:vml" Requires="v">
                <p:oleObj name="Equation" r:id="rId8" imgW="2667000" imgH="431800" progId="Equation.DSMT4">
                  <p:embed/>
                </p:oleObj>
              </mc:Choice>
              <mc:Fallback>
                <p:oleObj name="Equation" r:id="rId8" imgW="2667000" imgH="431800" progId="Equation.DSMT4">
                  <p:embed/>
                  <p:pic>
                    <p:nvPicPr>
                      <p:cNvPr id="29" name="对象 28">
                        <a:extLst>
                          <a:ext uri="{FF2B5EF4-FFF2-40B4-BE49-F238E27FC236}">
                            <a16:creationId xmlns:a16="http://schemas.microsoft.com/office/drawing/2014/main" id="{35EAD616-823B-D3B5-F98E-C4FE94016BA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07617" y="1766958"/>
                        <a:ext cx="3669144" cy="607156"/>
                      </a:xfrm>
                      <a:prstGeom prst="rect">
                        <a:avLst/>
                      </a:prstGeom>
                      <a:noFill/>
                    </p:spPr>
                  </p:pic>
                </p:oleObj>
              </mc:Fallback>
            </mc:AlternateContent>
          </a:graphicData>
        </a:graphic>
      </p:graphicFrame>
      <p:sp>
        <p:nvSpPr>
          <p:cNvPr id="11" name="文本框 10">
            <a:extLst>
              <a:ext uri="{FF2B5EF4-FFF2-40B4-BE49-F238E27FC236}">
                <a16:creationId xmlns:a16="http://schemas.microsoft.com/office/drawing/2014/main" id="{4867CED9-E2F1-5A17-BCAA-E95D59289F88}"/>
              </a:ext>
            </a:extLst>
          </p:cNvPr>
          <p:cNvSpPr txBox="1"/>
          <p:nvPr/>
        </p:nvSpPr>
        <p:spPr>
          <a:xfrm>
            <a:off x="432437" y="2374114"/>
            <a:ext cx="11467083" cy="1058367"/>
          </a:xfrm>
          <a:prstGeom prst="rect">
            <a:avLst/>
          </a:prstGeom>
          <a:noFill/>
        </p:spPr>
        <p:txBody>
          <a:bodyPr wrap="square">
            <a:spAutoFit/>
          </a:bodyPr>
          <a:lstStyle/>
          <a:p>
            <a:pPr>
              <a:lnSpc>
                <a:spcPct val="120000"/>
              </a:lnSpc>
              <a:spcBef>
                <a:spcPts val="600"/>
              </a:spcBef>
              <a:spcAft>
                <a:spcPts val="600"/>
              </a:spcAft>
              <a:buNone/>
            </a:pPr>
            <a:r>
              <a:rPr lang="zh-CN" altLang="zh-CN"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结论：相似度指标由于比较接近，因此结果其实与（</a:t>
            </a:r>
            <a:r>
              <a:rPr lang="en-US" altLang="zh-CN"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1</a:t>
            </a:r>
            <a:r>
              <a:rPr lang="zh-CN" altLang="zh-CN"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）的结果是类似的；语调指标</a:t>
            </a:r>
            <a:r>
              <a:rPr lang="zh-CN" altLang="en-US" kern="100" dirty="0">
                <a:solidFill>
                  <a:srgbClr val="000000"/>
                </a:solidFill>
                <a:latin typeface="微软雅黑" panose="020B0503020204020204" pitchFamily="34" charset="-122"/>
                <a:ea typeface="宋体" panose="02010600030101010101" pitchFamily="2" charset="-122"/>
                <a:cs typeface="Times New Roman" panose="02020603050405020304" pitchFamily="18" charset="0"/>
              </a:rPr>
              <a:t>对 </a:t>
            </a:r>
            <a:r>
              <a:rPr lang="zh-CN" altLang="en-US" u="sng" kern="100" dirty="0">
                <a:solidFill>
                  <a:srgbClr val="000000"/>
                </a:solidFill>
                <a:latin typeface="微软雅黑" panose="020B0503020204020204" pitchFamily="34" charset="-122"/>
                <a:ea typeface="宋体" panose="02010600030101010101" pitchFamily="2" charset="-122"/>
                <a:cs typeface="Times New Roman" panose="02020603050405020304" pitchFamily="18" charset="0"/>
              </a:rPr>
              <a:t>原先</a:t>
            </a:r>
            <a:r>
              <a:rPr lang="zh-CN" altLang="zh-CN" sz="1800" u="sng"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在（</a:t>
            </a:r>
            <a:r>
              <a:rPr lang="en-US" altLang="zh-CN" sz="1800" u="sng"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1</a:t>
            </a:r>
            <a:r>
              <a:rPr lang="zh-CN" altLang="zh-CN" sz="1800" u="sng"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）中显著的能耗强度、碳排强度</a:t>
            </a:r>
            <a:r>
              <a:rPr lang="en-US" altLang="zh-CN"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 </a:t>
            </a:r>
            <a:r>
              <a:rPr lang="zh-CN" altLang="en-US"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反而</a:t>
            </a:r>
            <a:r>
              <a:rPr lang="zh-CN" altLang="zh-CN"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不显著、甚至方向都不对，但在</a:t>
            </a:r>
            <a:r>
              <a:rPr lang="en-US" altLang="zh-CN"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 </a:t>
            </a:r>
            <a:r>
              <a:rPr lang="zh-CN" altLang="zh-CN" sz="1800" u="sng"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非化石能源占比</a:t>
            </a:r>
            <a:r>
              <a:rPr lang="zh-CN" altLang="en-US" sz="1800" u="sng"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增长率 </a:t>
            </a:r>
            <a:r>
              <a:rPr lang="zh-CN" altLang="zh-CN"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方面存在某种水平的显著性（</a:t>
            </a:r>
            <a:r>
              <a:rPr lang="zh-CN" altLang="en-US"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和（</a:t>
            </a:r>
            <a:r>
              <a:rPr lang="en-US" altLang="zh-CN"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1</a:t>
            </a:r>
            <a:r>
              <a:rPr lang="zh-CN" altLang="en-US"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a:t>
            </a:r>
            <a:r>
              <a:rPr lang="zh-CN" altLang="zh-CN" sz="1800" kern="100" dirty="0">
                <a:solidFill>
                  <a:srgbClr val="000000"/>
                </a:solidFill>
                <a:effectLst/>
                <a:latin typeface="微软雅黑" panose="020B0503020204020204" pitchFamily="34" charset="-122"/>
                <a:ea typeface="宋体" panose="02010600030101010101" pitchFamily="2" charset="-122"/>
                <a:cs typeface="Times New Roman" panose="02020603050405020304" pitchFamily="18" charset="0"/>
              </a:rPr>
              <a:t>互补了？）</a:t>
            </a:r>
            <a:endParaRPr lang="zh-CN" altLang="zh-CN" sz="1800" kern="1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Rectangle 5">
            <a:extLst>
              <a:ext uri="{FF2B5EF4-FFF2-40B4-BE49-F238E27FC236}">
                <a16:creationId xmlns:a16="http://schemas.microsoft.com/office/drawing/2014/main" id="{EFB7F979-FAFA-D15A-BCFA-7D9408249414}"/>
              </a:ext>
            </a:extLst>
          </p:cNvPr>
          <p:cNvSpPr>
            <a:spLocks noChangeArrowheads="1"/>
          </p:cNvSpPr>
          <p:nvPr/>
        </p:nvSpPr>
        <p:spPr bwMode="auto">
          <a:xfrm>
            <a:off x="339819" y="346198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语调标准化（非化石能源占比增长率，一点点显著）</a:t>
            </a:r>
            <a:endParaRPr kumimoji="0" lang="zh-CN"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2052" name="图片 1">
            <a:extLst>
              <a:ext uri="{FF2B5EF4-FFF2-40B4-BE49-F238E27FC236}">
                <a16:creationId xmlns:a16="http://schemas.microsoft.com/office/drawing/2014/main" id="{9867A0A6-9566-180F-4A1C-DFE02B2F7C6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7840" y="3719899"/>
            <a:ext cx="5273675" cy="2819400"/>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6">
            <a:extLst>
              <a:ext uri="{FF2B5EF4-FFF2-40B4-BE49-F238E27FC236}">
                <a16:creationId xmlns:a16="http://schemas.microsoft.com/office/drawing/2014/main" id="{401B0950-0C13-76D9-163D-8136F822103E}"/>
              </a:ext>
            </a:extLst>
          </p:cNvPr>
          <p:cNvSpPr>
            <a:spLocks noChangeArrowheads="1"/>
          </p:cNvSpPr>
          <p:nvPr/>
        </p:nvSpPr>
        <p:spPr bwMode="auto">
          <a:xfrm>
            <a:off x="367840" y="661549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1" name="Rectangle 8">
            <a:extLst>
              <a:ext uri="{FF2B5EF4-FFF2-40B4-BE49-F238E27FC236}">
                <a16:creationId xmlns:a16="http://schemas.microsoft.com/office/drawing/2014/main" id="{8C8B6CD7-0682-2297-A2A3-AA3C7AAB5C6E}"/>
              </a:ext>
            </a:extLst>
          </p:cNvPr>
          <p:cNvSpPr>
            <a:spLocks noChangeArrowheads="1"/>
          </p:cNvSpPr>
          <p:nvPr/>
        </p:nvSpPr>
        <p:spPr bwMode="auto">
          <a:xfrm>
            <a:off x="5976906" y="344060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主要目标语调标准化（非化石能源占比增长率，相当的显著，但事前趋势有点不理想）</a:t>
            </a:r>
            <a:endParaRPr kumimoji="0" lang="zh-CN" altLang="zh-CN"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2055" name="图片 1">
            <a:extLst>
              <a:ext uri="{FF2B5EF4-FFF2-40B4-BE49-F238E27FC236}">
                <a16:creationId xmlns:a16="http://schemas.microsoft.com/office/drawing/2014/main" id="{52430A93-3A01-FFC0-7668-68970047FCC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76906" y="3728682"/>
            <a:ext cx="5280025" cy="2865438"/>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9">
            <a:extLst>
              <a:ext uri="{FF2B5EF4-FFF2-40B4-BE49-F238E27FC236}">
                <a16:creationId xmlns:a16="http://schemas.microsoft.com/office/drawing/2014/main" id="{2AD588DA-379B-1411-A7D6-67E76C805129}"/>
              </a:ext>
            </a:extLst>
          </p:cNvPr>
          <p:cNvSpPr>
            <a:spLocks noChangeArrowheads="1"/>
          </p:cNvSpPr>
          <p:nvPr/>
        </p:nvSpPr>
        <p:spPr bwMode="auto">
          <a:xfrm>
            <a:off x="5976906" y="667032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807793981"/>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C778A-C681-A431-B55C-81C46F07486F}"/>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4114FC82-852C-5321-76D3-38C5331130B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435819" y="864495"/>
            <a:ext cx="6049548" cy="6049548"/>
          </a:xfrm>
          <a:prstGeom prst="rect">
            <a:avLst/>
          </a:prstGeom>
        </p:spPr>
      </p:pic>
      <p:grpSp>
        <p:nvGrpSpPr>
          <p:cNvPr id="4" name="组合 3">
            <a:extLst>
              <a:ext uri="{FF2B5EF4-FFF2-40B4-BE49-F238E27FC236}">
                <a16:creationId xmlns:a16="http://schemas.microsoft.com/office/drawing/2014/main" id="{0C9911CF-6747-44B5-426D-50F3CBC2D20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3679EF3F-C62E-B9B6-17EF-ADB61F1C1083}"/>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F4EC3C95-618C-BD52-54D9-5C67051FEE06}"/>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C6F06661-0091-E960-4A29-8FF651395430}"/>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D2D348B5-3402-B3A9-6EA8-7E50B0331C53}"/>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结论</a:t>
            </a:r>
            <a:endParaRPr lang="zh-CN" altLang="zh-CN" sz="2400" dirty="0"/>
          </a:p>
        </p:txBody>
      </p:sp>
      <p:grpSp>
        <p:nvGrpSpPr>
          <p:cNvPr id="43" name="组合 42">
            <a:extLst>
              <a:ext uri="{FF2B5EF4-FFF2-40B4-BE49-F238E27FC236}">
                <a16:creationId xmlns:a16="http://schemas.microsoft.com/office/drawing/2014/main" id="{A1A29ED8-B870-02DA-358E-258D06BB5FBC}"/>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6432694B-9BA9-D671-38A1-0123B389A60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8A7B706A-4846-B8B7-332B-F1C24EB84A6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99F0F89F-9F97-E488-111C-C5263A672210}"/>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16" name="Rectangle 9">
            <a:extLst>
              <a:ext uri="{FF2B5EF4-FFF2-40B4-BE49-F238E27FC236}">
                <a16:creationId xmlns:a16="http://schemas.microsoft.com/office/drawing/2014/main" id="{9BE8AAD3-349A-16E4-5DB8-66DE2CD59495}"/>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文本框 12">
            <a:extLst>
              <a:ext uri="{FF2B5EF4-FFF2-40B4-BE49-F238E27FC236}">
                <a16:creationId xmlns:a16="http://schemas.microsoft.com/office/drawing/2014/main" id="{4E12B5EB-8802-0E41-CA0F-5174F486859F}"/>
              </a:ext>
            </a:extLst>
          </p:cNvPr>
          <p:cNvSpPr txBox="1"/>
          <p:nvPr/>
        </p:nvSpPr>
        <p:spPr>
          <a:xfrm>
            <a:off x="201856" y="1132586"/>
            <a:ext cx="3621266" cy="5038110"/>
          </a:xfrm>
          <a:prstGeom prst="rect">
            <a:avLst/>
          </a:prstGeom>
          <a:noFill/>
        </p:spPr>
        <p:txBody>
          <a:bodyPr wrap="square">
            <a:spAutoFit/>
          </a:bodyPr>
          <a:lstStyle/>
          <a:p>
            <a:pPr>
              <a:lnSpc>
                <a:spcPct val="120000"/>
              </a:lnSpc>
              <a:spcBef>
                <a:spcPts val="600"/>
              </a:spcBef>
              <a:spcAft>
                <a:spcPts val="600"/>
              </a:spcAft>
              <a:buNone/>
            </a:pPr>
            <a:r>
              <a:rPr lang="zh-CN" altLang="en-US" sz="14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其中还考虑了所谓的“主要目标”的具体指标要求强度，发现的一个事实是，</a:t>
            </a:r>
            <a:r>
              <a:rPr lang="zh-CN" altLang="en-US" sz="1400" b="1" kern="100" dirty="0">
                <a:solidFill>
                  <a:srgbClr val="000000"/>
                </a:solidFill>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各地方能耗强度、碳排强度指标基本与中央一致、甚至略微超出且基本上波动较小，而非化石能源占比存在明显差别且几乎均达不到中央文件的要求</a:t>
            </a:r>
            <a:r>
              <a:rPr lang="zh-CN" altLang="en-US" sz="14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；也对这一系列指标进行了</a:t>
            </a:r>
            <a:r>
              <a:rPr lang="en-US" altLang="zh-CN" sz="14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did</a:t>
            </a:r>
            <a:r>
              <a:rPr lang="zh-CN" altLang="en-US" sz="14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，结果与（</a:t>
            </a:r>
            <a:r>
              <a:rPr lang="en-US" altLang="zh-CN" sz="14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1</a:t>
            </a:r>
            <a:r>
              <a:rPr lang="zh-CN" altLang="en-US" sz="14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）结果一致，其中能耗与碳排放应该是因为指标本身无差别导致，非化石能源依旧不显著</a:t>
            </a:r>
            <a:endParaRPr lang="zh-CN" altLang="zh-CN" sz="14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p>
            <a:pPr>
              <a:lnSpc>
                <a:spcPct val="120000"/>
              </a:lnSpc>
              <a:spcBef>
                <a:spcPts val="600"/>
              </a:spcBef>
              <a:spcAft>
                <a:spcPts val="600"/>
              </a:spcAft>
              <a:buNone/>
            </a:pP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十四五”期间，产业结构和能源结构调整优化取得明显进展，重点行业能源利用效率大幅提升，煤炭消费增长得到严格控制，新型电力系统加快构建，绿色低碳技术研发和推广应用取得新进展，绿色生产生活方式得到普遍推行，有利于绿色低碳循环发展的政策体系进一步完善。到</a:t>
            </a:r>
            <a:r>
              <a:rPr lang="en-US"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2025</a:t>
            </a: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年，</a:t>
            </a:r>
            <a:r>
              <a:rPr lang="zh-CN" altLang="zh-CN" sz="900" b="1"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非化石能源消费比重</a:t>
            </a: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达到</a:t>
            </a:r>
            <a:r>
              <a:rPr lang="en-US" altLang="zh-CN" sz="900" kern="100" dirty="0">
                <a:solidFill>
                  <a:srgbClr val="A6A6A6"/>
                </a:solidFill>
                <a:effectLst/>
                <a:highlight>
                  <a:srgbClr val="FFFF00"/>
                </a:highlight>
                <a:latin typeface="微软雅黑" panose="020B0503020204020204" pitchFamily="34" charset="-122"/>
                <a:ea typeface="宋体" panose="02010600030101010101" pitchFamily="2" charset="-122"/>
                <a:cs typeface="Times New Roman" panose="02020603050405020304" pitchFamily="18" charset="0"/>
              </a:rPr>
              <a:t>20%</a:t>
            </a: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左右，</a:t>
            </a:r>
            <a:r>
              <a:rPr lang="zh-CN" altLang="zh-CN" sz="900" b="1"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单位国内生产总值能源消耗</a:t>
            </a: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比</a:t>
            </a:r>
            <a:r>
              <a:rPr lang="en-US"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2020</a:t>
            </a: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年下降</a:t>
            </a:r>
            <a:r>
              <a:rPr lang="en-US" altLang="zh-CN" sz="900" kern="100" dirty="0">
                <a:solidFill>
                  <a:srgbClr val="A6A6A6"/>
                </a:solidFill>
                <a:effectLst/>
                <a:highlight>
                  <a:srgbClr val="FFFF00"/>
                </a:highlight>
                <a:latin typeface="微软雅黑" panose="020B0503020204020204" pitchFamily="34" charset="-122"/>
                <a:ea typeface="宋体" panose="02010600030101010101" pitchFamily="2" charset="-122"/>
                <a:cs typeface="Times New Roman" panose="02020603050405020304" pitchFamily="18" charset="0"/>
              </a:rPr>
              <a:t>13.5%</a:t>
            </a: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a:t>
            </a:r>
            <a:r>
              <a:rPr lang="zh-CN" altLang="zh-CN" sz="900" b="1"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单位国内生产总值二氧化碳排放</a:t>
            </a: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比</a:t>
            </a:r>
            <a:r>
              <a:rPr lang="en-US"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2020</a:t>
            </a: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年下降</a:t>
            </a:r>
            <a:r>
              <a:rPr lang="en-US" altLang="zh-CN" sz="900" kern="100" dirty="0">
                <a:solidFill>
                  <a:srgbClr val="A6A6A6"/>
                </a:solidFill>
                <a:effectLst/>
                <a:highlight>
                  <a:srgbClr val="FFFF00"/>
                </a:highlight>
                <a:latin typeface="微软雅黑" panose="020B0503020204020204" pitchFamily="34" charset="-122"/>
                <a:ea typeface="宋体" panose="02010600030101010101" pitchFamily="2" charset="-122"/>
                <a:cs typeface="Times New Roman" panose="02020603050405020304" pitchFamily="18" charset="0"/>
              </a:rPr>
              <a:t>18%</a:t>
            </a: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，为实现碳达峰奠定坚实基础。</a:t>
            </a:r>
            <a:endParaRPr lang="zh-CN" altLang="zh-CN" sz="3600" kern="1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20000"/>
              </a:lnSpc>
              <a:spcBef>
                <a:spcPts val="600"/>
              </a:spcBef>
              <a:spcAft>
                <a:spcPts val="600"/>
              </a:spcAft>
              <a:buNone/>
            </a:pP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十五五”期间，产业结构调整取得重大进展，清洁低碳安全高效的能源体系初步建立，重点领域低碳发展模式基本形成，重点耗能行业能源利用效率达到国际先进水平，非化石能源消费比重进一步提高，煤炭消费逐步减少，绿色低碳技术取得关键突破，绿色生活方式成为公众自觉选择，绿色低碳循环发展政策体系基本健全。到</a:t>
            </a:r>
            <a:r>
              <a:rPr lang="en-US"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2030</a:t>
            </a: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年，</a:t>
            </a:r>
            <a:r>
              <a:rPr lang="zh-CN" altLang="zh-CN" sz="900" b="1"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非化石能源消费比重</a:t>
            </a: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达到</a:t>
            </a:r>
            <a:r>
              <a:rPr lang="en-US" altLang="zh-CN" sz="900" kern="100" dirty="0">
                <a:solidFill>
                  <a:srgbClr val="A6A6A6"/>
                </a:solidFill>
                <a:effectLst/>
                <a:highlight>
                  <a:srgbClr val="FFFF00"/>
                </a:highlight>
                <a:latin typeface="微软雅黑" panose="020B0503020204020204" pitchFamily="34" charset="-122"/>
                <a:ea typeface="宋体" panose="02010600030101010101" pitchFamily="2" charset="-122"/>
                <a:cs typeface="Times New Roman" panose="02020603050405020304" pitchFamily="18" charset="0"/>
              </a:rPr>
              <a:t>25%</a:t>
            </a: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左右，</a:t>
            </a:r>
            <a:r>
              <a:rPr lang="zh-CN" altLang="zh-CN" sz="900" b="1"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单位国内生产总值二氧化碳排放</a:t>
            </a: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比</a:t>
            </a:r>
            <a:r>
              <a:rPr lang="en-US"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2005</a:t>
            </a: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年下降</a:t>
            </a:r>
            <a:r>
              <a:rPr lang="en-US" altLang="zh-CN" sz="900" kern="100" dirty="0">
                <a:solidFill>
                  <a:srgbClr val="A6A6A6"/>
                </a:solidFill>
                <a:effectLst/>
                <a:highlight>
                  <a:srgbClr val="FFFF00"/>
                </a:highlight>
                <a:latin typeface="微软雅黑" panose="020B0503020204020204" pitchFamily="34" charset="-122"/>
                <a:ea typeface="宋体" panose="02010600030101010101" pitchFamily="2" charset="-122"/>
                <a:cs typeface="Times New Roman" panose="02020603050405020304" pitchFamily="18" charset="0"/>
              </a:rPr>
              <a:t>65%</a:t>
            </a: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以上，顺利实现</a:t>
            </a:r>
            <a:r>
              <a:rPr lang="en-US"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2030</a:t>
            </a:r>
            <a:r>
              <a:rPr lang="zh-CN" altLang="zh-CN" sz="900" kern="100" dirty="0">
                <a:solidFill>
                  <a:srgbClr val="A6A6A6"/>
                </a:solidFill>
                <a:effectLst/>
                <a:latin typeface="微软雅黑" panose="020B0503020204020204" pitchFamily="34" charset="-122"/>
                <a:ea typeface="宋体" panose="02010600030101010101" pitchFamily="2" charset="-122"/>
                <a:cs typeface="Times New Roman" panose="02020603050405020304" pitchFamily="18" charset="0"/>
              </a:rPr>
              <a:t>年前碳达峰目标。</a:t>
            </a:r>
            <a:endParaRPr lang="zh-CN" altLang="zh-CN" sz="3600" kern="1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9" name="表格 8">
            <a:extLst>
              <a:ext uri="{FF2B5EF4-FFF2-40B4-BE49-F238E27FC236}">
                <a16:creationId xmlns:a16="http://schemas.microsoft.com/office/drawing/2014/main" id="{F9D738E6-DD92-25A5-88A8-D52A4B79D7BC}"/>
              </a:ext>
            </a:extLst>
          </p:cNvPr>
          <p:cNvGraphicFramePr>
            <a:graphicFrameLocks noGrp="1"/>
          </p:cNvGraphicFramePr>
          <p:nvPr>
            <p:extLst>
              <p:ext uri="{D42A27DB-BD31-4B8C-83A1-F6EECF244321}">
                <p14:modId xmlns:p14="http://schemas.microsoft.com/office/powerpoint/2010/main" val="1567394312"/>
              </p:ext>
            </p:extLst>
          </p:nvPr>
        </p:nvGraphicFramePr>
        <p:xfrm>
          <a:off x="3911935" y="1054582"/>
          <a:ext cx="8078209" cy="5307901"/>
        </p:xfrm>
        <a:graphic>
          <a:graphicData uri="http://schemas.openxmlformats.org/drawingml/2006/table">
            <a:tbl>
              <a:tblPr>
                <a:tableStyleId>{5C22544A-7EE6-4342-B048-85BDC9FD1C3A}</a:tableStyleId>
              </a:tblPr>
              <a:tblGrid>
                <a:gridCol w="848477">
                  <a:extLst>
                    <a:ext uri="{9D8B030D-6E8A-4147-A177-3AD203B41FA5}">
                      <a16:colId xmlns:a16="http://schemas.microsoft.com/office/drawing/2014/main" val="790724466"/>
                    </a:ext>
                  </a:extLst>
                </a:gridCol>
                <a:gridCol w="848477">
                  <a:extLst>
                    <a:ext uri="{9D8B030D-6E8A-4147-A177-3AD203B41FA5}">
                      <a16:colId xmlns:a16="http://schemas.microsoft.com/office/drawing/2014/main" val="1996210477"/>
                    </a:ext>
                  </a:extLst>
                </a:gridCol>
                <a:gridCol w="1113626">
                  <a:extLst>
                    <a:ext uri="{9D8B030D-6E8A-4147-A177-3AD203B41FA5}">
                      <a16:colId xmlns:a16="http://schemas.microsoft.com/office/drawing/2014/main" val="3308075191"/>
                    </a:ext>
                  </a:extLst>
                </a:gridCol>
                <a:gridCol w="1219686">
                  <a:extLst>
                    <a:ext uri="{9D8B030D-6E8A-4147-A177-3AD203B41FA5}">
                      <a16:colId xmlns:a16="http://schemas.microsoft.com/office/drawing/2014/main" val="3069862207"/>
                    </a:ext>
                  </a:extLst>
                </a:gridCol>
                <a:gridCol w="1219686">
                  <a:extLst>
                    <a:ext uri="{9D8B030D-6E8A-4147-A177-3AD203B41FA5}">
                      <a16:colId xmlns:a16="http://schemas.microsoft.com/office/drawing/2014/main" val="1511493542"/>
                    </a:ext>
                  </a:extLst>
                </a:gridCol>
                <a:gridCol w="1520187">
                  <a:extLst>
                    <a:ext uri="{9D8B030D-6E8A-4147-A177-3AD203B41FA5}">
                      <a16:colId xmlns:a16="http://schemas.microsoft.com/office/drawing/2014/main" val="1809507622"/>
                    </a:ext>
                  </a:extLst>
                </a:gridCol>
                <a:gridCol w="1308070">
                  <a:extLst>
                    <a:ext uri="{9D8B030D-6E8A-4147-A177-3AD203B41FA5}">
                      <a16:colId xmlns:a16="http://schemas.microsoft.com/office/drawing/2014/main" val="580803829"/>
                    </a:ext>
                  </a:extLst>
                </a:gridCol>
              </a:tblGrid>
              <a:tr h="0">
                <a:tc>
                  <a:txBody>
                    <a:bodyPr/>
                    <a:lstStyle/>
                    <a:p>
                      <a:pPr algn="ctr" fontAlgn="ctr">
                        <a:buNone/>
                      </a:pPr>
                      <a:r>
                        <a:rPr lang="en-US" sz="900" u="none" strike="noStrike">
                          <a:effectLst/>
                        </a:rPr>
                        <a:t>id</a:t>
                      </a:r>
                      <a:endParaRPr 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地</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l" fontAlgn="b">
                        <a:buNone/>
                      </a:pPr>
                      <a:r>
                        <a:rPr lang="zh-CN" altLang="en-US" sz="900" u="none" strike="noStrike">
                          <a:effectLst/>
                        </a:rPr>
                        <a:t>非化石能源</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l" fontAlgn="b">
                        <a:buNone/>
                      </a:pPr>
                      <a:r>
                        <a:rPr lang="zh-CN" altLang="en-US" sz="900" u="none" strike="noStrike">
                          <a:effectLst/>
                        </a:rPr>
                        <a:t>能耗强度</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l" fontAlgn="b">
                        <a:buNone/>
                      </a:pPr>
                      <a:r>
                        <a:rPr lang="zh-CN" altLang="en-US" sz="900" u="none" strike="noStrike" dirty="0">
                          <a:effectLst/>
                        </a:rPr>
                        <a:t>碳排强度</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l" fontAlgn="b">
                        <a:buNone/>
                      </a:pPr>
                      <a:r>
                        <a:rPr lang="zh-CN" altLang="en-US" sz="900" u="none" strike="noStrike" dirty="0">
                          <a:effectLst/>
                        </a:rPr>
                        <a:t>非化石能源</a:t>
                      </a:r>
                      <a:r>
                        <a:rPr lang="en-US" altLang="zh-CN" sz="900" u="none" strike="noStrike" dirty="0">
                          <a:effectLst/>
                        </a:rPr>
                        <a:t>_155</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l" fontAlgn="b">
                        <a:buNone/>
                      </a:pPr>
                      <a:r>
                        <a:rPr lang="zh-CN" altLang="en-US" sz="900" u="none" strike="noStrike">
                          <a:effectLst/>
                        </a:rPr>
                        <a:t>碳排强度</a:t>
                      </a:r>
                      <a:r>
                        <a:rPr lang="en-US" altLang="zh-CN" sz="900" u="none" strike="noStrike">
                          <a:effectLst/>
                        </a:rPr>
                        <a:t>_155</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3767437944"/>
                  </a:ext>
                </a:extLst>
              </a:tr>
              <a:tr h="166608">
                <a:tc>
                  <a:txBody>
                    <a:bodyPr/>
                    <a:lstStyle/>
                    <a:p>
                      <a:pPr algn="ctr" fontAlgn="ctr">
                        <a:buNone/>
                      </a:pPr>
                      <a:r>
                        <a:rPr lang="en-US" altLang="zh-CN" sz="900" u="none" strike="noStrike">
                          <a:effectLst/>
                        </a:rPr>
                        <a:t>0</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中央</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5893" marR="5893" marT="5893" marB="0" anchor="ctr"/>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3257406163"/>
                  </a:ext>
                </a:extLst>
              </a:tr>
              <a:tr h="166608">
                <a:tc>
                  <a:txBody>
                    <a:bodyPr/>
                    <a:lstStyle/>
                    <a:p>
                      <a:pPr algn="ctr" fontAlgn="ctr">
                        <a:buNone/>
                      </a:pPr>
                      <a:r>
                        <a:rPr lang="en-US" altLang="zh-CN" sz="900" u="none" strike="noStrike">
                          <a:effectLst/>
                        </a:rPr>
                        <a:t>1</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北京</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0.72</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1.037037037</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68561749"/>
                  </a:ext>
                </a:extLst>
              </a:tr>
              <a:tr h="166608">
                <a:tc>
                  <a:txBody>
                    <a:bodyPr/>
                    <a:lstStyle/>
                    <a:p>
                      <a:pPr algn="ctr" fontAlgn="ctr">
                        <a:buNone/>
                      </a:pPr>
                      <a:r>
                        <a:rPr lang="en-US" altLang="zh-CN" sz="900" u="none" strike="noStrike">
                          <a:effectLst/>
                        </a:rPr>
                        <a:t>2</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天津</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0.585</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0.64</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273572082"/>
                  </a:ext>
                </a:extLst>
              </a:tr>
              <a:tr h="166608">
                <a:tc>
                  <a:txBody>
                    <a:bodyPr/>
                    <a:lstStyle/>
                    <a:p>
                      <a:pPr algn="ctr" fontAlgn="ctr">
                        <a:buNone/>
                      </a:pPr>
                      <a:r>
                        <a:rPr lang="en-US" altLang="zh-CN" sz="900" u="none" strike="noStrike">
                          <a:effectLst/>
                        </a:rPr>
                        <a:t>3</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河北</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0.65</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0.76</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4283090734"/>
                  </a:ext>
                </a:extLst>
              </a:tr>
              <a:tr h="166608">
                <a:tc>
                  <a:txBody>
                    <a:bodyPr/>
                    <a:lstStyle/>
                    <a:p>
                      <a:pPr algn="ctr" fontAlgn="ctr">
                        <a:buNone/>
                      </a:pPr>
                      <a:r>
                        <a:rPr lang="en-US" altLang="zh-CN" sz="900" u="none" strike="noStrike">
                          <a:effectLst/>
                        </a:rPr>
                        <a:t>4</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山西</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0.6</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0.72</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3333885808"/>
                  </a:ext>
                </a:extLst>
              </a:tr>
              <a:tr h="166608">
                <a:tc>
                  <a:txBody>
                    <a:bodyPr/>
                    <a:lstStyle/>
                    <a:p>
                      <a:pPr algn="ctr" fontAlgn="ctr">
                        <a:buNone/>
                      </a:pPr>
                      <a:r>
                        <a:rPr lang="en-US" altLang="zh-CN" sz="900" u="none" strike="noStrike">
                          <a:effectLst/>
                        </a:rPr>
                        <a:t>5</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内蒙古</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0.9</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2931806044"/>
                  </a:ext>
                </a:extLst>
              </a:tr>
              <a:tr h="166608">
                <a:tc>
                  <a:txBody>
                    <a:bodyPr/>
                    <a:lstStyle/>
                    <a:p>
                      <a:pPr algn="ctr" fontAlgn="ctr">
                        <a:buNone/>
                      </a:pPr>
                      <a:r>
                        <a:rPr lang="en-US" altLang="zh-CN" sz="900" u="none" strike="noStrike" dirty="0">
                          <a:effectLst/>
                        </a:rPr>
                        <a:t>6</a:t>
                      </a:r>
                      <a:endParaRPr lang="en-US" alt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辽宁</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0.685</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1.074074074</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0.8</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4122048014"/>
                  </a:ext>
                </a:extLst>
              </a:tr>
              <a:tr h="166608">
                <a:tc>
                  <a:txBody>
                    <a:bodyPr/>
                    <a:lstStyle/>
                    <a:p>
                      <a:pPr algn="ctr" fontAlgn="ctr">
                        <a:buNone/>
                      </a:pPr>
                      <a:r>
                        <a:rPr lang="en-US" altLang="zh-CN" sz="900" u="none" strike="noStrike">
                          <a:effectLst/>
                        </a:rPr>
                        <a:t>7</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dirty="0">
                          <a:effectLst/>
                        </a:rPr>
                        <a:t>吉林</a:t>
                      </a:r>
                      <a:endParaRPr lang="zh-CN" altLang="en-US" sz="900" b="0" i="0" u="none" strike="noStrike" dirty="0">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0.885</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0.8</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951401069"/>
                  </a:ext>
                </a:extLst>
              </a:tr>
              <a:tr h="166608">
                <a:tc>
                  <a:txBody>
                    <a:bodyPr/>
                    <a:lstStyle/>
                    <a:p>
                      <a:pPr algn="ctr" fontAlgn="ctr">
                        <a:buNone/>
                      </a:pPr>
                      <a:r>
                        <a:rPr lang="en-US" altLang="zh-CN" sz="900" u="none" strike="noStrike">
                          <a:effectLst/>
                        </a:rPr>
                        <a:t>8</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黑龙江</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3945299603"/>
                  </a:ext>
                </a:extLst>
              </a:tr>
              <a:tr h="166608">
                <a:tc>
                  <a:txBody>
                    <a:bodyPr/>
                    <a:lstStyle/>
                    <a:p>
                      <a:pPr algn="ctr" fontAlgn="ctr">
                        <a:buNone/>
                      </a:pPr>
                      <a:r>
                        <a:rPr lang="en-US" altLang="zh-CN" sz="900" u="none" strike="noStrike">
                          <a:effectLst/>
                        </a:rPr>
                        <a:t>9</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上海</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1.037037037</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1.076923077</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2198882764"/>
                  </a:ext>
                </a:extLst>
              </a:tr>
              <a:tr h="166608">
                <a:tc>
                  <a:txBody>
                    <a:bodyPr/>
                    <a:lstStyle/>
                    <a:p>
                      <a:pPr algn="ctr" fontAlgn="ctr">
                        <a:buNone/>
                      </a:pPr>
                      <a:r>
                        <a:rPr lang="en-US" altLang="zh-CN" sz="900" u="none" strike="noStrike">
                          <a:effectLst/>
                        </a:rPr>
                        <a:t>10</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江苏</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0.9</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1.037037037</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1923790134"/>
                  </a:ext>
                </a:extLst>
              </a:tr>
              <a:tr h="166608">
                <a:tc>
                  <a:txBody>
                    <a:bodyPr/>
                    <a:lstStyle/>
                    <a:p>
                      <a:pPr algn="ctr" fontAlgn="ctr">
                        <a:buNone/>
                      </a:pPr>
                      <a:r>
                        <a:rPr lang="en-US" altLang="zh-CN" sz="900" u="none" strike="noStrike">
                          <a:effectLst/>
                        </a:rPr>
                        <a:t>11</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浙江</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388402074"/>
                  </a:ext>
                </a:extLst>
              </a:tr>
              <a:tr h="166608">
                <a:tc>
                  <a:txBody>
                    <a:bodyPr/>
                    <a:lstStyle/>
                    <a:p>
                      <a:pPr algn="ctr" fontAlgn="ctr">
                        <a:buNone/>
                      </a:pPr>
                      <a:r>
                        <a:rPr lang="en-US" altLang="zh-CN" sz="900" u="none" strike="noStrike">
                          <a:effectLst/>
                        </a:rPr>
                        <a:t>12</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安徽</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0.775</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1.037037037</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0.88</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3857750401"/>
                  </a:ext>
                </a:extLst>
              </a:tr>
              <a:tr h="166608">
                <a:tc>
                  <a:txBody>
                    <a:bodyPr/>
                    <a:lstStyle/>
                    <a:p>
                      <a:pPr algn="ctr" fontAlgn="ctr">
                        <a:buNone/>
                      </a:pPr>
                      <a:r>
                        <a:rPr lang="en-US" altLang="zh-CN" sz="900" u="none" strike="noStrike">
                          <a:effectLst/>
                        </a:rPr>
                        <a:t>13</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福建</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1135938901"/>
                  </a:ext>
                </a:extLst>
              </a:tr>
              <a:tr h="166608">
                <a:tc>
                  <a:txBody>
                    <a:bodyPr/>
                    <a:lstStyle/>
                    <a:p>
                      <a:pPr algn="ctr" fontAlgn="ctr">
                        <a:buNone/>
                      </a:pPr>
                      <a:r>
                        <a:rPr lang="en-US" altLang="zh-CN" sz="900" u="none" strike="noStrike">
                          <a:effectLst/>
                        </a:rPr>
                        <a:t>14</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江西</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a:effectLst/>
                        </a:rPr>
                        <a:t>0.915</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2319656204"/>
                  </a:ext>
                </a:extLst>
              </a:tr>
              <a:tr h="166608">
                <a:tc>
                  <a:txBody>
                    <a:bodyPr/>
                    <a:lstStyle/>
                    <a:p>
                      <a:pPr algn="ctr" fontAlgn="ctr">
                        <a:buNone/>
                      </a:pPr>
                      <a:r>
                        <a:rPr lang="en-US" altLang="zh-CN" sz="900" u="none" strike="noStrike">
                          <a:effectLst/>
                        </a:rPr>
                        <a:t>15</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山东</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0.65</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1.074074074</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1.138888889</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0.8</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1.046153846</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2477387577"/>
                  </a:ext>
                </a:extLst>
              </a:tr>
              <a:tr h="166608">
                <a:tc>
                  <a:txBody>
                    <a:bodyPr/>
                    <a:lstStyle/>
                    <a:p>
                      <a:pPr algn="ctr" fontAlgn="ctr">
                        <a:buNone/>
                      </a:pPr>
                      <a:r>
                        <a:rPr lang="en-US" altLang="zh-CN" sz="900" u="none" strike="noStrike">
                          <a:effectLst/>
                        </a:rPr>
                        <a:t>16</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河南</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1936427366"/>
                  </a:ext>
                </a:extLst>
              </a:tr>
              <a:tr h="166608">
                <a:tc>
                  <a:txBody>
                    <a:bodyPr/>
                    <a:lstStyle/>
                    <a:p>
                      <a:pPr algn="ctr" fontAlgn="ctr">
                        <a:buNone/>
                      </a:pPr>
                      <a:r>
                        <a:rPr lang="en-US" altLang="zh-CN" sz="900" u="none" strike="noStrike">
                          <a:effectLst/>
                        </a:rPr>
                        <a:t>17</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湖北</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3397889180"/>
                  </a:ext>
                </a:extLst>
              </a:tr>
              <a:tr h="166608">
                <a:tc>
                  <a:txBody>
                    <a:bodyPr/>
                    <a:lstStyle/>
                    <a:p>
                      <a:pPr algn="ctr" fontAlgn="ctr">
                        <a:buNone/>
                      </a:pPr>
                      <a:r>
                        <a:rPr lang="en-US" altLang="zh-CN" sz="900" u="none" strike="noStrike">
                          <a:effectLst/>
                        </a:rPr>
                        <a:t>18</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湖南</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1.1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3141687215"/>
                  </a:ext>
                </a:extLst>
              </a:tr>
              <a:tr h="166608">
                <a:tc>
                  <a:txBody>
                    <a:bodyPr/>
                    <a:lstStyle/>
                    <a:p>
                      <a:pPr algn="ctr" fontAlgn="ctr">
                        <a:buNone/>
                      </a:pPr>
                      <a:r>
                        <a:rPr lang="en-US" altLang="zh-CN" sz="900" u="none" strike="noStrike">
                          <a:effectLst/>
                        </a:rPr>
                        <a:t>19</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广东</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1.6</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1.4</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4126532250"/>
                  </a:ext>
                </a:extLst>
              </a:tr>
              <a:tr h="166608">
                <a:tc>
                  <a:txBody>
                    <a:bodyPr/>
                    <a:lstStyle/>
                    <a:p>
                      <a:pPr algn="ctr" fontAlgn="ctr">
                        <a:buNone/>
                      </a:pPr>
                      <a:r>
                        <a:rPr lang="en-US" altLang="zh-CN" sz="900" u="none" strike="noStrike">
                          <a:effectLst/>
                        </a:rPr>
                        <a:t>20</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广西</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1.5</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1.4</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402956714"/>
                  </a:ext>
                </a:extLst>
              </a:tr>
              <a:tr h="166608">
                <a:tc>
                  <a:txBody>
                    <a:bodyPr/>
                    <a:lstStyle/>
                    <a:p>
                      <a:pPr algn="ctr" fontAlgn="ctr">
                        <a:buNone/>
                      </a:pPr>
                      <a:r>
                        <a:rPr lang="en-US" altLang="zh-CN" sz="900" u="none" strike="noStrike">
                          <a:effectLst/>
                        </a:rPr>
                        <a:t>21</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海南</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1.1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2.16</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3481559148"/>
                  </a:ext>
                </a:extLst>
              </a:tr>
              <a:tr h="166608">
                <a:tc>
                  <a:txBody>
                    <a:bodyPr/>
                    <a:lstStyle/>
                    <a:p>
                      <a:pPr algn="ctr" fontAlgn="ctr">
                        <a:buNone/>
                      </a:pPr>
                      <a:r>
                        <a:rPr lang="en-US" altLang="zh-CN" sz="900" u="none" strike="noStrike">
                          <a:effectLst/>
                        </a:rPr>
                        <a:t>22</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重庆</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3012734000"/>
                  </a:ext>
                </a:extLst>
              </a:tr>
              <a:tr h="166608">
                <a:tc>
                  <a:txBody>
                    <a:bodyPr/>
                    <a:lstStyle/>
                    <a:p>
                      <a:pPr algn="ctr" fontAlgn="ctr">
                        <a:buNone/>
                      </a:pPr>
                      <a:r>
                        <a:rPr lang="en-US" altLang="zh-CN" sz="900" u="none" strike="noStrike">
                          <a:effectLst/>
                        </a:rPr>
                        <a:t>23</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四川</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2.075</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1.037037037</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1.74</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2526685164"/>
                  </a:ext>
                </a:extLst>
              </a:tr>
              <a:tr h="166608">
                <a:tc>
                  <a:txBody>
                    <a:bodyPr/>
                    <a:lstStyle/>
                    <a:p>
                      <a:pPr algn="ctr" fontAlgn="ctr">
                        <a:buNone/>
                      </a:pPr>
                      <a:r>
                        <a:rPr lang="en-US" altLang="zh-CN" sz="900" u="none" strike="noStrike">
                          <a:effectLst/>
                        </a:rPr>
                        <a:t>24</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贵州</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1.08</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15205269"/>
                  </a:ext>
                </a:extLst>
              </a:tr>
              <a:tr h="166608">
                <a:tc>
                  <a:txBody>
                    <a:bodyPr/>
                    <a:lstStyle/>
                    <a:p>
                      <a:pPr algn="ctr" fontAlgn="ctr">
                        <a:buNone/>
                      </a:pPr>
                      <a:r>
                        <a:rPr lang="en-US" altLang="zh-CN" sz="900" u="none" strike="noStrike">
                          <a:effectLst/>
                        </a:rPr>
                        <a:t>25</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云南</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118951471"/>
                  </a:ext>
                </a:extLst>
              </a:tr>
              <a:tr h="166608">
                <a:tc>
                  <a:txBody>
                    <a:bodyPr/>
                    <a:lstStyle/>
                    <a:p>
                      <a:pPr algn="ctr" fontAlgn="ctr">
                        <a:buNone/>
                      </a:pPr>
                      <a:r>
                        <a:rPr lang="en-US" altLang="zh-CN" sz="900" u="none" strike="noStrike">
                          <a:effectLst/>
                        </a:rPr>
                        <a:t>26</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陕西</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0.8</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0.8</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3063685028"/>
                  </a:ext>
                </a:extLst>
              </a:tr>
              <a:tr h="166608">
                <a:tc>
                  <a:txBody>
                    <a:bodyPr/>
                    <a:lstStyle/>
                    <a:p>
                      <a:pPr algn="ctr" fontAlgn="ctr">
                        <a:buNone/>
                      </a:pPr>
                      <a:r>
                        <a:rPr lang="en-US" altLang="zh-CN" sz="900" u="none" strike="noStrike">
                          <a:effectLst/>
                        </a:rPr>
                        <a:t>27</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甘肃</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1.5</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0.925925926</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1.4</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3860802055"/>
                  </a:ext>
                </a:extLst>
              </a:tr>
              <a:tr h="166608">
                <a:tc>
                  <a:txBody>
                    <a:bodyPr/>
                    <a:lstStyle/>
                    <a:p>
                      <a:pPr algn="ctr" fontAlgn="ctr">
                        <a:buNone/>
                      </a:pPr>
                      <a:r>
                        <a:rPr lang="en-US" altLang="zh-CN" sz="900" u="none" strike="noStrike">
                          <a:effectLst/>
                        </a:rPr>
                        <a:t>28</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青海</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2.61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2.2</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3053788731"/>
                  </a:ext>
                </a:extLst>
              </a:tr>
              <a:tr h="166608">
                <a:tc>
                  <a:txBody>
                    <a:bodyPr/>
                    <a:lstStyle/>
                    <a:p>
                      <a:pPr algn="ctr" fontAlgn="ctr">
                        <a:buNone/>
                      </a:pPr>
                      <a:r>
                        <a:rPr lang="en-US" altLang="zh-CN" sz="900" u="none" strike="noStrike">
                          <a:effectLst/>
                        </a:rPr>
                        <a:t>29</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宁夏</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1.2</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1931394736"/>
                  </a:ext>
                </a:extLst>
              </a:tr>
              <a:tr h="166608">
                <a:tc>
                  <a:txBody>
                    <a:bodyPr/>
                    <a:lstStyle/>
                    <a:p>
                      <a:pPr algn="ctr" fontAlgn="ctr">
                        <a:buNone/>
                      </a:pPr>
                      <a:r>
                        <a:rPr lang="en-US" altLang="zh-CN" sz="900" u="none" strike="noStrike">
                          <a:effectLst/>
                        </a:rPr>
                        <a:t>30</a:t>
                      </a:r>
                      <a:endParaRPr lang="en-US" altLang="zh-CN"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ctr" fontAlgn="ctr">
                        <a:buNone/>
                      </a:pPr>
                      <a:r>
                        <a:rPr lang="zh-CN" altLang="en-US" sz="900" u="none" strike="noStrike">
                          <a:effectLst/>
                        </a:rPr>
                        <a:t>新疆</a:t>
                      </a: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5893" marR="5893" marT="5893" marB="0" anchor="ctr"/>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a:effectLst/>
                        </a:rPr>
                        <a:t>1</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tc>
                  <a:txBody>
                    <a:bodyPr/>
                    <a:lstStyle/>
                    <a:p>
                      <a:pPr algn="r" fontAlgn="b">
                        <a:buNone/>
                      </a:pPr>
                      <a:r>
                        <a:rPr lang="en-US" altLang="zh-CN" sz="900" u="none" strike="noStrike" dirty="0">
                          <a:effectLst/>
                        </a:rPr>
                        <a:t>1</a:t>
                      </a:r>
                      <a:endParaRPr lang="en-US" altLang="zh-CN" sz="900" b="0" i="0" u="none" strike="noStrike" dirty="0">
                        <a:solidFill>
                          <a:srgbClr val="000000"/>
                        </a:solidFill>
                        <a:effectLst/>
                        <a:latin typeface="等线" panose="02010600030101010101" pitchFamily="2" charset="-122"/>
                        <a:ea typeface="等线" panose="02010600030101010101" pitchFamily="2" charset="-122"/>
                      </a:endParaRPr>
                    </a:p>
                  </a:txBody>
                  <a:tcPr marL="5893" marR="5893" marT="5893" marB="0" anchor="b"/>
                </a:tc>
                <a:extLst>
                  <a:ext uri="{0D108BD9-81ED-4DB2-BD59-A6C34878D82A}">
                    <a16:rowId xmlns:a16="http://schemas.microsoft.com/office/drawing/2014/main" val="88483973"/>
                  </a:ext>
                </a:extLst>
              </a:tr>
            </a:tbl>
          </a:graphicData>
        </a:graphic>
      </p:graphicFrame>
    </p:spTree>
    <p:extLst>
      <p:ext uri="{BB962C8B-B14F-4D97-AF65-F5344CB8AC3E}">
        <p14:creationId xmlns:p14="http://schemas.microsoft.com/office/powerpoint/2010/main" val="2531661391"/>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08A34-9C3B-4E08-D95B-EEBA40273BE9}"/>
            </a:ext>
          </a:extLst>
        </p:cNvPr>
        <p:cNvGrpSpPr/>
        <p:nvPr/>
      </p:nvGrpSpPr>
      <p:grpSpPr>
        <a:xfrm>
          <a:off x="0" y="0"/>
          <a:ext cx="0" cy="0"/>
          <a:chOff x="0" y="0"/>
          <a:chExt cx="0" cy="0"/>
        </a:xfrm>
      </p:grpSpPr>
      <p:pic>
        <p:nvPicPr>
          <p:cNvPr id="27" name="图片 26">
            <a:extLst>
              <a:ext uri="{FF2B5EF4-FFF2-40B4-BE49-F238E27FC236}">
                <a16:creationId xmlns:a16="http://schemas.microsoft.com/office/drawing/2014/main" id="{C90D3DA5-AB90-7AD5-942E-5A7D38639BD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717529" y="140750"/>
            <a:ext cx="7019929" cy="7019929"/>
          </a:xfrm>
          <a:prstGeom prst="rect">
            <a:avLst/>
          </a:prstGeom>
        </p:spPr>
      </p:pic>
      <p:sp>
        <p:nvSpPr>
          <p:cNvPr id="2" name="文本占位符 3">
            <a:extLst>
              <a:ext uri="{FF2B5EF4-FFF2-40B4-BE49-F238E27FC236}">
                <a16:creationId xmlns:a16="http://schemas.microsoft.com/office/drawing/2014/main" id="{82B2ECA0-937E-A3CB-3937-B472D782CF10}"/>
              </a:ext>
            </a:extLst>
          </p:cNvPr>
          <p:cNvSpPr txBox="1">
            <a:spLocks/>
          </p:cNvSpPr>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04</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19A02881-3DE7-8403-C781-37DD4300C973}"/>
              </a:ext>
            </a:extLst>
          </p:cNvPr>
          <p:cNvSpPr txBox="1">
            <a:spLocks/>
          </p:cNvSpPr>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总结</a:t>
            </a:r>
          </a:p>
        </p:txBody>
      </p:sp>
      <p:grpSp>
        <p:nvGrpSpPr>
          <p:cNvPr id="4" name="组合 3">
            <a:extLst>
              <a:ext uri="{FF2B5EF4-FFF2-40B4-BE49-F238E27FC236}">
                <a16:creationId xmlns:a16="http://schemas.microsoft.com/office/drawing/2014/main" id="{34634A19-0AB7-E70C-4DB4-A88826B016E6}"/>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29E77D9B-2D46-D8E5-0B8D-5730A410DCAF}"/>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E05E1B28-84E3-CF66-593B-D9883B9A4D77}"/>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a:extLst>
              <a:ext uri="{FF2B5EF4-FFF2-40B4-BE49-F238E27FC236}">
                <a16:creationId xmlns:a16="http://schemas.microsoft.com/office/drawing/2014/main" id="{D5FAC764-61E2-FDCA-7CCA-25C6F765BD7D}"/>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E954BF01-AF66-00D1-BC9F-10EEF86083B7}"/>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平行四边形 8">
              <a:extLst>
                <a:ext uri="{FF2B5EF4-FFF2-40B4-BE49-F238E27FC236}">
                  <a16:creationId xmlns:a16="http://schemas.microsoft.com/office/drawing/2014/main" id="{ACE1DFF9-8C52-7E1B-C595-256AE4B659F0}"/>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6" name="直接连接符 15">
            <a:extLst>
              <a:ext uri="{FF2B5EF4-FFF2-40B4-BE49-F238E27FC236}">
                <a16:creationId xmlns:a16="http://schemas.microsoft.com/office/drawing/2014/main" id="{052427B9-38FA-8B38-BBB9-C573F211FA5F}"/>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647004FB-34A4-B34D-24E5-7FAD1816457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79971CF7-FD83-BEEC-EFC1-D3FD809F9595}"/>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9913F30D-C725-3E3B-69B3-10B54FA09B3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7348C8F0-478E-2E34-89F6-80060DB1B2D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0392BA86-B326-43CA-8522-D6FD29D381C2}"/>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Tree>
    <p:extLst>
      <p:ext uri="{BB962C8B-B14F-4D97-AF65-F5344CB8AC3E}">
        <p14:creationId xmlns:p14="http://schemas.microsoft.com/office/powerpoint/2010/main" val="1952051194"/>
      </p:ext>
    </p:extLst>
  </p:cSld>
  <p:clrMapOvr>
    <a:masterClrMapping/>
  </p:clrMapOvr>
  <mc:AlternateContent xmlns:mc="http://schemas.openxmlformats.org/markup-compatibility/2006" xmlns:p14="http://schemas.microsoft.com/office/powerpoint/2010/main">
    <mc:Choice Requires="p14">
      <p:transition spd="slow" p14:dur="2000" advTm="737"/>
    </mc:Choice>
    <mc:Fallback xmlns="">
      <p:transition spd="slow" advTm="73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67899-81B2-9C4D-8EEE-59CE50565BA5}"/>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4E53090D-B376-DBFB-495F-88C2DA8F3CD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CFD0D844-14C1-5657-ECFC-A00496EF4A2F}"/>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B555D6EC-6503-1F2B-7F91-165A4C365FF6}"/>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7530AC45-A0F6-D012-505A-3CF0AF8BDDEF}"/>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23514638-9AEF-486E-62CC-EB8D7AB5DFAC}"/>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C6B59D07-E70A-0925-1980-C257C8EDAC46}"/>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总结</a:t>
            </a:r>
            <a:endParaRPr lang="zh-CN" altLang="zh-CN" sz="2400" dirty="0"/>
          </a:p>
        </p:txBody>
      </p:sp>
      <p:grpSp>
        <p:nvGrpSpPr>
          <p:cNvPr id="43" name="组合 42">
            <a:extLst>
              <a:ext uri="{FF2B5EF4-FFF2-40B4-BE49-F238E27FC236}">
                <a16:creationId xmlns:a16="http://schemas.microsoft.com/office/drawing/2014/main" id="{A8E19EB6-A939-B407-63E7-481E252D47BB}"/>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6721CB35-71BE-344F-018B-206459B5E21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CE7D3F33-9DDA-A223-CA2F-361CC8723C1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35E990E8-43C8-438E-3DEB-C5F3DB16D7C0}"/>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92C8009D-1B78-EA7A-3D69-D1D97B438B6B}"/>
              </a:ext>
            </a:extLst>
          </p:cNvPr>
          <p:cNvSpPr/>
          <p:nvPr/>
        </p:nvSpPr>
        <p:spPr>
          <a:xfrm>
            <a:off x="4953550" y="2743266"/>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3" name="文本框 2">
            <a:extLst>
              <a:ext uri="{FF2B5EF4-FFF2-40B4-BE49-F238E27FC236}">
                <a16:creationId xmlns:a16="http://schemas.microsoft.com/office/drawing/2014/main" id="{A550096D-BC33-90BD-6581-9672046AC66D}"/>
              </a:ext>
            </a:extLst>
          </p:cNvPr>
          <p:cNvSpPr txBox="1"/>
          <p:nvPr/>
        </p:nvSpPr>
        <p:spPr>
          <a:xfrm>
            <a:off x="621873" y="1763072"/>
            <a:ext cx="10673971" cy="4339650"/>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结论</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中央文件发布对能耗强度和碳排强度存在一定水平的显著冲击，能够减少碳排和能耗强度；而地方文件的后续发布反而没有表现进一步的冲击（存疑）。</a:t>
            </a:r>
            <a:br>
              <a:rPr lang="en-US" altLang="zh-CN" sz="1400" dirty="0">
                <a:latin typeface="微软雅黑" panose="020B0503020204020204" pitchFamily="34" charset="-122"/>
                <a:ea typeface="微软雅黑" panose="020B0503020204020204" pitchFamily="34" charset="-122"/>
              </a:rPr>
            </a:br>
            <a:r>
              <a:rPr lang="zh-CN" altLang="en-US" sz="1400" dirty="0">
                <a:latin typeface="微软雅黑" panose="020B0503020204020204" pitchFamily="34" charset="-122"/>
                <a:ea typeface="微软雅黑" panose="020B0503020204020204" pitchFamily="34" charset="-122"/>
              </a:rPr>
              <a:t>另一方面，发现地方在文本上（集中在 </a:t>
            </a:r>
            <a:r>
              <a:rPr lang="en-US" altLang="zh-CN" sz="1400" dirty="0">
                <a:latin typeface="微软雅黑" panose="020B0503020204020204" pitchFamily="34" charset="-122"/>
                <a:ea typeface="微软雅黑" panose="020B0503020204020204" pitchFamily="34" charset="-122"/>
              </a:rPr>
              <a:t>2022</a:t>
            </a:r>
            <a:r>
              <a:rPr lang="zh-CN" altLang="en-US" sz="1400" dirty="0">
                <a:latin typeface="微软雅黑" panose="020B0503020204020204" pitchFamily="34" charset="-122"/>
                <a:ea typeface="微软雅黑" panose="020B0503020204020204" pitchFamily="34" charset="-122"/>
              </a:rPr>
              <a:t>年</a:t>
            </a:r>
            <a:r>
              <a:rPr lang="en-US" altLang="zh-CN" sz="1400" dirty="0">
                <a:latin typeface="微软雅黑" panose="020B0503020204020204" pitchFamily="34" charset="-122"/>
                <a:ea typeface="微软雅黑" panose="020B0503020204020204" pitchFamily="34" charset="-122"/>
              </a:rPr>
              <a:t>6</a:t>
            </a:r>
            <a:r>
              <a:rPr lang="zh-CN" altLang="en-US" sz="1400" dirty="0">
                <a:latin typeface="微软雅黑" panose="020B0503020204020204" pitchFamily="34" charset="-122"/>
                <a:ea typeface="微软雅黑" panose="020B0503020204020204" pitchFamily="34" charset="-122"/>
              </a:rPr>
              <a:t>月 至 </a:t>
            </a:r>
            <a:r>
              <a:rPr lang="en-US" altLang="zh-CN" sz="1400" dirty="0">
                <a:latin typeface="微软雅黑" panose="020B0503020204020204" pitchFamily="34" charset="-122"/>
                <a:ea typeface="微软雅黑" panose="020B0503020204020204" pitchFamily="34" charset="-122"/>
              </a:rPr>
              <a:t>2023</a:t>
            </a:r>
            <a:r>
              <a:rPr lang="zh-CN" altLang="en-US" sz="1400" dirty="0">
                <a:latin typeface="微软雅黑" panose="020B0503020204020204" pitchFamily="34" charset="-122"/>
                <a:ea typeface="微软雅黑" panose="020B0503020204020204" pitchFamily="34" charset="-122"/>
              </a:rPr>
              <a:t>年初）对“非化石能源占比”指标信心不足，对应的，我们没有发现中央或地方文件的发布对非化石能源占比产生冲击；而当我们引入语调后，能够发现强语调能在一定水平上对非化石能源占比增长率有显著的正向冲击。</a:t>
            </a:r>
            <a:endParaRPr lang="en-US" altLang="zh-CN" sz="1400"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问题</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sz="1400" dirty="0">
                <a:solidFill>
                  <a:prstClr val="black"/>
                </a:solidFill>
                <a:latin typeface="微软雅黑" panose="020B0503020204020204" pitchFamily="34" charset="-122"/>
                <a:ea typeface="微软雅黑" panose="020B0503020204020204" pitchFamily="34" charset="-122"/>
              </a:rPr>
              <a:t>1.2023</a:t>
            </a:r>
            <a:r>
              <a:rPr lang="zh-CN" altLang="en-US" sz="1400" dirty="0">
                <a:solidFill>
                  <a:prstClr val="black"/>
                </a:solidFill>
                <a:latin typeface="微软雅黑" panose="020B0503020204020204" pitchFamily="34" charset="-122"/>
                <a:ea typeface="微软雅黑" panose="020B0503020204020204" pitchFamily="34" charset="-122"/>
              </a:rPr>
              <a:t>年数据比较紧张，而我们的政策发布时间恰好是卡在这段时间的</a:t>
            </a:r>
            <a:endParaRPr lang="en-US" altLang="zh-CN" sz="1400" dirty="0">
              <a:solidFill>
                <a:prstClr val="black"/>
              </a:solidFill>
              <a:latin typeface="微软雅黑" panose="020B0503020204020204" pitchFamily="34" charset="-122"/>
              <a:ea typeface="微软雅黑" panose="020B0503020204020204" pitchFamily="34" charset="-122"/>
            </a:endParaRPr>
          </a:p>
          <a:p>
            <a:endParaRPr lang="en-US" altLang="zh-CN" sz="1400" dirty="0">
              <a:solidFill>
                <a:prstClr val="black"/>
              </a:solidFill>
              <a:latin typeface="微软雅黑" panose="020B0503020204020204" pitchFamily="34" charset="-122"/>
              <a:ea typeface="微软雅黑" panose="020B0503020204020204" pitchFamily="34" charset="-122"/>
            </a:endParaRPr>
          </a:p>
          <a:p>
            <a:r>
              <a:rPr lang="en-US" altLang="zh-CN" sz="1400" dirty="0">
                <a:solidFill>
                  <a:prstClr val="black"/>
                </a:solidFill>
                <a:latin typeface="微软雅黑" panose="020B0503020204020204" pitchFamily="34" charset="-122"/>
                <a:ea typeface="微软雅黑" panose="020B0503020204020204" pitchFamily="34" charset="-122"/>
              </a:rPr>
              <a:t>2.</a:t>
            </a:r>
            <a:r>
              <a:rPr lang="zh-CN" altLang="en-US" sz="1400" dirty="0">
                <a:solidFill>
                  <a:prstClr val="black"/>
                </a:solidFill>
                <a:latin typeface="微软雅黑" panose="020B0503020204020204" pitchFamily="34" charset="-122"/>
                <a:ea typeface="微软雅黑" panose="020B0503020204020204" pitchFamily="34" charset="-122"/>
              </a:rPr>
              <a:t>被解释变量</a:t>
            </a:r>
            <a:r>
              <a:rPr lang="en-US" altLang="zh-CN" sz="1400" dirty="0">
                <a:solidFill>
                  <a:prstClr val="black"/>
                </a:solidFill>
                <a:latin typeface="微软雅黑" panose="020B0503020204020204" pitchFamily="34" charset="-122"/>
                <a:ea typeface="微软雅黑" panose="020B0503020204020204" pitchFamily="34" charset="-122"/>
              </a:rPr>
              <a:t>2</a:t>
            </a:r>
            <a:r>
              <a:rPr lang="zh-CN" altLang="en-US" sz="1400" dirty="0">
                <a:solidFill>
                  <a:prstClr val="black"/>
                </a:solidFill>
                <a:latin typeface="微软雅黑" panose="020B0503020204020204" pitchFamily="34" charset="-122"/>
                <a:ea typeface="微软雅黑" panose="020B0503020204020204" pitchFamily="34" charset="-122"/>
              </a:rPr>
              <a:t>维，解释变量有</a:t>
            </a:r>
            <a:r>
              <a:rPr lang="en-US" altLang="zh-CN" sz="1400" dirty="0">
                <a:solidFill>
                  <a:prstClr val="black"/>
                </a:solidFill>
                <a:latin typeface="微软雅黑" panose="020B0503020204020204" pitchFamily="34" charset="-122"/>
                <a:ea typeface="微软雅黑" panose="020B0503020204020204" pitchFamily="34" charset="-122"/>
              </a:rPr>
              <a:t>3</a:t>
            </a:r>
            <a:r>
              <a:rPr lang="zh-CN" altLang="en-US" sz="1400" dirty="0">
                <a:solidFill>
                  <a:prstClr val="black"/>
                </a:solidFill>
                <a:latin typeface="微软雅黑" panose="020B0503020204020204" pitchFamily="34" charset="-122"/>
                <a:ea typeface="微软雅黑" panose="020B0503020204020204" pitchFamily="34" charset="-122"/>
              </a:rPr>
              <a:t>维，目前是把解释变量固定在一个主题下，但不知道怎么把多个主题的解释变量用起来，这也导致了我们的数据比较有限（当然，如果多主题用起来后，预计会导致多期交错、</a:t>
            </a:r>
            <a:r>
              <a:rPr lang="en-US" altLang="zh-CN" sz="1400" dirty="0">
                <a:solidFill>
                  <a:prstClr val="black"/>
                </a:solidFill>
                <a:latin typeface="微软雅黑" panose="020B0503020204020204" pitchFamily="34" charset="-122"/>
                <a:ea typeface="微软雅黑" panose="020B0503020204020204" pitchFamily="34" charset="-122"/>
              </a:rPr>
              <a:t>2023/2024</a:t>
            </a:r>
            <a:r>
              <a:rPr lang="zh-CN" altLang="en-US" sz="1400" dirty="0">
                <a:solidFill>
                  <a:prstClr val="black"/>
                </a:solidFill>
                <a:latin typeface="微软雅黑" panose="020B0503020204020204" pitchFamily="34" charset="-122"/>
                <a:ea typeface="微软雅黑" panose="020B0503020204020204" pitchFamily="34" charset="-122"/>
              </a:rPr>
              <a:t>数据缺失、模型设置等新的问题）</a:t>
            </a:r>
            <a:endParaRPr lang="en-US" altLang="zh-CN" sz="1400" dirty="0">
              <a:solidFill>
                <a:prstClr val="black"/>
              </a:solidFill>
              <a:latin typeface="微软雅黑" panose="020B0503020204020204" pitchFamily="34" charset="-122"/>
              <a:ea typeface="微软雅黑" panose="020B0503020204020204" pitchFamily="34" charset="-122"/>
            </a:endParaRPr>
          </a:p>
          <a:p>
            <a:endParaRPr lang="en-US" altLang="zh-CN" sz="1400" dirty="0">
              <a:solidFill>
                <a:prstClr val="black"/>
              </a:solidFill>
              <a:latin typeface="微软雅黑" panose="020B0503020204020204" pitchFamily="34" charset="-122"/>
              <a:ea typeface="微软雅黑" panose="020B0503020204020204" pitchFamily="34" charset="-122"/>
            </a:endParaRPr>
          </a:p>
          <a:p>
            <a:r>
              <a:rPr lang="en-US" altLang="zh-CN" sz="1400" dirty="0">
                <a:solidFill>
                  <a:prstClr val="black"/>
                </a:solidFill>
                <a:latin typeface="微软雅黑" panose="020B0503020204020204" pitchFamily="34" charset="-122"/>
                <a:ea typeface="微软雅黑" panose="020B0503020204020204" pitchFamily="34" charset="-122"/>
              </a:rPr>
              <a:t>3.</a:t>
            </a:r>
            <a:r>
              <a:rPr lang="zh-CN" altLang="en-US" sz="1400" dirty="0">
                <a:solidFill>
                  <a:prstClr val="black"/>
                </a:solidFill>
                <a:latin typeface="微软雅黑" panose="020B0503020204020204" pitchFamily="34" charset="-122"/>
                <a:ea typeface="微软雅黑" panose="020B0503020204020204" pitchFamily="34" charset="-122"/>
              </a:rPr>
              <a:t>控制变量没有进行考虑</a:t>
            </a:r>
            <a:endParaRPr lang="en-US" altLang="zh-CN" sz="1400" dirty="0">
              <a:solidFill>
                <a:prstClr val="black"/>
              </a:solidFill>
              <a:latin typeface="微软雅黑" panose="020B0503020204020204" pitchFamily="34" charset="-122"/>
              <a:ea typeface="微软雅黑" panose="020B0503020204020204" pitchFamily="34" charset="-122"/>
            </a:endParaRPr>
          </a:p>
          <a:p>
            <a:endParaRPr lang="en-US" altLang="zh-CN" sz="1400" dirty="0">
              <a:solidFill>
                <a:prstClr val="black"/>
              </a:solidFill>
              <a:latin typeface="微软雅黑" panose="020B0503020204020204" pitchFamily="34" charset="-122"/>
              <a:ea typeface="微软雅黑" panose="020B0503020204020204" pitchFamily="34" charset="-122"/>
            </a:endParaRPr>
          </a:p>
          <a:p>
            <a:r>
              <a:rPr lang="en-US" altLang="zh-CN" sz="1400" dirty="0">
                <a:solidFill>
                  <a:prstClr val="black"/>
                </a:solidFill>
                <a:latin typeface="微软雅黑" panose="020B0503020204020204" pitchFamily="34" charset="-122"/>
                <a:ea typeface="微软雅黑" panose="020B0503020204020204" pitchFamily="34" charset="-122"/>
              </a:rPr>
              <a:t>4.</a:t>
            </a:r>
            <a:r>
              <a:rPr lang="zh-CN" altLang="en-US" sz="1400" dirty="0">
                <a:solidFill>
                  <a:prstClr val="black"/>
                </a:solidFill>
                <a:latin typeface="微软雅黑" panose="020B0503020204020204" pitchFamily="34" charset="-122"/>
                <a:ea typeface="微软雅黑" panose="020B0503020204020204" pitchFamily="34" charset="-122"/>
              </a:rPr>
              <a:t>暂时还没有做安慰剂检验，不过之前自己算的时候有试过，完整去做应该也很快</a:t>
            </a:r>
            <a:r>
              <a:rPr lang="en-US" altLang="zh-CN"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05495289"/>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974FAECE-52C2-4A19-98CB-143BFA01D67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764852" y="1350313"/>
            <a:ext cx="6117528" cy="6117528"/>
          </a:xfrm>
          <a:prstGeom prst="rect">
            <a:avLst/>
          </a:prstGeom>
        </p:spPr>
      </p:pic>
      <p:pic>
        <p:nvPicPr>
          <p:cNvPr id="8" name="图片 7">
            <a:extLst>
              <a:ext uri="{FF2B5EF4-FFF2-40B4-BE49-F238E27FC236}">
                <a16:creationId xmlns:a16="http://schemas.microsoft.com/office/drawing/2014/main" id="{FE573614-05E6-400F-AF88-EA6961E0832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91345" y="116631"/>
            <a:ext cx="11809308" cy="5226782"/>
          </a:xfrm>
          <a:prstGeom prst="rect">
            <a:avLst/>
          </a:prstGeom>
        </p:spPr>
      </p:pic>
      <p:sp>
        <p:nvSpPr>
          <p:cNvPr id="7" name="矩形 6">
            <a:extLst>
              <a:ext uri="{FF2B5EF4-FFF2-40B4-BE49-F238E27FC236}">
                <a16:creationId xmlns:a16="http://schemas.microsoft.com/office/drawing/2014/main" id="{C9FC9252-9697-4073-AFE0-28B73C8FCF98}"/>
              </a:ext>
            </a:extLst>
          </p:cNvPr>
          <p:cNvSpPr/>
          <p:nvPr/>
        </p:nvSpPr>
        <p:spPr>
          <a:xfrm>
            <a:off x="191345" y="116631"/>
            <a:ext cx="11809309" cy="5226782"/>
          </a:xfrm>
          <a:prstGeom prst="rect">
            <a:avLst/>
          </a:prstGeom>
          <a:solidFill>
            <a:srgbClr val="024282">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5" name="文本占位符 30">
            <a:extLst>
              <a:ext uri="{FF2B5EF4-FFF2-40B4-BE49-F238E27FC236}">
                <a16:creationId xmlns:a16="http://schemas.microsoft.com/office/drawing/2014/main" id="{AEC1EBF5-5340-4DC9-8A70-4D38A7CD9401}"/>
              </a:ext>
            </a:extLst>
          </p:cNvPr>
          <p:cNvSpPr txBox="1">
            <a:spLocks/>
          </p:cNvSpPr>
          <p:nvPr/>
        </p:nvSpPr>
        <p:spPr>
          <a:xfrm>
            <a:off x="3121932"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汇报人：清北情报站</a:t>
            </a:r>
          </a:p>
        </p:txBody>
      </p:sp>
      <p:sp>
        <p:nvSpPr>
          <p:cNvPr id="16" name="文本占位符 31">
            <a:extLst>
              <a:ext uri="{FF2B5EF4-FFF2-40B4-BE49-F238E27FC236}">
                <a16:creationId xmlns:a16="http://schemas.microsoft.com/office/drawing/2014/main" id="{DF081BEA-0677-4367-99A9-244DBE9DC50B}"/>
              </a:ext>
            </a:extLst>
          </p:cNvPr>
          <p:cNvSpPr txBox="1">
            <a:spLocks/>
          </p:cNvSpPr>
          <p:nvPr/>
        </p:nvSpPr>
        <p:spPr>
          <a:xfrm>
            <a:off x="6460218"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指导老师：公众号</a:t>
            </a:r>
          </a:p>
        </p:txBody>
      </p:sp>
      <p:grpSp>
        <p:nvGrpSpPr>
          <p:cNvPr id="19" name="组合 18">
            <a:extLst>
              <a:ext uri="{FF2B5EF4-FFF2-40B4-BE49-F238E27FC236}">
                <a16:creationId xmlns:a16="http://schemas.microsoft.com/office/drawing/2014/main" id="{84995886-2C45-43AA-97AB-D7F04D61C9DF}"/>
              </a:ext>
            </a:extLst>
          </p:cNvPr>
          <p:cNvGrpSpPr/>
          <p:nvPr/>
        </p:nvGrpSpPr>
        <p:grpSpPr>
          <a:xfrm>
            <a:off x="3879975" y="1131474"/>
            <a:ext cx="4918925" cy="1253932"/>
            <a:chOff x="751446" y="486412"/>
            <a:chExt cx="4918925" cy="1253932"/>
          </a:xfrm>
        </p:grpSpPr>
        <p:pic>
          <p:nvPicPr>
            <p:cNvPr id="21" name="图片 20">
              <a:extLst>
                <a:ext uri="{FF2B5EF4-FFF2-40B4-BE49-F238E27FC236}">
                  <a16:creationId xmlns:a16="http://schemas.microsoft.com/office/drawing/2014/main" id="{06EB3F4A-6D0E-42C9-A048-FCD40EC7438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751446" y="486412"/>
              <a:ext cx="1253932" cy="1253932"/>
            </a:xfrm>
            <a:prstGeom prst="rect">
              <a:avLst/>
            </a:prstGeom>
          </p:spPr>
        </p:pic>
        <p:pic>
          <p:nvPicPr>
            <p:cNvPr id="22" name="图片 21">
              <a:extLst>
                <a:ext uri="{FF2B5EF4-FFF2-40B4-BE49-F238E27FC236}">
                  <a16:creationId xmlns:a16="http://schemas.microsoft.com/office/drawing/2014/main" id="{EB2FA68D-EEA8-4FAB-AD8F-D4B373F2EC66}"/>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960350" y="609785"/>
              <a:ext cx="3710021" cy="607920"/>
            </a:xfrm>
            <a:prstGeom prst="rect">
              <a:avLst/>
            </a:prstGeom>
          </p:spPr>
        </p:pic>
        <p:sp>
          <p:nvSpPr>
            <p:cNvPr id="23" name="矩形 22">
              <a:extLst>
                <a:ext uri="{FF2B5EF4-FFF2-40B4-BE49-F238E27FC236}">
                  <a16:creationId xmlns:a16="http://schemas.microsoft.com/office/drawing/2014/main" id="{3B0BCE8E-261E-425C-A6BF-96341D5501E7}"/>
                </a:ext>
              </a:extLst>
            </p:cNvPr>
            <p:cNvSpPr/>
            <p:nvPr/>
          </p:nvSpPr>
          <p:spPr>
            <a:xfrm>
              <a:off x="2167394" y="1226892"/>
              <a:ext cx="3502977" cy="307777"/>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BEIHANG UNIVERSITY</a:t>
              </a:r>
              <a:endParaRPr kumimoji="0" lang="zh-CN" altLang="en-US" sz="14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sp>
        <p:nvSpPr>
          <p:cNvPr id="18" name="文本占位符 24">
            <a:extLst>
              <a:ext uri="{FF2B5EF4-FFF2-40B4-BE49-F238E27FC236}">
                <a16:creationId xmlns:a16="http://schemas.microsoft.com/office/drawing/2014/main" id="{ED6A891B-380D-485C-811B-DDFCE0E349F9}"/>
              </a:ext>
            </a:extLst>
          </p:cNvPr>
          <p:cNvSpPr txBox="1">
            <a:spLocks/>
          </p:cNvSpPr>
          <p:nvPr/>
        </p:nvSpPr>
        <p:spPr>
          <a:xfrm>
            <a:off x="191347" y="2324320"/>
            <a:ext cx="11809308" cy="141560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54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zh-CN" altLang="en-US" sz="72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  汇报结束  感谢聆听</a:t>
            </a:r>
            <a:r>
              <a:rPr kumimoji="0" lang="zh-CN" altLang="en-US" sz="7200" b="1" i="1"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a:t>
            </a:r>
          </a:p>
        </p:txBody>
      </p:sp>
      <p:cxnSp>
        <p:nvCxnSpPr>
          <p:cNvPr id="26" name="直接连接符 25">
            <a:extLst>
              <a:ext uri="{FF2B5EF4-FFF2-40B4-BE49-F238E27FC236}">
                <a16:creationId xmlns:a16="http://schemas.microsoft.com/office/drawing/2014/main" id="{800128EB-8591-4195-ACEA-9A766601615E}"/>
              </a:ext>
            </a:extLst>
          </p:cNvPr>
          <p:cNvCxnSpPr/>
          <p:nvPr/>
        </p:nvCxnSpPr>
        <p:spPr>
          <a:xfrm>
            <a:off x="2567608" y="3888438"/>
            <a:ext cx="691276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7" name="图片 26">
            <a:extLst>
              <a:ext uri="{FF2B5EF4-FFF2-40B4-BE49-F238E27FC236}">
                <a16:creationId xmlns:a16="http://schemas.microsoft.com/office/drawing/2014/main" id="{638E0185-FC14-44BE-92F4-520A043919DA}"/>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2039657" y="4040776"/>
            <a:ext cx="8112685" cy="734387"/>
          </a:xfrm>
          <a:prstGeom prst="rect">
            <a:avLst/>
          </a:prstGeom>
        </p:spPr>
      </p:pic>
    </p:spTree>
    <p:extLst>
      <p:ext uri="{BB962C8B-B14F-4D97-AF65-F5344CB8AC3E}">
        <p14:creationId xmlns:p14="http://schemas.microsoft.com/office/powerpoint/2010/main" val="3586167622"/>
      </p:ext>
    </p:extLst>
  </p:cSld>
  <p:clrMapOvr>
    <a:masterClrMapping/>
  </p:clrMapOvr>
  <mc:AlternateContent xmlns:mc="http://schemas.openxmlformats.org/markup-compatibility/2006" xmlns:p14="http://schemas.microsoft.com/office/powerpoint/2010/main">
    <mc:Choice Requires="p14">
      <p:transition spd="slow" p14:dur="2000" advTm="1198"/>
    </mc:Choice>
    <mc:Fallback xmlns="">
      <p:transition spd="slow" advTm="1198"/>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9421F-B7BC-0B0E-AF88-DC755B160770}"/>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78BDCCB6-49F2-6A50-5602-EC4ECBDF5CF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78DE0E53-B23D-1B90-A582-4B96F6084F4A}"/>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8BD5A910-F715-065F-934E-40D2AA0AA44B}"/>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F606EABA-A2CB-2798-9E61-1E355661D781}"/>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C3B99704-D9E6-C01E-A2F6-C866A4905588}"/>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B7A92D8E-8B92-14BD-AC18-238D7B303AAA}"/>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结果</a:t>
            </a:r>
            <a:endParaRPr lang="zh-CN" altLang="zh-CN" sz="2400" dirty="0"/>
          </a:p>
        </p:txBody>
      </p:sp>
      <p:grpSp>
        <p:nvGrpSpPr>
          <p:cNvPr id="43" name="组合 42">
            <a:extLst>
              <a:ext uri="{FF2B5EF4-FFF2-40B4-BE49-F238E27FC236}">
                <a16:creationId xmlns:a16="http://schemas.microsoft.com/office/drawing/2014/main" id="{60DF54AA-A23F-B592-B67B-91F84F09B4BE}"/>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57F720C6-6A8D-F698-5DA5-B18DE2A598A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D8E7F7E0-368B-938A-0F8E-84FD6806C8DD}"/>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8673A61C-2316-336D-B98B-323CDB74B083}"/>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DBA39A22-580A-CAFD-F37B-ABA23F016244}"/>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5C60425C-179A-F703-59F1-10207F7719FF}"/>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 name="图片 1">
            <a:extLst>
              <a:ext uri="{FF2B5EF4-FFF2-40B4-BE49-F238E27FC236}">
                <a16:creationId xmlns:a16="http://schemas.microsoft.com/office/drawing/2014/main" id="{EE7547BA-AA16-6C97-8279-04FDF605F947}"/>
              </a:ext>
            </a:extLst>
          </p:cNvPr>
          <p:cNvPicPr>
            <a:picLocks noChangeAspect="1"/>
          </p:cNvPicPr>
          <p:nvPr/>
        </p:nvPicPr>
        <p:blipFill>
          <a:blip r:embed="rId6"/>
          <a:stretch>
            <a:fillRect/>
          </a:stretch>
        </p:blipFill>
        <p:spPr>
          <a:xfrm>
            <a:off x="745924" y="2464641"/>
            <a:ext cx="5274310" cy="2117725"/>
          </a:xfrm>
          <a:prstGeom prst="rect">
            <a:avLst/>
          </a:prstGeom>
        </p:spPr>
      </p:pic>
      <p:pic>
        <p:nvPicPr>
          <p:cNvPr id="3" name="图片 2">
            <a:extLst>
              <a:ext uri="{FF2B5EF4-FFF2-40B4-BE49-F238E27FC236}">
                <a16:creationId xmlns:a16="http://schemas.microsoft.com/office/drawing/2014/main" id="{60D4DA51-4D36-28A4-C2EB-307BD2B0E948}"/>
              </a:ext>
            </a:extLst>
          </p:cNvPr>
          <p:cNvPicPr>
            <a:picLocks noChangeAspect="1"/>
          </p:cNvPicPr>
          <p:nvPr/>
        </p:nvPicPr>
        <p:blipFill>
          <a:blip r:embed="rId7"/>
          <a:stretch>
            <a:fillRect/>
          </a:stretch>
        </p:blipFill>
        <p:spPr>
          <a:xfrm>
            <a:off x="6517050" y="2373872"/>
            <a:ext cx="5274310" cy="2571115"/>
          </a:xfrm>
          <a:prstGeom prst="rect">
            <a:avLst/>
          </a:prstGeom>
        </p:spPr>
      </p:pic>
    </p:spTree>
    <p:extLst>
      <p:ext uri="{BB962C8B-B14F-4D97-AF65-F5344CB8AC3E}">
        <p14:creationId xmlns:p14="http://schemas.microsoft.com/office/powerpoint/2010/main" val="4252187342"/>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F3A6C-F1B5-7B55-C0AE-4E1EC2E4B440}"/>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5718D12D-7E07-1283-0EE5-71B68494436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D3613801-7A17-3197-0B81-D5A156EB4B8A}"/>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F76A741C-7F68-B316-CA1A-E4013699C005}"/>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60ECABC-8A1C-6F5F-DF1B-A24751FBADC2}"/>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231B5CB4-3486-1512-9701-1D189BD4693B}"/>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357CC15B-72B0-E0B2-510E-E0D4E82315E7}"/>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结果</a:t>
            </a:r>
            <a:endParaRPr lang="zh-CN" altLang="zh-CN" sz="2400" dirty="0"/>
          </a:p>
        </p:txBody>
      </p:sp>
      <p:grpSp>
        <p:nvGrpSpPr>
          <p:cNvPr id="43" name="组合 42">
            <a:extLst>
              <a:ext uri="{FF2B5EF4-FFF2-40B4-BE49-F238E27FC236}">
                <a16:creationId xmlns:a16="http://schemas.microsoft.com/office/drawing/2014/main" id="{8DDED686-22AC-B516-D66D-0B057E35495C}"/>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4D066613-877F-9672-D612-33588DD2C51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5D9F049F-981B-9F0B-0759-59DCE9C2AC9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9AC952C6-50F7-64C6-CBB1-DD605F6FB1B1}"/>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C08EFB54-8CE5-F70F-17DE-26640A8AF308}"/>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7CA711EC-956A-3742-D541-6C5D63A11B8A}"/>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 name="图片 7">
            <a:extLst>
              <a:ext uri="{FF2B5EF4-FFF2-40B4-BE49-F238E27FC236}">
                <a16:creationId xmlns:a16="http://schemas.microsoft.com/office/drawing/2014/main" id="{128A1A1B-5F5A-BFB4-A6E6-A4AC2050A81E}"/>
              </a:ext>
            </a:extLst>
          </p:cNvPr>
          <p:cNvPicPr>
            <a:picLocks noChangeAspect="1"/>
          </p:cNvPicPr>
          <p:nvPr/>
        </p:nvPicPr>
        <p:blipFill>
          <a:blip r:embed="rId6"/>
          <a:stretch>
            <a:fillRect/>
          </a:stretch>
        </p:blipFill>
        <p:spPr>
          <a:xfrm>
            <a:off x="751979" y="2693241"/>
            <a:ext cx="5274310" cy="2148840"/>
          </a:xfrm>
          <a:prstGeom prst="rect">
            <a:avLst/>
          </a:prstGeom>
        </p:spPr>
      </p:pic>
      <p:pic>
        <p:nvPicPr>
          <p:cNvPr id="9" name="图片 8">
            <a:extLst>
              <a:ext uri="{FF2B5EF4-FFF2-40B4-BE49-F238E27FC236}">
                <a16:creationId xmlns:a16="http://schemas.microsoft.com/office/drawing/2014/main" id="{75F271F8-8240-05EC-203B-7F249E3E0524}"/>
              </a:ext>
            </a:extLst>
          </p:cNvPr>
          <p:cNvPicPr>
            <a:picLocks noChangeAspect="1"/>
          </p:cNvPicPr>
          <p:nvPr/>
        </p:nvPicPr>
        <p:blipFill>
          <a:blip r:embed="rId7"/>
          <a:stretch>
            <a:fillRect/>
          </a:stretch>
        </p:blipFill>
        <p:spPr>
          <a:xfrm>
            <a:off x="6481685" y="2174763"/>
            <a:ext cx="5274310" cy="3185795"/>
          </a:xfrm>
          <a:prstGeom prst="rect">
            <a:avLst/>
          </a:prstGeom>
        </p:spPr>
      </p:pic>
    </p:spTree>
    <p:extLst>
      <p:ext uri="{BB962C8B-B14F-4D97-AF65-F5344CB8AC3E}">
        <p14:creationId xmlns:p14="http://schemas.microsoft.com/office/powerpoint/2010/main" val="248878817"/>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5D3D7-7AC4-92B6-C55D-D4F054CF436F}"/>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B1B798CE-2781-5C54-F904-993230A1CF7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9A2A3989-79DE-9284-861F-780DF68858D7}"/>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4D1360EF-B6F6-D666-31A5-DC8301143971}"/>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6BE4210F-FECD-DD49-35D6-E00B71B98F72}"/>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CDDCB84E-2AEB-31F1-6319-B987BC0EECFD}"/>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FB187396-E5EF-5E23-9FBE-AD535FDAE721}"/>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结果</a:t>
            </a:r>
            <a:endParaRPr lang="zh-CN" altLang="zh-CN" sz="2400" dirty="0"/>
          </a:p>
        </p:txBody>
      </p:sp>
      <p:grpSp>
        <p:nvGrpSpPr>
          <p:cNvPr id="43" name="组合 42">
            <a:extLst>
              <a:ext uri="{FF2B5EF4-FFF2-40B4-BE49-F238E27FC236}">
                <a16:creationId xmlns:a16="http://schemas.microsoft.com/office/drawing/2014/main" id="{1DC75151-DFA1-3D5D-E0FD-913B0115E69B}"/>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01EDD96E-B201-519D-5F5C-2DC6E547179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FD52FD92-E5F4-1C15-5D74-D7782440D67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1CBBDA5E-30C4-5A5B-5645-279BCA5A9B0A}"/>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5DFD3086-DED8-8A62-DF6E-069FE7FADFEA}"/>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106C2A5D-BC32-DF26-C82B-9BAE4DAC02E4}"/>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 name="图片 1">
            <a:extLst>
              <a:ext uri="{FF2B5EF4-FFF2-40B4-BE49-F238E27FC236}">
                <a16:creationId xmlns:a16="http://schemas.microsoft.com/office/drawing/2014/main" id="{89C6CC66-3995-8B0E-81A3-8940F126BCF9}"/>
              </a:ext>
            </a:extLst>
          </p:cNvPr>
          <p:cNvPicPr>
            <a:picLocks noChangeAspect="1"/>
          </p:cNvPicPr>
          <p:nvPr/>
        </p:nvPicPr>
        <p:blipFill>
          <a:blip r:embed="rId6"/>
          <a:stretch>
            <a:fillRect/>
          </a:stretch>
        </p:blipFill>
        <p:spPr>
          <a:xfrm>
            <a:off x="628848" y="889940"/>
            <a:ext cx="5274310" cy="2773680"/>
          </a:xfrm>
          <a:prstGeom prst="rect">
            <a:avLst/>
          </a:prstGeom>
        </p:spPr>
      </p:pic>
      <p:pic>
        <p:nvPicPr>
          <p:cNvPr id="3" name="图片 2">
            <a:extLst>
              <a:ext uri="{FF2B5EF4-FFF2-40B4-BE49-F238E27FC236}">
                <a16:creationId xmlns:a16="http://schemas.microsoft.com/office/drawing/2014/main" id="{FF79A498-AB72-3861-77FC-773552792773}"/>
              </a:ext>
            </a:extLst>
          </p:cNvPr>
          <p:cNvPicPr>
            <a:picLocks noChangeAspect="1"/>
          </p:cNvPicPr>
          <p:nvPr/>
        </p:nvPicPr>
        <p:blipFill>
          <a:blip r:embed="rId7"/>
          <a:stretch>
            <a:fillRect/>
          </a:stretch>
        </p:blipFill>
        <p:spPr>
          <a:xfrm>
            <a:off x="6288842" y="1030247"/>
            <a:ext cx="5274310" cy="2838450"/>
          </a:xfrm>
          <a:prstGeom prst="rect">
            <a:avLst/>
          </a:prstGeom>
        </p:spPr>
      </p:pic>
    </p:spTree>
    <p:extLst>
      <p:ext uri="{BB962C8B-B14F-4D97-AF65-F5344CB8AC3E}">
        <p14:creationId xmlns:p14="http://schemas.microsoft.com/office/powerpoint/2010/main" val="1777408876"/>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5885D-7B51-6768-665F-9E7CA49DD618}"/>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6AD7E22B-A96E-90F3-B865-213BC3F07A5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3FA38F4D-9A54-1D12-7E8D-6DC0CE4EDE8A}"/>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FF4104A3-391A-7AA8-BC52-B9B7390CF1D0}"/>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407FE9-12F3-FC0B-BC2D-CC4F64C74077}"/>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15EFBAA5-A872-9D4B-9E3E-DBFE3E2B9755}"/>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D2F5413F-2909-AF61-7EFB-2AA14C815753}"/>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结果</a:t>
            </a:r>
            <a:endParaRPr lang="zh-CN" altLang="zh-CN" sz="2400" dirty="0"/>
          </a:p>
        </p:txBody>
      </p:sp>
      <p:grpSp>
        <p:nvGrpSpPr>
          <p:cNvPr id="43" name="组合 42">
            <a:extLst>
              <a:ext uri="{FF2B5EF4-FFF2-40B4-BE49-F238E27FC236}">
                <a16:creationId xmlns:a16="http://schemas.microsoft.com/office/drawing/2014/main" id="{E356CA37-F671-F30C-74EF-16279E9292CE}"/>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A6F25A0-78ED-3351-FA52-BDF603538B3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2C1B24B5-315A-D1C2-B3A0-E3C6EAC2478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8258BC2D-2173-7080-41BB-8E799BE8A6B2}"/>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464BF9C6-07BF-9F08-37AE-73559B10FE82}"/>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68348647-0078-6732-AB07-C2535D40A09B}"/>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 name="图片 7">
            <a:extLst>
              <a:ext uri="{FF2B5EF4-FFF2-40B4-BE49-F238E27FC236}">
                <a16:creationId xmlns:a16="http://schemas.microsoft.com/office/drawing/2014/main" id="{EF96EE7C-2664-AF9D-AA1C-172F3160D68F}"/>
              </a:ext>
            </a:extLst>
          </p:cNvPr>
          <p:cNvPicPr>
            <a:picLocks noChangeAspect="1"/>
          </p:cNvPicPr>
          <p:nvPr/>
        </p:nvPicPr>
        <p:blipFill>
          <a:blip r:embed="rId6"/>
          <a:stretch>
            <a:fillRect/>
          </a:stretch>
        </p:blipFill>
        <p:spPr>
          <a:xfrm>
            <a:off x="367840" y="912419"/>
            <a:ext cx="5274310" cy="2922905"/>
          </a:xfrm>
          <a:prstGeom prst="rect">
            <a:avLst/>
          </a:prstGeom>
        </p:spPr>
      </p:pic>
      <p:pic>
        <p:nvPicPr>
          <p:cNvPr id="9" name="图片 8">
            <a:extLst>
              <a:ext uri="{FF2B5EF4-FFF2-40B4-BE49-F238E27FC236}">
                <a16:creationId xmlns:a16="http://schemas.microsoft.com/office/drawing/2014/main" id="{8A954DCA-1A60-C544-D728-8A3E389E12A5}"/>
              </a:ext>
            </a:extLst>
          </p:cNvPr>
          <p:cNvPicPr>
            <a:picLocks noChangeAspect="1"/>
          </p:cNvPicPr>
          <p:nvPr/>
        </p:nvPicPr>
        <p:blipFill>
          <a:blip r:embed="rId7"/>
          <a:stretch>
            <a:fillRect/>
          </a:stretch>
        </p:blipFill>
        <p:spPr>
          <a:xfrm>
            <a:off x="6335269" y="864495"/>
            <a:ext cx="5274310" cy="2821305"/>
          </a:xfrm>
          <a:prstGeom prst="rect">
            <a:avLst/>
          </a:prstGeom>
        </p:spPr>
      </p:pic>
      <p:pic>
        <p:nvPicPr>
          <p:cNvPr id="11" name="图片 10">
            <a:extLst>
              <a:ext uri="{FF2B5EF4-FFF2-40B4-BE49-F238E27FC236}">
                <a16:creationId xmlns:a16="http://schemas.microsoft.com/office/drawing/2014/main" id="{08842028-346F-9A92-2D26-9AD83129343F}"/>
              </a:ext>
            </a:extLst>
          </p:cNvPr>
          <p:cNvPicPr>
            <a:picLocks noChangeAspect="1"/>
          </p:cNvPicPr>
          <p:nvPr/>
        </p:nvPicPr>
        <p:blipFill>
          <a:blip r:embed="rId8"/>
          <a:stretch>
            <a:fillRect/>
          </a:stretch>
        </p:blipFill>
        <p:spPr>
          <a:xfrm>
            <a:off x="367840" y="4066540"/>
            <a:ext cx="5274310" cy="2791460"/>
          </a:xfrm>
          <a:prstGeom prst="rect">
            <a:avLst/>
          </a:prstGeom>
        </p:spPr>
      </p:pic>
      <p:pic>
        <p:nvPicPr>
          <p:cNvPr id="12" name="图片 11">
            <a:extLst>
              <a:ext uri="{FF2B5EF4-FFF2-40B4-BE49-F238E27FC236}">
                <a16:creationId xmlns:a16="http://schemas.microsoft.com/office/drawing/2014/main" id="{25923622-B389-8E8F-4ED0-E45EF5340504}"/>
              </a:ext>
            </a:extLst>
          </p:cNvPr>
          <p:cNvPicPr>
            <a:picLocks noChangeAspect="1"/>
          </p:cNvPicPr>
          <p:nvPr/>
        </p:nvPicPr>
        <p:blipFill>
          <a:blip r:embed="rId9"/>
          <a:stretch>
            <a:fillRect/>
          </a:stretch>
        </p:blipFill>
        <p:spPr>
          <a:xfrm>
            <a:off x="6208101" y="3910710"/>
            <a:ext cx="5274310" cy="2816860"/>
          </a:xfrm>
          <a:prstGeom prst="rect">
            <a:avLst/>
          </a:prstGeom>
        </p:spPr>
      </p:pic>
    </p:spTree>
    <p:extLst>
      <p:ext uri="{BB962C8B-B14F-4D97-AF65-F5344CB8AC3E}">
        <p14:creationId xmlns:p14="http://schemas.microsoft.com/office/powerpoint/2010/main" val="3072796911"/>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65354-A1D0-A2FE-453F-5F63C65C8D5C}"/>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1F2A4CF4-E957-8BA8-727A-5F2C081EF00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A44481D9-0FED-351F-F730-2758D58C57B4}"/>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4501B20D-FFFC-1FE7-8C5C-5EB0984C0F45}"/>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3AB49DD7-225B-D61C-31E7-57B744D1AEE7}"/>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05F62294-936D-4724-2DA4-9131B173F5CB}"/>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3F36440B-8199-AAF7-AF1A-6D93F7C035FD}"/>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结果</a:t>
            </a:r>
            <a:endParaRPr lang="zh-CN" altLang="zh-CN" sz="2400" dirty="0"/>
          </a:p>
        </p:txBody>
      </p:sp>
      <p:grpSp>
        <p:nvGrpSpPr>
          <p:cNvPr id="43" name="组合 42">
            <a:extLst>
              <a:ext uri="{FF2B5EF4-FFF2-40B4-BE49-F238E27FC236}">
                <a16:creationId xmlns:a16="http://schemas.microsoft.com/office/drawing/2014/main" id="{FC08D0CE-4275-183C-6A10-E7913F002F8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FA0D3599-139D-71B0-8A3E-C30E48054E5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021BEE7D-6F1D-4F6B-8998-3C0AF515B92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18756838-1A03-3C54-6809-0B8ECD9F36E5}"/>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CBA76292-B3FB-0276-7A6B-F0703C435453}"/>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05A834BC-B092-5953-DAC4-2F9620B9DA87}"/>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 name="图片 1">
            <a:extLst>
              <a:ext uri="{FF2B5EF4-FFF2-40B4-BE49-F238E27FC236}">
                <a16:creationId xmlns:a16="http://schemas.microsoft.com/office/drawing/2014/main" id="{A929D569-1B72-7559-CA80-5E3BB7D30B83}"/>
              </a:ext>
            </a:extLst>
          </p:cNvPr>
          <p:cNvPicPr>
            <a:picLocks noChangeAspect="1"/>
          </p:cNvPicPr>
          <p:nvPr/>
        </p:nvPicPr>
        <p:blipFill>
          <a:blip r:embed="rId6"/>
          <a:stretch>
            <a:fillRect/>
          </a:stretch>
        </p:blipFill>
        <p:spPr>
          <a:xfrm>
            <a:off x="436005" y="809441"/>
            <a:ext cx="5274310" cy="2721610"/>
          </a:xfrm>
          <a:prstGeom prst="rect">
            <a:avLst/>
          </a:prstGeom>
        </p:spPr>
      </p:pic>
      <p:pic>
        <p:nvPicPr>
          <p:cNvPr id="3" name="图片 2">
            <a:extLst>
              <a:ext uri="{FF2B5EF4-FFF2-40B4-BE49-F238E27FC236}">
                <a16:creationId xmlns:a16="http://schemas.microsoft.com/office/drawing/2014/main" id="{1274ECEF-C91B-098F-D83B-3F1D74FB2880}"/>
              </a:ext>
            </a:extLst>
          </p:cNvPr>
          <p:cNvPicPr>
            <a:picLocks noChangeAspect="1"/>
          </p:cNvPicPr>
          <p:nvPr/>
        </p:nvPicPr>
        <p:blipFill>
          <a:blip r:embed="rId7"/>
          <a:stretch>
            <a:fillRect/>
          </a:stretch>
        </p:blipFill>
        <p:spPr>
          <a:xfrm>
            <a:off x="6250490" y="944994"/>
            <a:ext cx="5274310" cy="2774315"/>
          </a:xfrm>
          <a:prstGeom prst="rect">
            <a:avLst/>
          </a:prstGeom>
        </p:spPr>
      </p:pic>
      <p:pic>
        <p:nvPicPr>
          <p:cNvPr id="13" name="图片 12">
            <a:extLst>
              <a:ext uri="{FF2B5EF4-FFF2-40B4-BE49-F238E27FC236}">
                <a16:creationId xmlns:a16="http://schemas.microsoft.com/office/drawing/2014/main" id="{009CF965-F07D-D342-713C-4B2CBFAEA4D6}"/>
              </a:ext>
            </a:extLst>
          </p:cNvPr>
          <p:cNvPicPr>
            <a:picLocks noChangeAspect="1"/>
          </p:cNvPicPr>
          <p:nvPr/>
        </p:nvPicPr>
        <p:blipFill>
          <a:blip r:embed="rId8"/>
          <a:stretch>
            <a:fillRect/>
          </a:stretch>
        </p:blipFill>
        <p:spPr>
          <a:xfrm>
            <a:off x="436005" y="3808113"/>
            <a:ext cx="5274310" cy="2843530"/>
          </a:xfrm>
          <a:prstGeom prst="rect">
            <a:avLst/>
          </a:prstGeom>
        </p:spPr>
      </p:pic>
    </p:spTree>
    <p:extLst>
      <p:ext uri="{BB962C8B-B14F-4D97-AF65-F5344CB8AC3E}">
        <p14:creationId xmlns:p14="http://schemas.microsoft.com/office/powerpoint/2010/main" val="156465701"/>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16A70-AC24-D4C9-ED23-86D74E15DFCD}"/>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7AB41807-C20D-F87F-2BEE-5A2C24B4F12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092BE41A-5195-43D8-1EF2-9954E90AC9DB}"/>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0D1DC7A4-F287-3D50-9869-862A9C0C3875}"/>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09B0507-B205-407A-E595-D248991ABFFB}"/>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32C4961B-B95B-4489-2B61-F8CC5DD64DA4}"/>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35E08099-DE88-49C8-435E-47C18D197F8D}"/>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结果</a:t>
            </a:r>
            <a:endParaRPr lang="zh-CN" altLang="zh-CN" sz="2400" dirty="0"/>
          </a:p>
        </p:txBody>
      </p:sp>
      <p:grpSp>
        <p:nvGrpSpPr>
          <p:cNvPr id="43" name="组合 42">
            <a:extLst>
              <a:ext uri="{FF2B5EF4-FFF2-40B4-BE49-F238E27FC236}">
                <a16:creationId xmlns:a16="http://schemas.microsoft.com/office/drawing/2014/main" id="{8F47ED90-9724-E55F-3F01-28CF53D61E45}"/>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7FF1C453-25A0-8AB3-5494-D0364455EB0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5914CA1A-48F8-A238-B128-9C72614DA59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1F6E80E1-045E-B1B4-ECED-F4495D5D3796}"/>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C7CD2866-1488-1B92-3BB3-B63D36A4314F}"/>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B5EFEC75-20A0-F752-39AB-DAE56E2DFCF0}"/>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 name="图片 7">
            <a:extLst>
              <a:ext uri="{FF2B5EF4-FFF2-40B4-BE49-F238E27FC236}">
                <a16:creationId xmlns:a16="http://schemas.microsoft.com/office/drawing/2014/main" id="{97335AB2-A9E7-6D95-8145-E40F4BFE2703}"/>
              </a:ext>
            </a:extLst>
          </p:cNvPr>
          <p:cNvPicPr>
            <a:picLocks noChangeAspect="1"/>
          </p:cNvPicPr>
          <p:nvPr/>
        </p:nvPicPr>
        <p:blipFill>
          <a:blip r:embed="rId6"/>
          <a:stretch>
            <a:fillRect/>
          </a:stretch>
        </p:blipFill>
        <p:spPr>
          <a:xfrm>
            <a:off x="621873" y="999761"/>
            <a:ext cx="5274310" cy="2736850"/>
          </a:xfrm>
          <a:prstGeom prst="rect">
            <a:avLst/>
          </a:prstGeom>
        </p:spPr>
      </p:pic>
      <p:pic>
        <p:nvPicPr>
          <p:cNvPr id="9" name="图片 8">
            <a:extLst>
              <a:ext uri="{FF2B5EF4-FFF2-40B4-BE49-F238E27FC236}">
                <a16:creationId xmlns:a16="http://schemas.microsoft.com/office/drawing/2014/main" id="{36CBE277-5F2A-51DF-EEAD-212E523CC219}"/>
              </a:ext>
            </a:extLst>
          </p:cNvPr>
          <p:cNvPicPr>
            <a:picLocks noChangeAspect="1"/>
          </p:cNvPicPr>
          <p:nvPr/>
        </p:nvPicPr>
        <p:blipFill>
          <a:blip r:embed="rId7"/>
          <a:stretch>
            <a:fillRect/>
          </a:stretch>
        </p:blipFill>
        <p:spPr>
          <a:xfrm>
            <a:off x="6214175" y="1007171"/>
            <a:ext cx="5274310" cy="2861945"/>
          </a:xfrm>
          <a:prstGeom prst="rect">
            <a:avLst/>
          </a:prstGeom>
        </p:spPr>
      </p:pic>
      <p:pic>
        <p:nvPicPr>
          <p:cNvPr id="11" name="图片 10">
            <a:extLst>
              <a:ext uri="{FF2B5EF4-FFF2-40B4-BE49-F238E27FC236}">
                <a16:creationId xmlns:a16="http://schemas.microsoft.com/office/drawing/2014/main" id="{E4E0F224-0F03-0BA6-E606-6EF8053EED81}"/>
              </a:ext>
            </a:extLst>
          </p:cNvPr>
          <p:cNvPicPr>
            <a:picLocks noChangeAspect="1"/>
          </p:cNvPicPr>
          <p:nvPr/>
        </p:nvPicPr>
        <p:blipFill>
          <a:blip r:embed="rId8"/>
          <a:stretch>
            <a:fillRect/>
          </a:stretch>
        </p:blipFill>
        <p:spPr>
          <a:xfrm>
            <a:off x="503698" y="3946445"/>
            <a:ext cx="5274310" cy="2846705"/>
          </a:xfrm>
          <a:prstGeom prst="rect">
            <a:avLst/>
          </a:prstGeom>
        </p:spPr>
      </p:pic>
    </p:spTree>
    <p:extLst>
      <p:ext uri="{BB962C8B-B14F-4D97-AF65-F5344CB8AC3E}">
        <p14:creationId xmlns:p14="http://schemas.microsoft.com/office/powerpoint/2010/main" val="107441265"/>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CF53C-3453-4E88-0440-F7B39D85FB2F}"/>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2424DD96-CBE3-4F4C-C946-C042F6E1FF3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23C0F09E-2780-8F5D-5DAA-3C842D51D70E}"/>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0C7A4DC7-B606-3B14-2D22-086E4E86DA28}"/>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B31DE002-0AC4-2A82-E6E4-FA3463BB065B}"/>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5D50A58-51BA-BBC2-B84C-05F593AFB4C4}"/>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BFC1E8C2-B61A-B2EB-8FA6-2CE8427D3ACA}"/>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结果</a:t>
            </a:r>
            <a:endParaRPr lang="zh-CN" altLang="zh-CN" sz="2400" dirty="0"/>
          </a:p>
        </p:txBody>
      </p:sp>
      <p:grpSp>
        <p:nvGrpSpPr>
          <p:cNvPr id="43" name="组合 42">
            <a:extLst>
              <a:ext uri="{FF2B5EF4-FFF2-40B4-BE49-F238E27FC236}">
                <a16:creationId xmlns:a16="http://schemas.microsoft.com/office/drawing/2014/main" id="{0A53B7D3-521B-72AC-FAE2-1A820A55E4BB}"/>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E57EA9DD-0ED5-4814-9914-5DEE2BB6170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324D1490-1E06-1FD0-93E7-D64224D0EF5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0CC16BC0-1F6E-E93C-2EDA-C5C8B8042D7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35ED0A8C-26B4-B82A-3335-D386E44CDD95}"/>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95C2348E-FF90-9456-F168-AEB7DD8289B0}"/>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 name="图片 1">
            <a:extLst>
              <a:ext uri="{FF2B5EF4-FFF2-40B4-BE49-F238E27FC236}">
                <a16:creationId xmlns:a16="http://schemas.microsoft.com/office/drawing/2014/main" id="{B96679C2-3EB6-5916-40BE-F54606316954}"/>
              </a:ext>
            </a:extLst>
          </p:cNvPr>
          <p:cNvPicPr>
            <a:picLocks noChangeAspect="1"/>
          </p:cNvPicPr>
          <p:nvPr/>
        </p:nvPicPr>
        <p:blipFill>
          <a:blip r:embed="rId6"/>
          <a:stretch>
            <a:fillRect/>
          </a:stretch>
        </p:blipFill>
        <p:spPr>
          <a:xfrm>
            <a:off x="727756" y="2168842"/>
            <a:ext cx="5274310" cy="2520315"/>
          </a:xfrm>
          <a:prstGeom prst="rect">
            <a:avLst/>
          </a:prstGeom>
        </p:spPr>
      </p:pic>
      <p:pic>
        <p:nvPicPr>
          <p:cNvPr id="3" name="图片 2">
            <a:extLst>
              <a:ext uri="{FF2B5EF4-FFF2-40B4-BE49-F238E27FC236}">
                <a16:creationId xmlns:a16="http://schemas.microsoft.com/office/drawing/2014/main" id="{DE18B10B-4DE4-014E-C4FC-FE333458C025}"/>
              </a:ext>
            </a:extLst>
          </p:cNvPr>
          <p:cNvPicPr>
            <a:picLocks noChangeAspect="1"/>
          </p:cNvPicPr>
          <p:nvPr/>
        </p:nvPicPr>
        <p:blipFill>
          <a:blip r:embed="rId7"/>
          <a:stretch>
            <a:fillRect/>
          </a:stretch>
        </p:blipFill>
        <p:spPr>
          <a:xfrm>
            <a:off x="6591526" y="2168842"/>
            <a:ext cx="5274310" cy="2865120"/>
          </a:xfrm>
          <a:prstGeom prst="rect">
            <a:avLst/>
          </a:prstGeom>
        </p:spPr>
      </p:pic>
    </p:spTree>
    <p:extLst>
      <p:ext uri="{BB962C8B-B14F-4D97-AF65-F5344CB8AC3E}">
        <p14:creationId xmlns:p14="http://schemas.microsoft.com/office/powerpoint/2010/main" val="1784395436"/>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ADDD7-ADA1-1CBF-B507-2B7A3C510EF0}"/>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636F2830-1A45-620F-62DE-D4AE787591D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A5E5B896-71C7-0719-FF6F-810C3132CF60}"/>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8860FF2B-AED5-E491-D48A-89EEA903CC21}"/>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28173B44-A09C-5136-11A3-4106045E2F9E}"/>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F2B19769-27F1-65D2-C2BC-8C9AD8DBED73}"/>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ABB3F909-F236-6B3B-B584-5A4F6857931C}"/>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结果</a:t>
            </a:r>
            <a:endParaRPr lang="zh-CN" altLang="zh-CN" sz="2400" dirty="0"/>
          </a:p>
        </p:txBody>
      </p:sp>
      <p:grpSp>
        <p:nvGrpSpPr>
          <p:cNvPr id="43" name="组合 42">
            <a:extLst>
              <a:ext uri="{FF2B5EF4-FFF2-40B4-BE49-F238E27FC236}">
                <a16:creationId xmlns:a16="http://schemas.microsoft.com/office/drawing/2014/main" id="{271C6C9B-93F3-9C50-0DBF-60EE7AA2C761}"/>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1B9FC259-F86A-ECDD-5428-06AAA593B2B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48042B21-C596-A5FC-6C12-AA30CDEA924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C4F166B7-828F-4201-A8E7-E6860AD3EAA8}"/>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E369E58F-8DED-6F8E-B294-8EC8FB2FDA91}"/>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DFF39222-C21C-6897-5BF0-63CE25ACC697}"/>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 name="图片 7">
            <a:extLst>
              <a:ext uri="{FF2B5EF4-FFF2-40B4-BE49-F238E27FC236}">
                <a16:creationId xmlns:a16="http://schemas.microsoft.com/office/drawing/2014/main" id="{6016F87A-4CB0-4EA3-4131-4F03E3775870}"/>
              </a:ext>
            </a:extLst>
          </p:cNvPr>
          <p:cNvPicPr>
            <a:picLocks noChangeAspect="1"/>
          </p:cNvPicPr>
          <p:nvPr/>
        </p:nvPicPr>
        <p:blipFill>
          <a:blip r:embed="rId6"/>
          <a:stretch>
            <a:fillRect/>
          </a:stretch>
        </p:blipFill>
        <p:spPr>
          <a:xfrm>
            <a:off x="156408" y="1054582"/>
            <a:ext cx="4130287" cy="2106583"/>
          </a:xfrm>
          <a:prstGeom prst="rect">
            <a:avLst/>
          </a:prstGeom>
        </p:spPr>
      </p:pic>
      <p:pic>
        <p:nvPicPr>
          <p:cNvPr id="9" name="图片 8">
            <a:extLst>
              <a:ext uri="{FF2B5EF4-FFF2-40B4-BE49-F238E27FC236}">
                <a16:creationId xmlns:a16="http://schemas.microsoft.com/office/drawing/2014/main" id="{12C82044-A6DE-5F39-4116-A3E39921AEDC}"/>
              </a:ext>
            </a:extLst>
          </p:cNvPr>
          <p:cNvPicPr>
            <a:picLocks noChangeAspect="1"/>
          </p:cNvPicPr>
          <p:nvPr/>
        </p:nvPicPr>
        <p:blipFill>
          <a:blip r:embed="rId7"/>
          <a:stretch>
            <a:fillRect/>
          </a:stretch>
        </p:blipFill>
        <p:spPr>
          <a:xfrm>
            <a:off x="4513854" y="1049581"/>
            <a:ext cx="3947229" cy="1963750"/>
          </a:xfrm>
          <a:prstGeom prst="rect">
            <a:avLst/>
          </a:prstGeom>
        </p:spPr>
      </p:pic>
      <p:pic>
        <p:nvPicPr>
          <p:cNvPr id="11" name="图片 10">
            <a:extLst>
              <a:ext uri="{FF2B5EF4-FFF2-40B4-BE49-F238E27FC236}">
                <a16:creationId xmlns:a16="http://schemas.microsoft.com/office/drawing/2014/main" id="{A8FBF281-0698-F467-F753-E59B20F9E2C6}"/>
              </a:ext>
            </a:extLst>
          </p:cNvPr>
          <p:cNvPicPr>
            <a:picLocks noChangeAspect="1"/>
          </p:cNvPicPr>
          <p:nvPr/>
        </p:nvPicPr>
        <p:blipFill>
          <a:blip r:embed="rId8"/>
          <a:stretch>
            <a:fillRect/>
          </a:stretch>
        </p:blipFill>
        <p:spPr>
          <a:xfrm>
            <a:off x="8322119" y="1049581"/>
            <a:ext cx="3896538" cy="1963750"/>
          </a:xfrm>
          <a:prstGeom prst="rect">
            <a:avLst/>
          </a:prstGeom>
        </p:spPr>
      </p:pic>
      <p:pic>
        <p:nvPicPr>
          <p:cNvPr id="12" name="图片 11">
            <a:extLst>
              <a:ext uri="{FF2B5EF4-FFF2-40B4-BE49-F238E27FC236}">
                <a16:creationId xmlns:a16="http://schemas.microsoft.com/office/drawing/2014/main" id="{9166084D-DDBD-52F2-7DF7-199BF082DFB2}"/>
              </a:ext>
            </a:extLst>
          </p:cNvPr>
          <p:cNvPicPr>
            <a:picLocks noChangeAspect="1"/>
          </p:cNvPicPr>
          <p:nvPr/>
        </p:nvPicPr>
        <p:blipFill>
          <a:blip r:embed="rId9"/>
          <a:stretch>
            <a:fillRect/>
          </a:stretch>
        </p:blipFill>
        <p:spPr>
          <a:xfrm>
            <a:off x="531049" y="3663220"/>
            <a:ext cx="5274310" cy="2658110"/>
          </a:xfrm>
          <a:prstGeom prst="rect">
            <a:avLst/>
          </a:prstGeom>
        </p:spPr>
      </p:pic>
      <p:pic>
        <p:nvPicPr>
          <p:cNvPr id="13" name="图片 12">
            <a:extLst>
              <a:ext uri="{FF2B5EF4-FFF2-40B4-BE49-F238E27FC236}">
                <a16:creationId xmlns:a16="http://schemas.microsoft.com/office/drawing/2014/main" id="{102EF995-5890-AF44-C300-6E81A31027DF}"/>
              </a:ext>
            </a:extLst>
          </p:cNvPr>
          <p:cNvPicPr>
            <a:picLocks noChangeAspect="1"/>
          </p:cNvPicPr>
          <p:nvPr/>
        </p:nvPicPr>
        <p:blipFill>
          <a:blip r:embed="rId10"/>
          <a:stretch>
            <a:fillRect/>
          </a:stretch>
        </p:blipFill>
        <p:spPr>
          <a:xfrm>
            <a:off x="6022891" y="3663220"/>
            <a:ext cx="5274310" cy="2593975"/>
          </a:xfrm>
          <a:prstGeom prst="rect">
            <a:avLst/>
          </a:prstGeom>
        </p:spPr>
      </p:pic>
    </p:spTree>
    <p:extLst>
      <p:ext uri="{BB962C8B-B14F-4D97-AF65-F5344CB8AC3E}">
        <p14:creationId xmlns:p14="http://schemas.microsoft.com/office/powerpoint/2010/main" val="2714338470"/>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E730F-84F2-13F6-5970-54CA9E62B9C5}"/>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72D37415-59EE-9952-15D6-02E9D2965DB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403815FC-B4E4-475A-5B28-74C96F376946}"/>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8254A6FC-FA0C-C003-8897-81B5AB7DAAD5}"/>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114D2F6D-6DBB-DADC-4409-55FFB4BCFFBE}"/>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C74CFF38-613D-86DE-D088-6313DC3C400D}"/>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6E30B25-567E-79C6-F437-EAB846732826}"/>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结果</a:t>
            </a:r>
            <a:endParaRPr lang="zh-CN" altLang="zh-CN" sz="2400" dirty="0"/>
          </a:p>
        </p:txBody>
      </p:sp>
      <p:grpSp>
        <p:nvGrpSpPr>
          <p:cNvPr id="43" name="组合 42">
            <a:extLst>
              <a:ext uri="{FF2B5EF4-FFF2-40B4-BE49-F238E27FC236}">
                <a16:creationId xmlns:a16="http://schemas.microsoft.com/office/drawing/2014/main" id="{48B0C4AE-DA8F-A95C-52F5-8B744EC66F66}"/>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F55A2A13-1E6F-5522-1A17-597C4A2C0DE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5837CCC5-0F29-4909-9B0A-D8EDA125AD8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2F350322-6C1E-4F3E-194E-75DED62C9BE0}"/>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BBF2EA6F-C9FA-8BB6-3C69-43659B8B61BB}"/>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9732D995-7154-9F66-F9F6-BA54279797D7}"/>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 name="图片 1">
            <a:extLst>
              <a:ext uri="{FF2B5EF4-FFF2-40B4-BE49-F238E27FC236}">
                <a16:creationId xmlns:a16="http://schemas.microsoft.com/office/drawing/2014/main" id="{158D54BF-4E14-4847-4944-03A10D6FA9C5}"/>
              </a:ext>
            </a:extLst>
          </p:cNvPr>
          <p:cNvPicPr>
            <a:picLocks noChangeAspect="1"/>
          </p:cNvPicPr>
          <p:nvPr/>
        </p:nvPicPr>
        <p:blipFill>
          <a:blip r:embed="rId6"/>
          <a:stretch>
            <a:fillRect/>
          </a:stretch>
        </p:blipFill>
        <p:spPr>
          <a:xfrm>
            <a:off x="0" y="889940"/>
            <a:ext cx="4343320" cy="2258987"/>
          </a:xfrm>
          <a:prstGeom prst="rect">
            <a:avLst/>
          </a:prstGeom>
        </p:spPr>
      </p:pic>
      <p:pic>
        <p:nvPicPr>
          <p:cNvPr id="3" name="图片 2">
            <a:extLst>
              <a:ext uri="{FF2B5EF4-FFF2-40B4-BE49-F238E27FC236}">
                <a16:creationId xmlns:a16="http://schemas.microsoft.com/office/drawing/2014/main" id="{71955C27-DCE2-4FC3-E7F3-B78A475468E3}"/>
              </a:ext>
            </a:extLst>
          </p:cNvPr>
          <p:cNvPicPr>
            <a:picLocks noChangeAspect="1"/>
          </p:cNvPicPr>
          <p:nvPr/>
        </p:nvPicPr>
        <p:blipFill>
          <a:blip r:embed="rId7"/>
          <a:stretch>
            <a:fillRect/>
          </a:stretch>
        </p:blipFill>
        <p:spPr>
          <a:xfrm>
            <a:off x="4311370" y="864495"/>
            <a:ext cx="4195540" cy="2156364"/>
          </a:xfrm>
          <a:prstGeom prst="rect">
            <a:avLst/>
          </a:prstGeom>
        </p:spPr>
      </p:pic>
      <p:pic>
        <p:nvPicPr>
          <p:cNvPr id="14" name="图片 13">
            <a:extLst>
              <a:ext uri="{FF2B5EF4-FFF2-40B4-BE49-F238E27FC236}">
                <a16:creationId xmlns:a16="http://schemas.microsoft.com/office/drawing/2014/main" id="{B138DB8E-5218-9B56-90F3-C2E49CC26F16}"/>
              </a:ext>
            </a:extLst>
          </p:cNvPr>
          <p:cNvPicPr>
            <a:picLocks noChangeAspect="1"/>
          </p:cNvPicPr>
          <p:nvPr/>
        </p:nvPicPr>
        <p:blipFill>
          <a:blip r:embed="rId8"/>
          <a:stretch>
            <a:fillRect/>
          </a:stretch>
        </p:blipFill>
        <p:spPr>
          <a:xfrm>
            <a:off x="8445341" y="841405"/>
            <a:ext cx="3941436" cy="1978310"/>
          </a:xfrm>
          <a:prstGeom prst="rect">
            <a:avLst/>
          </a:prstGeom>
        </p:spPr>
      </p:pic>
      <p:pic>
        <p:nvPicPr>
          <p:cNvPr id="15" name="图片 14">
            <a:extLst>
              <a:ext uri="{FF2B5EF4-FFF2-40B4-BE49-F238E27FC236}">
                <a16:creationId xmlns:a16="http://schemas.microsoft.com/office/drawing/2014/main" id="{C0C8EF41-84F8-950E-609F-F8483B2B02D3}"/>
              </a:ext>
            </a:extLst>
          </p:cNvPr>
          <p:cNvPicPr>
            <a:picLocks noChangeAspect="1"/>
          </p:cNvPicPr>
          <p:nvPr/>
        </p:nvPicPr>
        <p:blipFill>
          <a:blip r:embed="rId9"/>
          <a:stretch>
            <a:fillRect/>
          </a:stretch>
        </p:blipFill>
        <p:spPr>
          <a:xfrm>
            <a:off x="621873" y="3487047"/>
            <a:ext cx="5274310" cy="2681605"/>
          </a:xfrm>
          <a:prstGeom prst="rect">
            <a:avLst/>
          </a:prstGeom>
        </p:spPr>
      </p:pic>
      <p:pic>
        <p:nvPicPr>
          <p:cNvPr id="17" name="图片 16">
            <a:extLst>
              <a:ext uri="{FF2B5EF4-FFF2-40B4-BE49-F238E27FC236}">
                <a16:creationId xmlns:a16="http://schemas.microsoft.com/office/drawing/2014/main" id="{19257C23-6D03-D33D-533B-26DC84991837}"/>
              </a:ext>
            </a:extLst>
          </p:cNvPr>
          <p:cNvPicPr>
            <a:picLocks noChangeAspect="1"/>
          </p:cNvPicPr>
          <p:nvPr/>
        </p:nvPicPr>
        <p:blipFill>
          <a:blip r:embed="rId10"/>
          <a:stretch>
            <a:fillRect/>
          </a:stretch>
        </p:blipFill>
        <p:spPr>
          <a:xfrm>
            <a:off x="6195989" y="3374341"/>
            <a:ext cx="5274310" cy="2673985"/>
          </a:xfrm>
          <a:prstGeom prst="rect">
            <a:avLst/>
          </a:prstGeom>
        </p:spPr>
      </p:pic>
    </p:spTree>
    <p:extLst>
      <p:ext uri="{BB962C8B-B14F-4D97-AF65-F5344CB8AC3E}">
        <p14:creationId xmlns:p14="http://schemas.microsoft.com/office/powerpoint/2010/main" val="1925298707"/>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79C36-DC31-AECC-B46B-740A8602ACD1}"/>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90E8E9A5-CFC2-797E-0215-CA9128552A0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87C96C4B-9D9D-0427-7682-6613840DC140}"/>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DD2086C7-2E02-6D80-E963-B94D73848FD7}"/>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AD27FD5F-7143-C2DC-7D18-136B72687DCC}"/>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2DE577BE-D9B2-7C1D-4C80-4E083EC80632}"/>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6ADE447B-F40E-0E67-CD94-084039D77ACE}"/>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结果</a:t>
            </a:r>
            <a:endParaRPr lang="zh-CN" altLang="zh-CN" sz="2400" dirty="0"/>
          </a:p>
        </p:txBody>
      </p:sp>
      <p:grpSp>
        <p:nvGrpSpPr>
          <p:cNvPr id="43" name="组合 42">
            <a:extLst>
              <a:ext uri="{FF2B5EF4-FFF2-40B4-BE49-F238E27FC236}">
                <a16:creationId xmlns:a16="http://schemas.microsoft.com/office/drawing/2014/main" id="{B9F82822-AF13-03AB-A539-03B7FE6AC890}"/>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05F09DDA-E921-228A-C687-1A11E4888B1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63F5A79E-D8D4-6380-BDDF-5678E8392BE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F5FC7632-6758-FA77-C621-2B02EFA89427}"/>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451D16A4-EAC2-CCBC-43D4-D2FA73F4FF06}"/>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C6468990-DEAC-795C-81ED-0B6288F4476D}"/>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 name="图片 7">
            <a:extLst>
              <a:ext uri="{FF2B5EF4-FFF2-40B4-BE49-F238E27FC236}">
                <a16:creationId xmlns:a16="http://schemas.microsoft.com/office/drawing/2014/main" id="{01014A86-4B60-994D-8916-D800D3399656}"/>
              </a:ext>
            </a:extLst>
          </p:cNvPr>
          <p:cNvPicPr>
            <a:picLocks noChangeAspect="1"/>
          </p:cNvPicPr>
          <p:nvPr/>
        </p:nvPicPr>
        <p:blipFill>
          <a:blip r:embed="rId6"/>
          <a:stretch>
            <a:fillRect/>
          </a:stretch>
        </p:blipFill>
        <p:spPr>
          <a:xfrm>
            <a:off x="46452" y="889941"/>
            <a:ext cx="4271366" cy="2252932"/>
          </a:xfrm>
          <a:prstGeom prst="rect">
            <a:avLst/>
          </a:prstGeom>
        </p:spPr>
      </p:pic>
      <p:pic>
        <p:nvPicPr>
          <p:cNvPr id="9" name="图片 8">
            <a:extLst>
              <a:ext uri="{FF2B5EF4-FFF2-40B4-BE49-F238E27FC236}">
                <a16:creationId xmlns:a16="http://schemas.microsoft.com/office/drawing/2014/main" id="{B5E35B75-A61D-9CB7-264D-06551F330490}"/>
              </a:ext>
            </a:extLst>
          </p:cNvPr>
          <p:cNvPicPr>
            <a:picLocks noChangeAspect="1"/>
          </p:cNvPicPr>
          <p:nvPr/>
        </p:nvPicPr>
        <p:blipFill>
          <a:blip r:embed="rId7"/>
          <a:stretch>
            <a:fillRect/>
          </a:stretch>
        </p:blipFill>
        <p:spPr>
          <a:xfrm>
            <a:off x="4415648" y="944994"/>
            <a:ext cx="4037399" cy="1986132"/>
          </a:xfrm>
          <a:prstGeom prst="rect">
            <a:avLst/>
          </a:prstGeom>
        </p:spPr>
      </p:pic>
      <p:pic>
        <p:nvPicPr>
          <p:cNvPr id="11" name="图片 10">
            <a:extLst>
              <a:ext uri="{FF2B5EF4-FFF2-40B4-BE49-F238E27FC236}">
                <a16:creationId xmlns:a16="http://schemas.microsoft.com/office/drawing/2014/main" id="{A70FE560-702C-9176-51BD-ED5697FB2077}"/>
              </a:ext>
            </a:extLst>
          </p:cNvPr>
          <p:cNvPicPr>
            <a:picLocks noChangeAspect="1"/>
          </p:cNvPicPr>
          <p:nvPr/>
        </p:nvPicPr>
        <p:blipFill>
          <a:blip r:embed="rId8"/>
          <a:stretch>
            <a:fillRect/>
          </a:stretch>
        </p:blipFill>
        <p:spPr>
          <a:xfrm>
            <a:off x="8490404" y="969315"/>
            <a:ext cx="3655144" cy="1840334"/>
          </a:xfrm>
          <a:prstGeom prst="rect">
            <a:avLst/>
          </a:prstGeom>
        </p:spPr>
      </p:pic>
      <p:pic>
        <p:nvPicPr>
          <p:cNvPr id="12" name="图片 11">
            <a:extLst>
              <a:ext uri="{FF2B5EF4-FFF2-40B4-BE49-F238E27FC236}">
                <a16:creationId xmlns:a16="http://schemas.microsoft.com/office/drawing/2014/main" id="{A02EA057-BDAF-ABF3-F1A5-EF82BBD1F913}"/>
              </a:ext>
            </a:extLst>
          </p:cNvPr>
          <p:cNvPicPr>
            <a:picLocks noChangeAspect="1"/>
          </p:cNvPicPr>
          <p:nvPr/>
        </p:nvPicPr>
        <p:blipFill>
          <a:blip r:embed="rId9"/>
          <a:stretch>
            <a:fillRect/>
          </a:stretch>
        </p:blipFill>
        <p:spPr>
          <a:xfrm>
            <a:off x="240408" y="3520957"/>
            <a:ext cx="5274310" cy="2747010"/>
          </a:xfrm>
          <a:prstGeom prst="rect">
            <a:avLst/>
          </a:prstGeom>
        </p:spPr>
      </p:pic>
      <p:pic>
        <p:nvPicPr>
          <p:cNvPr id="13" name="图片 12">
            <a:extLst>
              <a:ext uri="{FF2B5EF4-FFF2-40B4-BE49-F238E27FC236}">
                <a16:creationId xmlns:a16="http://schemas.microsoft.com/office/drawing/2014/main" id="{2735C6AF-8448-0AA6-0676-53F81EAA066A}"/>
              </a:ext>
            </a:extLst>
          </p:cNvPr>
          <p:cNvPicPr>
            <a:picLocks noChangeAspect="1"/>
          </p:cNvPicPr>
          <p:nvPr/>
        </p:nvPicPr>
        <p:blipFill>
          <a:blip r:embed="rId10"/>
          <a:stretch>
            <a:fillRect/>
          </a:stretch>
        </p:blipFill>
        <p:spPr>
          <a:xfrm>
            <a:off x="5853249" y="3492380"/>
            <a:ext cx="5274310" cy="2679700"/>
          </a:xfrm>
          <a:prstGeom prst="rect">
            <a:avLst/>
          </a:prstGeom>
        </p:spPr>
      </p:pic>
    </p:spTree>
    <p:extLst>
      <p:ext uri="{BB962C8B-B14F-4D97-AF65-F5344CB8AC3E}">
        <p14:creationId xmlns:p14="http://schemas.microsoft.com/office/powerpoint/2010/main" val="1103937663"/>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6151</TotalTime>
  <Words>3121</Words>
  <Application>Microsoft Office PowerPoint</Application>
  <PresentationFormat>宽屏</PresentationFormat>
  <Paragraphs>492</Paragraphs>
  <Slides>26</Slides>
  <Notes>19</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26</vt:i4>
      </vt:variant>
    </vt:vector>
  </HeadingPairs>
  <TitlesOfParts>
    <vt:vector size="35" baseType="lpstr">
      <vt:lpstr>等线</vt:lpstr>
      <vt:lpstr>宋体</vt:lpstr>
      <vt:lpstr>微软雅黑</vt:lpstr>
      <vt:lpstr>Arial</vt:lpstr>
      <vt:lpstr>Arial Black</vt:lpstr>
      <vt:lpstr>Calibri</vt:lpstr>
      <vt:lpstr>Times New Roman</vt:lpstr>
      <vt:lpstr>1_Office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超涵 章</cp:lastModifiedBy>
  <cp:revision>82</cp:revision>
  <dcterms:created xsi:type="dcterms:W3CDTF">2020-07-27T01:08:13Z</dcterms:created>
  <dcterms:modified xsi:type="dcterms:W3CDTF">2025-10-21T15:57:05Z</dcterms:modified>
</cp:coreProperties>
</file>